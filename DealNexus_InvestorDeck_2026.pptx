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($)</c:v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E8ED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C8AE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C8AE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C8AE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C8AE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2C97A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
(Y2)</c:v>
                  </c:pt>
                  <c:pt idx="5">
                    <c:v>Q6
(Y2)</c:v>
                  </c:pt>
                  <c:pt idx="6">
                    <c:v>Q7
(Y2)</c:v>
                  </c:pt>
                  <c:pt idx="7">
                    <c:v>Q8
(Y2)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18000</c:v>
                </c:pt>
                <c:pt idx="2">
                  <c:v>68000</c:v>
                </c:pt>
                <c:pt idx="3">
                  <c:v>200000</c:v>
                </c:pt>
                <c:pt idx="4">
                  <c:v>380000</c:v>
                </c:pt>
                <c:pt idx="5">
                  <c:v>600000</c:v>
                </c:pt>
                <c:pt idx="6">
                  <c:v>900000</c:v>
                </c:pt>
                <c:pt idx="7">
                  <c:v>1200000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E8ED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5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1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5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620"/>
        </a:solidFill>
        <a:ln>
          <a:noFill/>
        </a:ln>
        <a:effectLst/>
      </c:spPr>
    </c:plotArea>
    <c:plotVisOnly val="1"/>
    <c:dispBlanksAs val="span"/>
  </c:chart>
  <c:spPr>
    <a:solidFill>
      <a:srgbClr val="1116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11620"/>
          </a:solidFill>
          <a:ln w="12700">
            <a:solidFill>
              <a:srgbClr val="1116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0"/>
            <a:ext cx="9144" cy="9144"/>
          </a:xfrm>
          <a:prstGeom prst="rect">
            <a:avLst/>
          </a:prstGeom>
          <a:solidFill>
            <a:srgbClr val="3A2E16"/>
          </a:solidFill>
          <a:ln w="12700">
            <a:solidFill>
              <a:srgbClr val="3A2E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DEALNEXUS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20116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Warm Referral Network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Deal-Makers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9718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"LinkedIn finds people.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DealNexus gets you introduced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people who trust you both."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97880" y="5029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13×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897880" y="10698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INTRO CONVERSION VS COLD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897880" y="1344168"/>
            <a:ext cx="283464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158191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$10M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89788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TARGET — SERIES 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897880" y="2423160"/>
            <a:ext cx="283464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266090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3,000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897880" y="32278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USER TARGET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897880" y="3502152"/>
            <a:ext cx="283464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754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MARCH 2026  ·  SERIES A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86384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24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 ·  THE PROBLEM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512064"/>
            <a:ext cx="832104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008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5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Tuesday.</a:t>
            </a:r>
            <a:endParaRPr lang="en-US" sz="3400" dirty="0"/>
          </a:p>
          <a:p>
            <a:pPr indent="0" marL="0">
              <a:buNone/>
            </a:pPr>
            <a:r>
              <a:rPr lang="en-US" sz="3400" b="1" spc="-5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$500K by Friday.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1810512"/>
            <a:ext cx="5303520" cy="2029968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810512"/>
            <a:ext cx="5303520" cy="36576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20240"/>
            <a:ext cx="4956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on a call with a house flipper who needs $500K for a 45-day close. Your pipeline is dry. You open LinkedIn — 300 cold connections stare back. You text three people: "Hey, do you know anyone?"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days pass. The deal closes with someone else's capital.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810512"/>
            <a:ext cx="2788920" cy="868680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99632" y="1920240"/>
            <a:ext cx="25603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13×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199632" y="2349094"/>
            <a:ext cx="256032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INTRO CONVERSION VS COLD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035040" y="2788920"/>
            <a:ext cx="2788920" cy="868680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99632" y="2898648"/>
            <a:ext cx="25603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41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3–7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99632" y="3327502"/>
            <a:ext cx="256032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LOST PER INTRO, MANUALLY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35040" y="3767328"/>
            <a:ext cx="2788920" cy="868680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99632" y="3877056"/>
            <a:ext cx="25603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700K+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99632" y="4305910"/>
            <a:ext cx="256032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$120/MO FOR LINKEDIN NAV (STILL MANUAL)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3913632"/>
            <a:ext cx="5303520" cy="777240"/>
          </a:xfrm>
          <a:prstGeom prst="rect">
            <a:avLst/>
          </a:prstGeom>
          <a:solidFill>
            <a:srgbClr val="161C2A"/>
          </a:solidFill>
          <a:ln w="12700">
            <a:solidFill>
              <a:srgbClr val="3A2E1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39776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INACTION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85800" y="4206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lender missing 4 deals/year at avg $200K loan = $800K idle capital, 6–12% yield lost = $48–96K in unrealised annual return.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6384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24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 ·  MARKET VOICE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512064"/>
            <a:ext cx="832104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market has been saying this for years.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4206240" cy="1627632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371600"/>
            <a:ext cx="42062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90472"/>
            <a:ext cx="1097280" cy="201168"/>
          </a:xfrm>
          <a:prstGeom prst="rect">
            <a:avLst/>
          </a:prstGeom>
          <a:solidFill>
            <a:srgbClr val="1C2438"/>
          </a:solidFill>
          <a:ln w="12700">
            <a:solidFill>
              <a:srgbClr val="3A2E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90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" y="175564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"Spent 4 days chasing a hard money lender through LinkedIn. Got ghosted twice. Lost the deal. There HAS to be a better way."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670048"/>
            <a:ext cx="3931920" cy="9144"/>
          </a:xfrm>
          <a:prstGeom prst="rect">
            <a:avLst/>
          </a:prstGeom>
          <a:solidFill>
            <a:srgbClr val="131820"/>
          </a:solidFill>
          <a:ln w="12700">
            <a:solidFill>
              <a:srgbClr val="1318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432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8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@reiflipperTX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71800" y="2743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BiggerPockets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703320" y="27432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2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847 upvotes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37760" y="1371600"/>
            <a:ext cx="4206240" cy="1627632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371600"/>
            <a:ext cx="42062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4920" y="1490472"/>
            <a:ext cx="1097280" cy="201168"/>
          </a:xfrm>
          <a:prstGeom prst="rect">
            <a:avLst/>
          </a:prstGeom>
          <a:solidFill>
            <a:srgbClr val="1C2438"/>
          </a:solidFill>
          <a:ln w="12700">
            <a:solidFill>
              <a:srgbClr val="3A2E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1490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FUNDING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074920" y="175564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best angel checks I've closed came through warm intros. Cold emails have a 1% response rate. I'd pay serious money for a system that automates the intro chain."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74920" y="2670048"/>
            <a:ext cx="3931920" cy="9144"/>
          </a:xfrm>
          <a:prstGeom prst="rect">
            <a:avLst/>
          </a:prstGeom>
          <a:solidFill>
            <a:srgbClr val="131820"/>
          </a:solidFill>
          <a:ln w="12700">
            <a:solidFill>
              <a:srgbClr val="1318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27432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8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@vcfounder_sf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06640" y="2743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/ X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138160" y="27432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2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1.2K likes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3200400"/>
            <a:ext cx="4206240" cy="1627632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200400"/>
            <a:ext cx="42062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319272"/>
            <a:ext cx="1097280" cy="201168"/>
          </a:xfrm>
          <a:prstGeom prst="rect">
            <a:avLst/>
          </a:prstGeom>
          <a:solidFill>
            <a:srgbClr val="1C2438"/>
          </a:solidFill>
          <a:ln w="12700">
            <a:solidFill>
              <a:srgbClr val="3A2E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3192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LENDING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40080" y="358444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have capital sitting idle because I cannot find qualified borrowers fast enough. Every lender I know has the same problem. We need a pipeline, not more cold leads."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4498848"/>
            <a:ext cx="3931920" cy="9144"/>
          </a:xfrm>
          <a:prstGeom prst="rect">
            <a:avLst/>
          </a:prstGeom>
          <a:solidFill>
            <a:srgbClr val="131820"/>
          </a:solidFill>
          <a:ln w="12700">
            <a:solidFill>
              <a:srgbClr val="1318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572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8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@privatelenderpro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971800" y="45720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r/realestateinvesting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703320" y="45720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2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612 upvotes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937760" y="3200400"/>
            <a:ext cx="4206240" cy="1627632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37760" y="3200400"/>
            <a:ext cx="42062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74920" y="3319272"/>
            <a:ext cx="1097280" cy="201168"/>
          </a:xfrm>
          <a:prstGeom prst="rect">
            <a:avLst/>
          </a:prstGeom>
          <a:solidFill>
            <a:srgbClr val="1C2438"/>
          </a:solidFill>
          <a:ln w="12700">
            <a:solidFill>
              <a:srgbClr val="3A2E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33192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INVESTING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074920" y="358444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"Warm intros are the only way I meet founders worth backing. But the process of getting them is 100% manual and completely unscalable. Fix this and I'll write the first check."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74920" y="4498848"/>
            <a:ext cx="3931920" cy="9144"/>
          </a:xfrm>
          <a:prstGeom prst="rect">
            <a:avLst/>
          </a:prstGeom>
          <a:solidFill>
            <a:srgbClr val="131820"/>
          </a:solidFill>
          <a:ln w="12700">
            <a:solidFill>
              <a:srgbClr val="1318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4572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8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@angelinvestor_vc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06640" y="45720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Post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138160" y="45720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2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3.4K reactions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86384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24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 ·  THE VILLAIN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512064"/>
            <a:ext cx="832104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enemy isn't a competitor.</a:t>
            </a:r>
            <a:endParaRPr lang="en-US" sz="3200" dirty="0"/>
          </a:p>
          <a:p>
            <a:pPr indent="0" marL="0">
              <a:buNone/>
            </a:pPr>
            <a:r>
              <a:rPr lang="en-US" sz="3200" b="1" spc="-5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manual intro chain.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719072"/>
            <a:ext cx="4206240" cy="1353312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19072"/>
            <a:ext cx="36576" cy="1353312"/>
          </a:xfrm>
          <a:prstGeom prst="rect">
            <a:avLst/>
          </a:prstGeom>
          <a:solidFill>
            <a:srgbClr val="E8415A"/>
          </a:solidFill>
          <a:ln w="12700">
            <a:solidFill>
              <a:srgbClr val="E841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56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Theft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22199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3–7 days per introduction attempt. At 20 deals/year that's 60–140 days of deal bandwidth lost to a broken social graph.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37760" y="1719072"/>
            <a:ext cx="4206240" cy="1353312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719072"/>
            <a:ext cx="36576" cy="1353312"/>
          </a:xfrm>
          <a:prstGeom prst="rect">
            <a:avLst/>
          </a:prstGeom>
          <a:solidFill>
            <a:srgbClr val="E8415A"/>
          </a:solidFill>
          <a:ln w="12700">
            <a:solidFill>
              <a:srgbClr val="E841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856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Decay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222199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Motivated sellers, available lenders, open cap table slots — all expire in 24–72 hours. The manual intro chain takes 72–168 hours.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227832"/>
            <a:ext cx="4206240" cy="1353312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27832"/>
            <a:ext cx="36576" cy="13533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364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Left Idle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73075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lenders and angel investors lose 6–12% annual yield to idle capital. Founders miss funding rounds. This is a systems failure.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37760" y="3227832"/>
            <a:ext cx="4206240" cy="1353312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3227832"/>
            <a:ext cx="36576" cy="13533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3364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Cost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373075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21 charges $30,000/year. Masterminds charge $5,000–15,000/year. People already pay a fortune for "access." That IS a warm intro network.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47548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2026. AI writes code and drives cars. Deal-makers are still leaving voicemails to find a co-investor.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6384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24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 ·  DEALNEXUS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512064"/>
            <a:ext cx="832104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need to introduction in minutes.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2011680" cy="3493008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20116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173736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&amp; Map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Invite-only. Import phone contacts. Structured profile: role, deal size, market, what you need, what you offer. Every node is a real relationship.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32888" y="1371600"/>
            <a:ext cx="2011680" cy="3493008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32888" y="1371600"/>
            <a:ext cx="20116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670048" y="2011680"/>
            <a:ext cx="173736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0048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 Plain English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70048" y="2578608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need a private lender in Texas, $500K, 45 days." AI parses intent, searches 3-degree trust graph, ranks by warmth not just match quality.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45736" y="1371600"/>
            <a:ext cx="2011680" cy="3493008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45736" y="1371600"/>
            <a:ext cx="20116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2896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882896" y="2011680"/>
            <a:ext cx="173736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Intro Flow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82896" y="2578608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to intermediary Mike: "Your contact needs a lender. Dave matches. Introduce?" Mike taps yes. Dave gets context-rich intro with social proof.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58584" y="1371600"/>
            <a:ext cx="2011680" cy="3493008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58584" y="1371600"/>
            <a:ext cx="20116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95744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7095744" y="2011680"/>
            <a:ext cx="173736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95744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Compounds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95744" y="2578608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intro rated. Every deal outcome tracked. Great connectors become high-value nodes. Their future intros get prioritised. Network improves itself.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709160"/>
            <a:ext cx="8503920" cy="256032"/>
          </a:xfrm>
          <a:prstGeom prst="rect">
            <a:avLst/>
          </a:prstGeom>
          <a:solidFill>
            <a:srgbClr val="1C2438"/>
          </a:solidFill>
          <a:ln w="12700">
            <a:solidFill>
              <a:srgbClr val="3A2E1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" y="47274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warm intro already existed in your network. DealNexus finds it, routes it, and closes it — automatically.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6384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 ·  MARKET SEGMENTS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512064"/>
            <a:ext cx="832104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verticals. One graph. Compounding network effects.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2788920" cy="3566160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53312"/>
            <a:ext cx="27889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63040"/>
            <a:ext cx="1280160" cy="219456"/>
          </a:xfrm>
          <a:prstGeom prst="rect">
            <a:avLst/>
          </a:prstGeom>
          <a:solidFill>
            <a:srgbClr val="1C2438"/>
          </a:solidFill>
          <a:ln w="12700">
            <a:solidFill>
              <a:srgbClr val="3A2E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630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 ★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02920" y="177393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Lenders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REAL ESTATE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251460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33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WTP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88720" y="2633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 / yr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9443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88720" y="2944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idle — no qualified borrowers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2552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8872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$80K/yr in broker fees today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639312"/>
            <a:ext cx="251460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033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broker fees at 1/80th the cost. Highest LTV. Supply-side engine of the entire graph.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10128" y="1353312"/>
            <a:ext cx="2788920" cy="3566160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10128" y="1353312"/>
            <a:ext cx="2788920" cy="36576"/>
          </a:xfrm>
          <a:prstGeom prst="rect">
            <a:avLst/>
          </a:prstGeom>
          <a:solidFill>
            <a:srgbClr val="4C8AE8"/>
          </a:solidFill>
          <a:ln w="12700">
            <a:solidFill>
              <a:srgbClr val="4C8A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47288" y="1463040"/>
            <a:ext cx="1280160" cy="219456"/>
          </a:xfrm>
          <a:prstGeom prst="rect">
            <a:avLst/>
          </a:prstGeom>
          <a:solidFill>
            <a:srgbClr val="1C2438"/>
          </a:solidFill>
          <a:ln w="12700">
            <a:solidFill>
              <a:srgbClr val="3A2E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47288" y="14630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4C8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SIDE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447288" y="177393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Flippers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47288" y="22860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C8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REAL ESTATE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447288" y="2542032"/>
            <a:ext cx="251460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47288" y="2633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WTP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133088" y="2633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 / yr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47288" y="29443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133088" y="2944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lender when the deal is live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47288" y="32552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133088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50–70K active flippers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47288" y="3639312"/>
            <a:ext cx="251460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47288" y="37033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extra deal per year = $40–60K profit. Paying $1K/yr for a 50x ROI is the easiest sale in real estate.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54496" y="1353312"/>
            <a:ext cx="2788920" cy="3566160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54496" y="1353312"/>
            <a:ext cx="2788920" cy="36576"/>
          </a:xfrm>
          <a:prstGeom prst="rect">
            <a:avLst/>
          </a:prstGeom>
          <a:solidFill>
            <a:srgbClr val="22C97A"/>
          </a:solidFill>
          <a:ln w="12700">
            <a:solidFill>
              <a:srgbClr val="22C97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91656" y="1463040"/>
            <a:ext cx="1280160" cy="219456"/>
          </a:xfrm>
          <a:prstGeom prst="rect">
            <a:avLst/>
          </a:prstGeom>
          <a:solidFill>
            <a:srgbClr val="1C2438"/>
          </a:solidFill>
          <a:ln w="12700">
            <a:solidFill>
              <a:srgbClr val="3A2E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91656" y="14630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2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391656" y="177393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Founders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Angel Investors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391656" y="22860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2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 / ANGEL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391656" y="2542032"/>
            <a:ext cx="251460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91656" y="26334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WTP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077456" y="2633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 / yr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91656" y="29443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077456" y="2944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can't get warm intros to angels. Angels can't find quality deal flow.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91656" y="32552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077456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 actively fundraising globally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91656" y="3639312"/>
            <a:ext cx="251460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91656" y="37033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funded round or one clean deal sourced = 100x–1000x ROI on $1K/yr. Obvious upsell after RE market.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86384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 ·  COMPETITIVE LANDSCAPE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512064"/>
            <a:ext cx="832104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where competitors score zero is a moat.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98448"/>
          <a:ext cx="84582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05840"/>
                <a:gridCol w="1005840"/>
                <a:gridCol w="1005840"/>
                <a:gridCol w="1051560"/>
                <a:gridCol w="13258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A95A8"/>
                          </a:solidFill>
                        </a:rPr>
                        <a:t>Feature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A95A8"/>
                          </a:solidFill>
                        </a:rPr>
                        <a:t>LinkedIn Nav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A95A8"/>
                          </a:solidFill>
                        </a:rPr>
                        <a:t>AngelList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A95A8"/>
                          </a:solidFill>
                        </a:rPr>
                        <a:t>Lunchclub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A95A8"/>
                          </a:solidFill>
                        </a:rPr>
                        <a:t>Offline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A95A8"/>
                          </a:solidFill>
                        </a:rPr>
                        <a:t>Networks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</a:rPr>
                        <a:t>DealNexus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</a:rPr>
                        <a:t>Consumer mobile app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97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</a:rPr>
                        <a:t>Real trust graph (contacts)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97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</a:rPr>
                        <a:t>AI natural language search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97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</a:rPr>
                        <a:t>Auto-drafted intro messages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97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</a:rPr>
                        <a:t>Double opt-in intro flow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97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</a:rPr>
                        <a:t>Reputation / trust score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97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</a:rPr>
                        <a:t>RE + startup deal-makers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97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</a:rPr>
                        <a:t>Network gap detection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415A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97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7091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DealNexus is the only product combining consumer mobile + real trust graph + AI intro automation for deal-makers across real estate and venture.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86384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24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 ·  EXIT PROOF &amp; MARKET VALIDATION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512064"/>
            <a:ext cx="832104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money already validated this category.</a:t>
            </a:r>
            <a:endParaRPr lang="en-US" sz="2800" dirty="0"/>
          </a:p>
          <a:p>
            <a:pPr indent="0" marL="0">
              <a:buNone/>
            </a:pPr>
            <a:r>
              <a:rPr lang="en-US" sz="28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DealNexus is what they didn't build.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2788920" cy="3154680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64208"/>
            <a:ext cx="2788920" cy="36576"/>
          </a:xfrm>
          <a:prstGeom prst="rect">
            <a:avLst/>
          </a:prstGeom>
          <a:solidFill>
            <a:srgbClr val="4C8AE8"/>
          </a:solidFill>
          <a:ln w="12700">
            <a:solidFill>
              <a:srgbClr val="4C8A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5564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Swarm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15798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4C8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(SERIES A, 2023)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02920" y="2414016"/>
            <a:ext cx="251460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87168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intro mapping for B2B enterprise sales. Proved the network graph thesis at scale. Did NOT serve individual deal-makers or consumer mobile.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611880"/>
            <a:ext cx="2514600" cy="9144"/>
          </a:xfrm>
          <a:prstGeom prst="rect">
            <a:avLst/>
          </a:prstGeom>
          <a:solidFill>
            <a:srgbClr val="3A2E16"/>
          </a:solidFill>
          <a:ln w="12700">
            <a:solidFill>
              <a:srgbClr val="3A2E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6758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4C8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DEALnexus FILLS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02920" y="38862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consumer app. No RE/angel vertical. No double opt-in auto-flow.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10128" y="1664208"/>
            <a:ext cx="2788920" cy="3154680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10128" y="1664208"/>
            <a:ext cx="27889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175564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Lunchclub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47288" y="215798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VALUATION $100M+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447288" y="2414016"/>
            <a:ext cx="251460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47288" y="2487168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AI-matched 1:1 networking meetings. Raised $24M. Proved people pay for AI-powered introductions at scale. Failed on retention due to random matching.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47288" y="3611880"/>
            <a:ext cx="2514600" cy="9144"/>
          </a:xfrm>
          <a:prstGeom prst="rect">
            <a:avLst/>
          </a:prstGeom>
          <a:solidFill>
            <a:srgbClr val="3A2E16"/>
          </a:solidFill>
          <a:ln w="12700">
            <a:solidFill>
              <a:srgbClr val="3A2E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47288" y="36758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DEALnexus FILLS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447288" y="38862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matching, not need-based. No trust graph. No real estate. DealNexus fixes the exact reason Lunchclub churned.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54496" y="1664208"/>
            <a:ext cx="2788920" cy="3154680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54496" y="1664208"/>
            <a:ext cx="2788920" cy="36576"/>
          </a:xfrm>
          <a:prstGeom prst="rect">
            <a:avLst/>
          </a:prstGeom>
          <a:solidFill>
            <a:srgbClr val="22C97A"/>
          </a:solidFill>
          <a:ln w="12700">
            <a:solidFill>
              <a:srgbClr val="22C9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91656" y="175564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Shapr / Bumble Bizz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91656" y="215798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2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SIGNAL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391656" y="2414016"/>
            <a:ext cx="251460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91656" y="2487168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networking apps that hit 50M+ downloads prove massive consumer appetite for digital relationship tools beyond LinkedIn.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91656" y="3611880"/>
            <a:ext cx="2514600" cy="9144"/>
          </a:xfrm>
          <a:prstGeom prst="rect">
            <a:avLst/>
          </a:prstGeom>
          <a:solidFill>
            <a:srgbClr val="3A2E16"/>
          </a:solidFill>
          <a:ln w="12700">
            <a:solidFill>
              <a:srgbClr val="3A2E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91656" y="36758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2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DEALnexus FILLS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391656" y="38862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matching, not deal-specific. No trust chain. No intro automation. No outcome tracking.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491947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 valuation for this category is already &gt;$100M. DealNexus adds the consumer layer every exit missed.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86384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24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 ·  TECHNICAL ARCHITECTURE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512064"/>
            <a:ext cx="832104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stack that scales from</a:t>
            </a:r>
            <a:endParaRPr lang="en-US" sz="2600" dirty="0"/>
          </a:p>
          <a:p>
            <a:pPr indent="0" marL="0">
              <a:buNone/>
            </a:pPr>
            <a:r>
              <a:rPr lang="en-US" sz="26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to 500,000 users without rearchitecting.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64208"/>
          <a:ext cx="84582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926080"/>
                <a:gridCol w="3977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200" kern="0" dirty="0">
                          <a:solidFill>
                            <a:srgbClr val="C9A84C"/>
                          </a:solidFill>
                        </a:rPr>
                        <a:t>LAYER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200" kern="0" dirty="0">
                          <a:solidFill>
                            <a:srgbClr val="C9A84C"/>
                          </a:solidFill>
                        </a:rPr>
                        <a:t>TECHNOLOGY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200" kern="0" dirty="0">
                          <a:solidFill>
                            <a:srgbClr val="C9A84C"/>
                          </a:solidFill>
                        </a:rPr>
                        <a:t>RATIONALE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Mobile App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React Native (Expo)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</a:rPr>
                        <a:t>Cross-platform iOS + Android. Fast iteration. One codebase.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Backend / Auth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Supabase (Postgres + Edge Functions)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</a:rPr>
                        <a:t>Row-level security. Real-time subscriptions. Rapid dev.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Graph Engine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Neo4j / Supabase recursive CTEs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</a:rPr>
                        <a:t>Trust-path traversal at 100K+ nodes. Dijkstra-weighted edges.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AI Agent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Claude API (Anthropic)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</a:rPr>
                        <a:t>Natural language search parsing + contextual intro drafting.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Notifications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Expo Push + FCM / APNs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</a:rPr>
                        <a:t>Real-time double opt-in intro flow on mobile.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</a:rPr>
                        <a:t>Contact Import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Native Phone Contacts (hashed)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</a:rPr>
                        <a:t>Signal/WhatsApp privacy model. Raw numbers never stored server-side.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4462272"/>
            <a:ext cx="8458200" cy="457200"/>
          </a:xfrm>
          <a:prstGeom prst="rect">
            <a:avLst/>
          </a:prstGeom>
          <a:solidFill>
            <a:srgbClr val="1C2438"/>
          </a:solidFill>
          <a:ln w="12700">
            <a:solidFill>
              <a:srgbClr val="3A2E1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" y="4507992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technical moat: trust-path algorithm (Dijkstra / BFS with trust-weighted edges) finds the warmest intro path — not just the shortest. No competitor has this on mobile.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86384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24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 ·  SALES &amp; GROWTH ENGINE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512064"/>
            <a:ext cx="832104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flywheel no competitor can replicate.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5029200" cy="2423160"/>
          </a:xfrm>
          <a:prstGeom prst="rect">
            <a:avLst/>
          </a:prstGeom>
          <a:solidFill>
            <a:srgbClr val="111620"/>
          </a:solidFill>
          <a:ln w="12700">
            <a:solidFill>
              <a:srgbClr val="3A2E1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325880"/>
            <a:ext cx="5029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17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COMPOUNDING LOOP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755648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lenders join  →  better borrower matches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more deals funded  →  more flippers join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more angel investors join  →  better founder matches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more founders join  →  more lenders and angels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CAC drops every month the flywheel spins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42432" y="1325880"/>
            <a:ext cx="3081528" cy="749808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42432" y="1325880"/>
            <a:ext cx="36576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25312" y="1399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Advantage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25312" y="16733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Invite-only phone-contact graph. Cannot be purchased or engineered from outside.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42432" y="2212848"/>
            <a:ext cx="3081528" cy="749808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42432" y="2212848"/>
            <a:ext cx="36576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25312" y="2286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Supply-First (Airbnb model)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25312" y="2560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lenders + angels first. One lender with $5M = 25–40 borrower matches. Supply makes demand inevitable.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42432" y="3099816"/>
            <a:ext cx="3081528" cy="749808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42432" y="3099816"/>
            <a:ext cx="36576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25312" y="3172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Cold Outreach CAC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25312" y="34472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network seeds 300–500 users. Network gap detection drives organic invite loops.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742432" y="3986784"/>
            <a:ext cx="3081528" cy="749808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42432" y="3986784"/>
            <a:ext cx="36576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25312" y="40599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 at Month 18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25312" y="43342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trust relationships + reputation data + anonymized deal outcomes. Impossible to reconstruct.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3840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strategy: seed lenders + angels first, let deal flow make flippers and founders join without asking.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6384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  ·  PRODUCT ROADMAP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512064"/>
            <a:ext cx="832104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phases. Each earns the next.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2788920" cy="3584448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53312"/>
            <a:ext cx="2788920" cy="36576"/>
          </a:xfrm>
          <a:prstGeom prst="rect">
            <a:avLst/>
          </a:prstGeom>
          <a:solidFill>
            <a:srgbClr val="4C8AE8"/>
          </a:solidFill>
          <a:ln w="12700">
            <a:solidFill>
              <a:srgbClr val="4C8A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447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8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Loop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C8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1–8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02920" y="2578608"/>
            <a:ext cx="251460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5176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Invite-only auth + phone contact import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99923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Structured profiles (role, market, deal size)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34670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Manual intro request flow + push notifications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69417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Network map visualisation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206240"/>
            <a:ext cx="2514600" cy="9144"/>
          </a:xfrm>
          <a:prstGeom prst="rect">
            <a:avLst/>
          </a:prstGeom>
          <a:solidFill>
            <a:srgbClr val="3A2E16"/>
          </a:solidFill>
          <a:ln w="12700">
            <a:solidFill>
              <a:srgbClr val="3A2E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27024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C8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users · 1 metro · First 10 successful intros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10128" y="1353312"/>
            <a:ext cx="2788920" cy="3584448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10128" y="1353312"/>
            <a:ext cx="27889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47288" y="14447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47288" y="19385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Flywheel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47288" y="23317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9–16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447288" y="2578608"/>
            <a:ext cx="251460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47288" y="265176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AI natural language search (Claude API)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47288" y="299923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Trust-path calculation + warmth ranking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47288" y="334670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Auto-drafted intro messages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47288" y="369417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Annual subscription ($1,000) launch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47288" y="4206240"/>
            <a:ext cx="2514600" cy="9144"/>
          </a:xfrm>
          <a:prstGeom prst="rect">
            <a:avLst/>
          </a:prstGeom>
          <a:solidFill>
            <a:srgbClr val="3A2E16"/>
          </a:solidFill>
          <a:ln w="12700">
            <a:solidFill>
              <a:srgbClr val="3A2E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427024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1,500 users · 3 metros · $200K ARR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54496" y="1353312"/>
            <a:ext cx="2788920" cy="3584448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54496" y="1353312"/>
            <a:ext cx="2788920" cy="36576"/>
          </a:xfrm>
          <a:prstGeom prst="rect">
            <a:avLst/>
          </a:prstGeom>
          <a:solidFill>
            <a:srgbClr val="22C97A"/>
          </a:solidFill>
          <a:ln w="12700">
            <a:solidFill>
              <a:srgbClr val="22C9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91656" y="14447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391656" y="19385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Category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91656" y="23317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2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17–24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391656" y="2578608"/>
            <a:ext cx="251460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91656" y="265176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Reputation scoring + trust score layer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91656" y="299923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Startup / angel vertical launch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91656" y="334670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Network gap detection + invite loops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91656" y="369417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Lender + angel verified profiles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91656" y="4206240"/>
            <a:ext cx="2514600" cy="9144"/>
          </a:xfrm>
          <a:prstGeom prst="rect">
            <a:avLst/>
          </a:prstGeom>
          <a:solidFill>
            <a:srgbClr val="3A2E16"/>
          </a:solidFill>
          <a:ln w="12700">
            <a:solidFill>
              <a:srgbClr val="3A2E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91656" y="427024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2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3,000 users · $500K ARR · Series A ready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86384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  ·  PRICING MODEL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512064"/>
            <a:ext cx="832104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membership. Outcome-priced.</a:t>
            </a:r>
            <a:endParaRPr lang="en-US" sz="2600" dirty="0"/>
          </a:p>
          <a:p>
            <a:pPr indent="0" marL="0">
              <a:buNone/>
            </a:pPr>
            <a:r>
              <a:rPr lang="en-US" sz="26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monthly SaaS subscription.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2788920" cy="3063240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64208"/>
            <a:ext cx="2788920" cy="36576"/>
          </a:xfrm>
          <a:prstGeom prst="rect">
            <a:avLst/>
          </a:prstGeom>
          <a:solidFill>
            <a:srgbClr val="8A95A8"/>
          </a:solidFill>
          <a:ln w="12700">
            <a:solidFill>
              <a:srgbClr val="8A95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739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04825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02920" y="272491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 free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999232"/>
            <a:ext cx="251460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7238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 profile + import contacts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3832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See your network map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69417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 intro requests / month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40050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search 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480560"/>
            <a:ext cx="251460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5445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engine — no paywall barrier to join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10128" y="1664208"/>
            <a:ext cx="2788920" cy="3063240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10128" y="1664208"/>
            <a:ext cx="2788920" cy="36576"/>
          </a:xfrm>
          <a:prstGeom prst="rect">
            <a:avLst/>
          </a:prstGeom>
          <a:solidFill>
            <a:srgbClr val="4C8AE8"/>
          </a:solidFill>
          <a:ln w="12700">
            <a:solidFill>
              <a:srgbClr val="4C8A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47288" y="17739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C8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47288" y="204825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$500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3447288" y="272491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47288" y="2999232"/>
            <a:ext cx="251460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47288" y="307238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AI natural language search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47288" y="33832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 intro requests / month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47288" y="369417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Trust path visualisation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47288" y="40050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reputation score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47288" y="4480560"/>
            <a:ext cx="251460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45445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C8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active deal-makers doing 3–8 deals/year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54496" y="1664208"/>
            <a:ext cx="2788920" cy="3063240"/>
          </a:xfrm>
          <a:prstGeom prst="rect">
            <a:avLst/>
          </a:prstGeom>
          <a:solidFill>
            <a:srgbClr val="1C2438"/>
          </a:solidFill>
          <a:ln w="12700">
            <a:solidFill>
              <a:srgbClr val="3A2E1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54496" y="1664208"/>
            <a:ext cx="27889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91656" y="17739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91656" y="204825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$1,000</a:t>
            </a:r>
            <a:endParaRPr lang="en-US" sz="3800" dirty="0"/>
          </a:p>
        </p:txBody>
      </p:sp>
      <p:sp>
        <p:nvSpPr>
          <p:cNvPr id="34" name="Text 32"/>
          <p:cNvSpPr/>
          <p:nvPr/>
        </p:nvSpPr>
        <p:spPr>
          <a:xfrm>
            <a:off x="6391656" y="272491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91656" y="2999232"/>
            <a:ext cx="251460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91656" y="307238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everything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91656" y="33832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intro routing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91656" y="369417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Network gap detection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91656" y="40050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Deal outcome tracking + analytics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91656" y="43159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Verified profile badge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91656" y="4480560"/>
            <a:ext cx="251460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1656" y="45445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RECOMMENDED  ·  Power users + lenders + angels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4645152"/>
            <a:ext cx="8503920" cy="274320"/>
          </a:xfrm>
          <a:prstGeom prst="rect">
            <a:avLst/>
          </a:prstGeom>
          <a:solidFill>
            <a:srgbClr val="1C2438"/>
          </a:solidFill>
          <a:ln w="12700">
            <a:solidFill>
              <a:srgbClr val="3A2E1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48640" y="46542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ROI CHECK  ·  One extra deal/year = $40–60K profit (RE) or $1M+ (one funded round).  $1,000/yr Partner = 50x–1000x return.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86384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  ·  YEAR 1 REVENUE MODEL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512064"/>
            <a:ext cx="832104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Year 1: 3,000 users.</a:t>
            </a:r>
            <a:endParaRPr lang="en-US" sz="2600" dirty="0"/>
          </a:p>
          <a:p>
            <a:pPr indent="0" marL="0">
              <a:buNone/>
            </a:pPr>
            <a:r>
              <a:rPr lang="en-US" sz="26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paying Partner members.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1920240" cy="960120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" y="1773936"/>
            <a:ext cx="16916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8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3,000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67512" y="2259482"/>
            <a:ext cx="169164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 · YEAR 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78608" y="1664208"/>
            <a:ext cx="1920240" cy="960120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1773936"/>
            <a:ext cx="16916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43200" y="2259482"/>
            <a:ext cx="169164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PARTNER MEMBERS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54296" y="1664208"/>
            <a:ext cx="1920240" cy="960120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773936"/>
            <a:ext cx="16916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$200K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18888" y="2259482"/>
            <a:ext cx="169164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29984" y="1664208"/>
            <a:ext cx="1920240" cy="960120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94576" y="1773936"/>
            <a:ext cx="16916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A9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6.7%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94576" y="2259482"/>
            <a:ext cx="169164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→ PARTNER CONVERSION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761488"/>
          <a:ext cx="84582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097280"/>
                <a:gridCol w="1188720"/>
                <a:gridCol w="1371600"/>
                <a:gridCol w="1325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200" kern="0" dirty="0">
                          <a:solidFill>
                            <a:srgbClr val="C9A84C"/>
                          </a:solidFill>
                        </a:rPr>
                        <a:t>STREAM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spc="200" kern="0" dirty="0">
                          <a:solidFill>
                            <a:srgbClr val="C9A84C"/>
                          </a:solidFill>
                        </a:rPr>
                        <a:t>USERS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spc="200" kern="0" dirty="0">
                          <a:solidFill>
                            <a:srgbClr val="C9A84C"/>
                          </a:solidFill>
                        </a:rPr>
                        <a:t>PRICE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spc="200" kern="0" dirty="0">
                          <a:solidFill>
                            <a:srgbClr val="C9A84C"/>
                          </a:solidFill>
                        </a:rPr>
                        <a:t>ARR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spc="200" kern="0" dirty="0">
                          <a:solidFill>
                            <a:srgbClr val="C9A84C"/>
                          </a:solidFill>
                        </a:rPr>
                        <a:t>% TOTAL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memberships (RE lenders + flippers)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$1,000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97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$200,000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72%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subscriptions ($500/yr)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$500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97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$50,000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18%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lender profiles ($500/yr)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$500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97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$15,000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5%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Lender referral fees (0.25% loan)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 deal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97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$13,500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95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5%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YEAR 1 ARR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 paid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84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84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$278,500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84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100%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8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02920" y="48006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target: 10,000 users · 700 paying members · $1.2M ARR  ·  Year 3: 25,000 users · $3.5M ARR · Series A proof complete.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86384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  ·  REVENUE TRAJECTORY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512064"/>
            <a:ext cx="832104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seed. Then the flywheel takes over.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1261872"/>
          <a:ext cx="8458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2377440" y="1371600"/>
            <a:ext cx="1234440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77440" y="13716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revenue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120640" y="1371600"/>
            <a:ext cx="1097280" cy="292608"/>
          </a:xfrm>
          <a:prstGeom prst="rect">
            <a:avLst/>
          </a:prstGeom>
          <a:solidFill>
            <a:srgbClr val="22C97A"/>
          </a:solidFill>
          <a:ln w="12700">
            <a:solidFill>
              <a:srgbClr val="22C9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1371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 ARR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726680" y="1371600"/>
            <a:ext cx="1097280" cy="292608"/>
          </a:xfrm>
          <a:prstGeom prst="rect">
            <a:avLst/>
          </a:prstGeom>
          <a:solidFill>
            <a:srgbClr val="22C97A"/>
          </a:solidFill>
          <a:ln w="12700">
            <a:solidFill>
              <a:srgbClr val="22C97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26680" y="1371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 ARR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02920" y="46451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Q1 = seeding phase (no paid users). Q2 = first 18 paying members. Q3 = flywheel starts. Q4 = 200 Partner members = $200K ARR.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86384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  ·  UNIT ECONOMICS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512064"/>
            <a:ext cx="832104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that make this a business,</a:t>
            </a:r>
            <a:endParaRPr lang="en-US" sz="2800" dirty="0"/>
          </a:p>
          <a:p>
            <a:pPr indent="0" marL="0">
              <a:buNone/>
            </a:pPr>
            <a:r>
              <a:rPr lang="en-US" sz="28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product.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4114800" cy="914400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" y="180136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$8–15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67512" y="225856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(INVITE-ONLY ORGANIC SEEDING)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846320" y="1691640"/>
            <a:ext cx="4114800" cy="914400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10912" y="180136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$1,000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010912" y="225856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LTV · YEAR 1 (ANNUAL CONTRACT)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2770632"/>
            <a:ext cx="4114800" cy="914400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" y="288036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67–125×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67512" y="33375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 RATIO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46320" y="2770632"/>
            <a:ext cx="4114800" cy="914400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10912" y="288036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~Q3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010912" y="33375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 (UNDER 90 DAYS)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3767328"/>
            <a:ext cx="8321040" cy="1097280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767328"/>
            <a:ext cx="8321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85876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IN PLAIN ENGLISH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85800" y="413308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$12 we spend acquiring a user (invite + onboarding cost), we get $1,000 back in Year 1 from a Partner membership. If that member stays 3 years (reasonable for a network they depend on for deals), LTV = $3,000. LTV/CAC = 250×. Upside: one lender who sources $5M in annual deal flow through DealNexus and stays 5 years = $5,000 LTV on $12 CAC. We don't need aggressive conversion to build a healthy business.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6384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MOAT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512064"/>
            <a:ext cx="832104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owns the employment graph.</a:t>
            </a:r>
            <a:endParaRPr lang="en-US" sz="2800" dirty="0"/>
          </a:p>
          <a:p>
            <a:pPr indent="0" marL="0">
              <a:buNone/>
            </a:pPr>
            <a:r>
              <a:rPr lang="en-US" sz="28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DealNexus owns the deal-making graph.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4114800" cy="1353312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36576" cy="13533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013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Graph = Structural Moat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185416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buy 100K trust-weighted real relationships with engineering or marketing spend. Every new user makes every existing user more valuable. True network effects.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691640"/>
            <a:ext cx="4114800" cy="1353312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691640"/>
            <a:ext cx="36576" cy="13533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8013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Invite-Only = Quality Architecture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185416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registration destroys the trust graph. Invite-only is not a growth hack — it is the product. Every node is connected to at least one existing trusted node.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227832"/>
            <a:ext cx="4114800" cy="1353312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27832"/>
            <a:ext cx="36576" cy="1353312"/>
          </a:xfrm>
          <a:prstGeom prst="rect">
            <a:avLst/>
          </a:prstGeom>
          <a:solidFill>
            <a:srgbClr val="4C8AE8"/>
          </a:solidFill>
          <a:ln w="12700">
            <a:solidFill>
              <a:srgbClr val="4C8A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3375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Data = Compounding Intelligence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721608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18 months, DealNexus knows which connectors produce closed deals, which trust paths are real vs nominal, which deal profiles convert. That data is the product.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227832"/>
            <a:ext cx="4114800" cy="1353312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227832"/>
            <a:ext cx="36576" cy="1353312"/>
          </a:xfrm>
          <a:prstGeom prst="rect">
            <a:avLst/>
          </a:prstGeom>
          <a:solidFill>
            <a:srgbClr val="4C8AE8"/>
          </a:solidFill>
          <a:ln w="12700">
            <a:solidFill>
              <a:srgbClr val="4C8A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3375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Won't Build This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721608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Navigator generates $2B+/year from cold outreach. Automating warm intros admits their core product is broken and cannibalises their own revenue. They are structurally prevented from competing.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6384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24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TRANSPARENCY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512064"/>
            <a:ext cx="832104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red-teamed this. Here's what's real.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98448"/>
          <a:ext cx="8458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5715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200" kern="0" dirty="0">
                          <a:solidFill>
                            <a:srgbClr val="C9A84C"/>
                          </a:solidFill>
                        </a:rPr>
                        <a:t>RISK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spc="200" kern="0" dirty="0">
                          <a:solidFill>
                            <a:srgbClr val="C9A84C"/>
                          </a:solidFill>
                        </a:rPr>
                        <a:t>SEV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200" kern="0" dirty="0">
                          <a:solidFill>
                            <a:srgbClr val="C9A84C"/>
                          </a:solidFill>
                        </a:rPr>
                        <a:t>MITIGATION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DF5"/>
                          </a:solidFill>
                        </a:rPr>
                        <a:t>Cold Start / Network Density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841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HIGH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5A8"/>
                          </a:solidFill>
                        </a:rPr>
                        <a:t>Hyper-focus on private lenders in one US metro. Founder seeds from own network. 500 nodes in a single city produces enough density for real matches within 6 weeks.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DF5"/>
                          </a:solidFill>
                        </a:rPr>
                        <a:t>Intermediary Won't Forward Intro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841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HIGH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5A8"/>
                          </a:solidFill>
                        </a:rPr>
                        <a:t>AI-drafted messages reduce the friction of the ask to near zero. Rate-limiting prevents fatigue. Opt-in preferences let connectors set their own rules.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DF5"/>
                          </a:solidFill>
                        </a:rPr>
                        <a:t>Contact Import Perceived as Creepy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841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HIGH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5A8"/>
                          </a:solidFill>
                        </a:rPr>
                        <a:t>Explicit opt-in. Contacts hashed, never stored raw. Only shows contacts already on platform. Identical privacy model to Signal and WhatsApp — documented publicly.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DF5"/>
                          </a:solidFill>
                        </a:rPr>
                        <a:t>Users Won't Pay $1,000/year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9A84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5A8"/>
                          </a:solidFill>
                        </a:rPr>
                        <a:t>Free tier proves value first. Paywall hits at 2 intro requests/month — exactly when the product has proved it works. One deal = 50x annual subscription cost.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DF5"/>
                          </a:solidFill>
                        </a:rPr>
                        <a:t>LinkedIn or AngelList Builds This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9A84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5A8"/>
                          </a:solidFill>
                        </a:rPr>
                        <a:t>LinkedIn cannibalises $2B+ Sales Navigator revenue. AngelList is a fund administration platform, not a consumer network. Neither is structurally positioned to respond.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86384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24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POSITION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512064"/>
            <a:ext cx="832104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securities. No broker-dealer.</a:t>
            </a:r>
            <a:endParaRPr lang="en-US" sz="2800" dirty="0"/>
          </a:p>
          <a:p>
            <a:pPr indent="0" marL="0">
              <a:buNone/>
            </a:pPr>
            <a:r>
              <a:rPr lang="en-US" sz="28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category as LinkedIn.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4114800" cy="1298448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36576" cy="1298448"/>
          </a:xfrm>
          <a:prstGeom prst="rect">
            <a:avLst/>
          </a:prstGeom>
          <a:solidFill>
            <a:srgbClr val="22C97A"/>
          </a:solidFill>
          <a:ln w="12700">
            <a:solidFill>
              <a:srgbClr val="22C9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013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Not a Marketplace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185416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DealNexus does not facilitate transactions, hold money, or execute deals. It makes introductions. No broker-dealer registration required.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691640"/>
            <a:ext cx="4114800" cy="1298448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691640"/>
            <a:ext cx="36576" cy="1298448"/>
          </a:xfrm>
          <a:prstGeom prst="rect">
            <a:avLst/>
          </a:prstGeom>
          <a:solidFill>
            <a:srgbClr val="22C97A"/>
          </a:solidFill>
          <a:ln w="12700">
            <a:solidFill>
              <a:srgbClr val="22C9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8013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Not a Securities Platform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185416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investment instruments are sold, listed, or recommended. Revenue from subscriptions and verified profiles — not transaction fees.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172968"/>
            <a:ext cx="4114800" cy="1298448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172968"/>
            <a:ext cx="36576" cy="1298448"/>
          </a:xfrm>
          <a:prstGeom prst="rect">
            <a:avLst/>
          </a:prstGeom>
          <a:solidFill>
            <a:srgbClr val="22C97A"/>
          </a:solidFill>
          <a:ln w="12700">
            <a:solidFill>
              <a:srgbClr val="22C9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28269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Privacy Compliant (CCPA / GDPR)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666744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hashed pre-upload. Raw phone numbers never stored server-side. Opt-in data sharing. Standard compliance — identical to Signal and WhatsApp.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172968"/>
            <a:ext cx="4114800" cy="1298448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172968"/>
            <a:ext cx="36576" cy="1298448"/>
          </a:xfrm>
          <a:prstGeom prst="rect">
            <a:avLst/>
          </a:prstGeom>
          <a:solidFill>
            <a:srgbClr val="22C97A"/>
          </a:solidFill>
          <a:ln w="12700">
            <a:solidFill>
              <a:srgbClr val="22C9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28269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Same Category as LinkedIn &amp; AngelList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666744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networking platform. No regulatory gap vs. comparable products already operating at scale globally.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6384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24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 ·  LAUNCH PLAYBOOK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512064"/>
            <a:ext cx="832104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playbook runs on relationships, not ads.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788920" cy="3639312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2788920" cy="36576"/>
          </a:xfrm>
          <a:prstGeom prst="rect">
            <a:avLst/>
          </a:prstGeom>
          <a:solidFill>
            <a:srgbClr val="4C8AE8"/>
          </a:solidFill>
          <a:ln w="12700">
            <a:solidFill>
              <a:srgbClr val="4C8A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98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C8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160934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the Graph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029968"/>
            <a:ext cx="251460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031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Founder personally invites 50–100 private lenders + flippers from own network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4871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Each invited user asks 10–20 of their contacts to join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87121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Target: 300–500 users in 1–2 metros. Density &gt; breadth.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2552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Founder uses product publicly for own deals — dogfood loudly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4206240"/>
            <a:ext cx="2514600" cy="9144"/>
          </a:xfrm>
          <a:prstGeom prst="rect">
            <a:avLst/>
          </a:prstGeom>
          <a:solidFill>
            <a:srgbClr val="3A2E16"/>
          </a:solidFill>
          <a:ln w="12700">
            <a:solidFill>
              <a:srgbClr val="3A2E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27024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C8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First 10 successful intros documented + quoted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10128" y="1298448"/>
            <a:ext cx="2788920" cy="3639312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10128" y="1298448"/>
            <a:ext cx="27889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13898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2–3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47288" y="160934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Value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47288" y="2029968"/>
            <a:ext cx="251460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47288" y="21031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Track + publicise intro outcomes: deal funded, investment made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47288" y="24871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Collect testimonials in user's exact words — not polished PR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47288" y="287121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Introduce Member tier — paywall at 2 intro requests/month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47288" y="32552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Post 2 case study videos: 'Found my lender in 20 minutes'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47288" y="4206240"/>
            <a:ext cx="2514600" cy="9144"/>
          </a:xfrm>
          <a:prstGeom prst="rect">
            <a:avLst/>
          </a:prstGeom>
          <a:solidFill>
            <a:srgbClr val="3A2E16"/>
          </a:solidFill>
          <a:ln w="12700">
            <a:solidFill>
              <a:srgbClr val="3A2E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427024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$18K ARR · 3 documented deal closings via platform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54496" y="1298448"/>
            <a:ext cx="2788920" cy="3639312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54496" y="1298448"/>
            <a:ext cx="2788920" cy="36576"/>
          </a:xfrm>
          <a:prstGeom prst="rect">
            <a:avLst/>
          </a:prstGeom>
          <a:solidFill>
            <a:srgbClr val="22C97A"/>
          </a:solidFill>
          <a:ln w="12700">
            <a:solidFill>
              <a:srgbClr val="22C9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91656" y="13898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2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391656" y="160934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+ Monetise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91656" y="2029968"/>
            <a:ext cx="251460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91656" y="21031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Expand to 3–5 metros. Add angel investors + startup founders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91656" y="24871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Network gap detection drives organic invite loops at zero cost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91656" y="287121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Partner tier launch ($1,000/yr) with verified profile badge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91656" y="32552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Lender + angel verified profiles launched ($500/yr)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91656" y="4206240"/>
            <a:ext cx="2514600" cy="9144"/>
          </a:xfrm>
          <a:prstGeom prst="rect">
            <a:avLst/>
          </a:prstGeom>
          <a:solidFill>
            <a:srgbClr val="3A2E16"/>
          </a:solidFill>
          <a:ln w="12700">
            <a:solidFill>
              <a:srgbClr val="3A2E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91656" y="427024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2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1,500 users · $200K ARR · First institutional users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86384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24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 ·  OPERATOR INTELLIGENCE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512064"/>
            <a:ext cx="832104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sees things no competitor</a:t>
            </a:r>
            <a:endParaRPr lang="en-US" sz="2600" dirty="0"/>
          </a:p>
          <a:p>
            <a:pPr indent="0" marL="0">
              <a:buNone/>
            </a:pPr>
            <a:r>
              <a:rPr lang="en-US" sz="26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access or replicate.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4114800" cy="1417320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41148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01368"/>
            <a:ext cx="1463040" cy="201168"/>
          </a:xfrm>
          <a:prstGeom prst="rect">
            <a:avLst/>
          </a:prstGeom>
          <a:solidFill>
            <a:srgbClr val="1C2438"/>
          </a:solidFill>
          <a:ln w="12700">
            <a:solidFill>
              <a:srgbClr val="3A2E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013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640080" y="20756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Deal Demand Heatmap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4414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into what deal-makers are searching — by metro, deal size, asset class. 60 days ahead of any published market data. No broker, MLS, or fund has this.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691640"/>
            <a:ext cx="4114800" cy="1417320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691640"/>
            <a:ext cx="41148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83480" y="1801368"/>
            <a:ext cx="1463040" cy="201168"/>
          </a:xfrm>
          <a:prstGeom prst="rect">
            <a:avLst/>
          </a:prstGeom>
          <a:solidFill>
            <a:srgbClr val="1C2438"/>
          </a:solidFill>
          <a:ln w="12700">
            <a:solidFill>
              <a:srgbClr val="3A2E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8013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HEALTH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983480" y="20756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Quality Graph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24414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nodes produce closed deals vs nominal connections. These are power users to protect and incentivise. Nobody else has the outcome data to find them.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91840"/>
            <a:ext cx="4114800" cy="1417320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291840"/>
            <a:ext cx="41148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401568"/>
            <a:ext cx="1463040" cy="201168"/>
          </a:xfrm>
          <a:prstGeom prst="rect">
            <a:avLst/>
          </a:prstGeom>
          <a:solidFill>
            <a:srgbClr val="1C2438"/>
          </a:solidFill>
          <a:ln w="12700">
            <a:solidFill>
              <a:srgbClr val="3A2E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015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640080" y="3675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Depth Conversion 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0416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2nd-degree intro convert better than 3rd? Does a mutual connection change acceptance rate? This data tunes the graph algorithm every week.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291840"/>
            <a:ext cx="4114800" cy="1417320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291840"/>
            <a:ext cx="41148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83480" y="3401568"/>
            <a:ext cx="1463040" cy="201168"/>
          </a:xfrm>
          <a:prstGeom prst="rect">
            <a:avLst/>
          </a:prstGeom>
          <a:solidFill>
            <a:srgbClr val="1C2438"/>
          </a:solidFill>
          <a:ln w="12700">
            <a:solidFill>
              <a:srgbClr val="3A2E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4015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INTELLIGENCE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983480" y="3675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Gap Alerts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83480" y="40416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user searches for a profile that doesn't exist, the platform sees the gap before churn happens. Proactive invite targeting fills demand before users leave.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86384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24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TIMING ARGUMENT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512064"/>
            <a:ext cx="832104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conditions converged in 24 months.</a:t>
            </a:r>
            <a:endParaRPr lang="en-US" sz="2800" dirty="0"/>
          </a:p>
          <a:p>
            <a:pPr indent="0" marL="0">
              <a:buNone/>
            </a:pPr>
            <a:r>
              <a:rPr lang="en-US" sz="28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were true in 2022.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4114800" cy="1353312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658368" cy="1353312"/>
          </a:xfrm>
          <a:prstGeom prst="rect">
            <a:avLst/>
          </a:prstGeom>
          <a:solidFill>
            <a:srgbClr val="4C8AE8"/>
          </a:solidFill>
          <a:ln w="12700">
            <a:solidFill>
              <a:srgbClr val="4C8A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67128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07592" y="17830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message quality crossed the bar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307592" y="2203704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and GPT-4 draft warm intro messages indistinguishable from human-written. Before 2023, auto-drafted intros were robotic and destroyed trust. The enabling technology finally exists.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0" y="1691640"/>
            <a:ext cx="4114800" cy="1353312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691640"/>
            <a:ext cx="658368" cy="13533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167128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50992" y="17830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InMail hit historic lows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50992" y="2203704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outreach response rates dropped below 3%. 700K Sales Navigator users paying $120/mo and generating fewer responses per dollar than ever. Frustration ceiling reached.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227832"/>
            <a:ext cx="4114800" cy="1353312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227832"/>
            <a:ext cx="658368" cy="1353312"/>
          </a:xfrm>
          <a:prstGeom prst="rect">
            <a:avLst/>
          </a:prstGeom>
          <a:solidFill>
            <a:srgbClr val="22C97A"/>
          </a:solidFill>
          <a:ln w="12700">
            <a:solidFill>
              <a:srgbClr val="22C9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03320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07592" y="33192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AngelList pivoted away from networking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307592" y="3739896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AngelList shifted to fund administration. No major player is building consumer warm-intro infrastructure for startup deal flow. The gap is explicitly open.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3227832"/>
            <a:ext cx="4114800" cy="1353312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3227832"/>
            <a:ext cx="658368" cy="1353312"/>
          </a:xfrm>
          <a:prstGeom prst="rect">
            <a:avLst/>
          </a:prstGeom>
          <a:solidFill>
            <a:srgbClr val="9B59E8"/>
          </a:solidFill>
          <a:ln w="12700">
            <a:solidFill>
              <a:srgbClr val="9B59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703320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A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50992" y="33192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weakened in-person deal networks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50992" y="3739896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Post-pandemic conferences and local REI meetups never recovered to 2019 density. The in-person referral network deal-makers relied on for 20 years is structurally weakened.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86384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24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 ·  USE OF FUNDS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512064"/>
            <a:ext cx="832104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 Series A. 24-month runway</a:t>
            </a:r>
            <a:endParaRPr lang="en-US" sz="2800" dirty="0"/>
          </a:p>
          <a:p>
            <a:pPr indent="0" marL="0">
              <a:buNone/>
            </a:pPr>
            <a:r>
              <a:rPr lang="en-US" sz="28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product-market fit and $3.5M ARR.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755648"/>
          <a:ext cx="84582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731520"/>
                <a:gridCol w="1280160"/>
                <a:gridCol w="4526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200" kern="0" dirty="0">
                          <a:solidFill>
                            <a:srgbClr val="C9A84C"/>
                          </a:solidFill>
                        </a:rPr>
                        <a:t>ALLOCATION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spc="200" kern="0" dirty="0">
                          <a:solidFill>
                            <a:srgbClr val="C9A84C"/>
                          </a:solidFill>
                        </a:rPr>
                        <a:t>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spc="200" kern="0" dirty="0">
                          <a:solidFill>
                            <a:srgbClr val="C9A84C"/>
                          </a:solidFill>
                        </a:rPr>
                        <a:t>AMOUNT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200" kern="0" dirty="0">
                          <a:solidFill>
                            <a:srgbClr val="C9A84C"/>
                          </a:solidFill>
                        </a:rPr>
                        <a:t>RATIONALE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C8AE8"/>
                          </a:solidFill>
                        </a:rPr>
                        <a:t>Product &amp; Engineering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ED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40%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84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$4,000,000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5A8"/>
                          </a:solidFill>
                        </a:rPr>
                        <a:t>Mobile app (iOS + Android), graph engine, AI agent, backend infra. Team of 6 engineers.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A84C"/>
                          </a:solidFill>
                        </a:rPr>
                        <a:t>Growth &amp; Community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ED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25%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84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$2,500,000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5A8"/>
                          </a:solidFill>
                        </a:rPr>
                        <a:t>Network seeding ops, community management, content (case studies, video), events.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C97A"/>
                          </a:solidFill>
                        </a:rPr>
                        <a:t>Sales &amp; Partnerships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ED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20%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84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$2,000,000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5A8"/>
                          </a:solidFill>
                        </a:rPr>
                        <a:t>Lender + angel investor BD, verified profile sales, partnership integrations.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A95A8"/>
                          </a:solidFill>
                        </a:rPr>
                        <a:t>Operations &amp; Legal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ED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10%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84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$1,000,000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5A8"/>
                          </a:solidFill>
                        </a:rPr>
                        <a:t>Legal, compliance (CCPA/GDPR), finance, HR, office. Lean ops until PMF confirmed.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0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A5568"/>
                          </a:solidFill>
                        </a:rPr>
                        <a:t>Reserve / Contingency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ED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5%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84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$500,000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5A8"/>
                          </a:solidFill>
                        </a:rPr>
                        <a:t>18-month buffer against slower-than-expected network density ramp.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75488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gates: Series A tranches released at 500 users, 1,500 users, and $200K ARR. Investors retain pro-rata rights at Series B.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86384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24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  ·  THE ASK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2920" y="512064"/>
            <a:ext cx="832104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2179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engage.</a:t>
            </a:r>
            <a:endParaRPr lang="en-US" sz="2800" dirty="0"/>
          </a:p>
          <a:p>
            <a:pPr indent="0" marL="0">
              <a:buNone/>
            </a:pPr>
            <a:r>
              <a:rPr lang="en-US" sz="2800" b="1" spc="-3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recommended path.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2788920" cy="3200400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64208"/>
            <a:ext cx="2788920" cy="36576"/>
          </a:xfrm>
          <a:prstGeom prst="rect">
            <a:avLst/>
          </a:prstGeom>
          <a:solidFill>
            <a:srgbClr val="4C8AE8"/>
          </a:solidFill>
          <a:ln w="12700">
            <a:solidFill>
              <a:srgbClr val="4C8A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5564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8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22677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Sprint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C8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 · NO CODE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02920" y="2907792"/>
            <a:ext cx="251460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71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process. Founder maps network, runs 10 intro requests by hand, measures conversion and user response. Prove the concept before building.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858768"/>
            <a:ext cx="251460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9319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Network map (manual)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42062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 live intro tests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4805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Conversion data + interviews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10128" y="1664208"/>
            <a:ext cx="2788920" cy="3200400"/>
          </a:xfrm>
          <a:prstGeom prst="rect">
            <a:avLst/>
          </a:prstGeom>
          <a:solidFill>
            <a:srgbClr val="1C2438"/>
          </a:solidFill>
          <a:ln w="12700">
            <a:solidFill>
              <a:srgbClr val="3A2E1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10128" y="1664208"/>
            <a:ext cx="27889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175564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447288" y="22677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— Core Engine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47288" y="26517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WEEKS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447288" y="2907792"/>
            <a:ext cx="251460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7288" y="2971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contact import + structured profiles + manual intro flow. Real app, real users, real intros. Proves the graph and double opt-in before the AI layer.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47288" y="3858768"/>
            <a:ext cx="251460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47288" y="39319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Invite-only auth + contact import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47288" y="42062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Structured profile creation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47288" y="44805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Manual intro flow + push notifications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13048" y="4709160"/>
            <a:ext cx="1828800" cy="2377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13048" y="47091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8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RECOMMENDED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254496" y="1664208"/>
            <a:ext cx="2788920" cy="3200400"/>
          </a:xfrm>
          <a:prstGeom prst="rect">
            <a:avLst/>
          </a:prstGeom>
          <a:solidFill>
            <a:srgbClr val="111620"/>
          </a:solidFill>
          <a:ln w="12700">
            <a:solidFill>
              <a:srgbClr val="1A21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5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54496" y="1664208"/>
            <a:ext cx="2788920" cy="36576"/>
          </a:xfrm>
          <a:prstGeom prst="rect">
            <a:avLst/>
          </a:prstGeom>
          <a:solidFill>
            <a:srgbClr val="22C97A"/>
          </a:solidFill>
          <a:ln w="12700">
            <a:solidFill>
              <a:srgbClr val="22C9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91656" y="175564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391656" y="22677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Phase 1 Build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91656" y="265176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2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391656" y="2907792"/>
            <a:ext cx="251460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91656" y="2971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Sprint 0 plus AI natural language search, trust-path calculation, auto-drafted messages, and Partner subscription launch.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91656" y="3858768"/>
            <a:ext cx="2514600" cy="9144"/>
          </a:xfrm>
          <a:prstGeom prst="rect">
            <a:avLst/>
          </a:prstGeom>
          <a:solidFill>
            <a:srgbClr val="1A2133"/>
          </a:solidFill>
          <a:ln w="12700">
            <a:solidFill>
              <a:srgbClr val="1A21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91656" y="39319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Phase 1 feature set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91656" y="42062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search + trust-path engine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91656" y="44805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Partner subscription ($1K/yr) live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86384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24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11620"/>
          </a:solidFill>
          <a:ln w="12700">
            <a:solidFill>
              <a:srgbClr val="1116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9144"/>
          </a:xfrm>
          <a:prstGeom prst="rect">
            <a:avLst/>
          </a:prstGeom>
          <a:solidFill>
            <a:srgbClr val="3A2E16"/>
          </a:solidFill>
          <a:ln w="12700">
            <a:solidFill>
              <a:srgbClr val="3A2E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31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THAT</a:t>
            </a:r>
            <a:endParaRPr lang="en-US" sz="2000" dirty="0"/>
          </a:p>
          <a:p>
            <a:pPr indent="0" marL="0">
              <a:buNone/>
            </a:pPr>
            <a:r>
              <a:rPr lang="en-US" sz="2000" spc="100" kern="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THIS MEETING: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8229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option fits</a:t>
            </a:r>
            <a:endParaRPr lang="en-US" sz="4600" dirty="0"/>
          </a:p>
          <a:p>
            <a:pPr indent="0" marL="0">
              <a:buNone/>
            </a:pPr>
            <a:r>
              <a:rPr lang="en-US" sz="4600" b="1" spc="-100" kern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are right now?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502920" y="3383280"/>
            <a:ext cx="32004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5661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8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 </a:t>
            </a:r>
            <a:pPr indent="0" marL="0">
              <a:buNone/>
            </a:pPr>
            <a:r>
              <a:rPr lang="en-US" sz="11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Validation Sprint 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Option B ★  </a:t>
            </a:r>
            <a:pPr indent="0" marL="0">
              <a:buNone/>
            </a:pPr>
            <a:r>
              <a:rPr lang="en-US" sz="11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Sprint 0 (Recommended) 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b="1" dirty="0">
                <a:solidFill>
                  <a:srgbClr val="2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Option C  </a:t>
            </a:r>
            <a:pPr indent="0" marL="0">
              <a:buNone/>
            </a:pPr>
            <a:r>
              <a:rPr lang="en-US" sz="1100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Full Phase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481888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DEALNEXUS  ·  AI-POWERED WARM REFERRAL NETWORK  ·  CONFIDENTIAL  ·  MARCH 2026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863840" y="4846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24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DealNexus — Investor Deck 2026</dc:title>
  <dc:subject>PptxGenJS Presentation</dc:subject>
  <dc:creator>PptxGenJS</dc:creator>
  <cp:lastModifiedBy>PptxGenJS</cp:lastModifiedBy>
  <cp:revision>1</cp:revision>
  <dcterms:created xsi:type="dcterms:W3CDTF">2026-03-27T10:02:17Z</dcterms:created>
  <dcterms:modified xsi:type="dcterms:W3CDTF">2026-03-27T10:02:17Z</dcterms:modified>
</cp:coreProperties>
</file>