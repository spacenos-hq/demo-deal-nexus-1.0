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MRR ($)</c:v>
                </c:pt>
              </c:strCache>
            </c:strRef>
          </c:tx>
          <c:spPr>
            <a:solidFill>
              <a:srgbClr val="CBD5E1"/>
            </a:solidFill>
            <a:effectLst/>
          </c:spPr>
          <c:invertIfNegative val="0"/>
          <c:dLbls>
            <c:numFmt formatCode="#,##0" sourceLinked="0"/>
            <c:txPr>
              <a:bodyPr/>
              <a:lstStyle/>
              <a:p>
                <a:pPr>
                  <a:defRPr b="0" i="0" strike="noStrike" sz="8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CBD5E1"/>
              </a:solidFill>
              <a:effectLst/>
            </c:spPr>
          </c:dPt>
          <c:dPt>
            <c:idx val="1"/>
            <c:invertIfNegative val="0"/>
            <c:bubble3D val="0"/>
            <c:spPr>
              <a:solidFill>
                <a:srgbClr val="CBD5E1"/>
              </a:solidFill>
              <a:effectLst/>
            </c:spPr>
          </c:dPt>
          <c:dPt>
            <c:idx val="2"/>
            <c:invertIfNegative val="0"/>
            <c:bubble3D val="0"/>
            <c:spPr>
              <a:solidFill>
                <a:srgbClr val="CBD5E1"/>
              </a:solidFill>
              <a:effectLst/>
            </c:spPr>
          </c:dPt>
          <c:dPt>
            <c:idx val="3"/>
            <c:invertIfNegative val="0"/>
            <c:bubble3D val="0"/>
            <c:spPr>
              <a:solidFill>
                <a:srgbClr val="CBD5E1"/>
              </a:solidFill>
              <a:effectLst/>
            </c:spPr>
          </c:dPt>
          <c:dPt>
            <c:idx val="4"/>
            <c:invertIfNegative val="0"/>
            <c:bubble3D val="0"/>
            <c:spPr>
              <a:solidFill>
                <a:srgbClr val="1B6CA8"/>
              </a:solidFill>
              <a:effectLst/>
            </c:spPr>
          </c:dPt>
          <c:dPt>
            <c:idx val="5"/>
            <c:invertIfNegative val="0"/>
            <c:bubble3D val="0"/>
            <c:spPr>
              <a:solidFill>
                <a:srgbClr val="1B6CA8"/>
              </a:solidFill>
              <a:effectLst/>
            </c:spPr>
          </c:dPt>
          <c:dPt>
            <c:idx val="6"/>
            <c:invertIfNegative val="0"/>
            <c:bubble3D val="0"/>
            <c:spPr>
              <a:solidFill>
                <a:srgbClr val="1B6CA8"/>
              </a:solidFill>
              <a:effectLst/>
            </c:spPr>
          </c:dPt>
          <c:dPt>
            <c:idx val="7"/>
            <c:invertIfNegative val="0"/>
            <c:bubble3D val="0"/>
            <c:spPr>
              <a:solidFill>
                <a:srgbClr val="1B6CA8"/>
              </a:solidFill>
              <a:effectLst/>
            </c:spPr>
          </c:dPt>
          <c:dPt>
            <c:idx val="8"/>
            <c:invertIfNegative val="0"/>
            <c:bubble3D val="0"/>
            <c:spPr>
              <a:solidFill>
                <a:srgbClr val="1B6CA8"/>
              </a:solidFill>
              <a:effectLst/>
            </c:spPr>
          </c:dPt>
          <c:dPt>
            <c:idx val="9"/>
            <c:invertIfNegative val="0"/>
            <c:bubble3D val="0"/>
            <c:spPr>
              <a:solidFill>
                <a:srgbClr val="1B6CA8"/>
              </a:solidFill>
              <a:effectLst/>
            </c:spPr>
          </c:dPt>
          <c:dPt>
            <c:idx val="10"/>
            <c:invertIfNegative val="0"/>
            <c:bubble3D val="0"/>
            <c:spPr>
              <a:solidFill>
                <a:srgbClr val="1B6CA8"/>
              </a:solidFill>
              <a:effectLst/>
            </c:spPr>
          </c:dPt>
          <c:dPt>
            <c:idx val="11"/>
            <c:invertIfNegative val="0"/>
            <c:bubble3D val="0"/>
            <c:spPr>
              <a:solidFill>
                <a:srgbClr val="E8A020"/>
              </a:solidFill>
              <a:effectLst/>
            </c:spPr>
          </c:dPt>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0</c:v>
                </c:pt>
                <c:pt idx="1">
                  <c:v>390</c:v>
                </c:pt>
                <c:pt idx="2">
                  <c:v>2060</c:v>
                </c:pt>
                <c:pt idx="3">
                  <c:v>5385</c:v>
                </c:pt>
                <c:pt idx="4">
                  <c:v>13710</c:v>
                </c:pt>
                <c:pt idx="5">
                  <c:v>23250</c:v>
                </c:pt>
                <c:pt idx="6">
                  <c:v>34290</c:v>
                </c:pt>
                <c:pt idx="7">
                  <c:v>44690</c:v>
                </c:pt>
                <c:pt idx="8">
                  <c:v>55510</c:v>
                </c:pt>
                <c:pt idx="9">
                  <c:v>63650</c:v>
                </c:pt>
                <c:pt idx="10">
                  <c:v>71790</c:v>
                </c:pt>
                <c:pt idx="11">
                  <c:v>83310</c:v>
                </c:pt>
              </c:numCache>
            </c:numRef>
          </c:val>
        </c:ser>
        <c:dLbls>
          <c:numFmt formatCode="#,##0" sourceLinked="0"/>
          <c:txPr>
            <a:bodyPr/>
            <a:lstStyle/>
            <a:p>
              <a:pPr>
                <a:defRPr b="0" i="0" strike="noStrike" sz="800" u="none">
                  <a:solidFill>
                    <a:srgbClr val="0D1B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EF4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B6CA8"/>
          </a:solidFill>
          <a:ln w="12700">
            <a:solidFill>
              <a:srgbClr val="1B6CA8"/>
            </a:solidFill>
            <a:prstDash val="solid"/>
          </a:ln>
        </p:spPr>
      </p:sp>
      <p:sp>
        <p:nvSpPr>
          <p:cNvPr id="3" name="Shape 1"/>
          <p:cNvSpPr/>
          <p:nvPr/>
        </p:nvSpPr>
        <p:spPr>
          <a:xfrm>
            <a:off x="54864" y="0"/>
            <a:ext cx="36576" cy="5143500"/>
          </a:xfrm>
          <a:prstGeom prst="rect">
            <a:avLst/>
          </a:prstGeom>
          <a:solidFill>
            <a:srgbClr val="E8A020"/>
          </a:solidFill>
          <a:ln w="12700">
            <a:solidFill>
              <a:srgbClr val="E8A020"/>
            </a:solidFill>
            <a:prstDash val="solid"/>
          </a:ln>
        </p:spPr>
      </p:sp>
      <p:sp>
        <p:nvSpPr>
          <p:cNvPr id="4" name="Text 2"/>
          <p:cNvSpPr/>
          <p:nvPr/>
        </p:nvSpPr>
        <p:spPr>
          <a:xfrm>
            <a:off x="502920" y="914400"/>
            <a:ext cx="8229600" cy="100584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WarmPath</a:t>
            </a:r>
            <a:endParaRPr lang="en-US" sz="6400" dirty="0"/>
          </a:p>
        </p:txBody>
      </p:sp>
      <p:sp>
        <p:nvSpPr>
          <p:cNvPr id="5" name="Text 3"/>
          <p:cNvSpPr/>
          <p:nvPr/>
        </p:nvSpPr>
        <p:spPr>
          <a:xfrm>
            <a:off x="502920" y="1965960"/>
            <a:ext cx="8229600" cy="457200"/>
          </a:xfrm>
          <a:prstGeom prst="rect">
            <a:avLst/>
          </a:prstGeom>
          <a:noFill/>
          <a:ln/>
        </p:spPr>
        <p:txBody>
          <a:bodyPr wrap="square" lIns="0" tIns="0" rIns="0" bIns="0" rtlCol="0" anchor="ctr"/>
          <a:lstStyle/>
          <a:p>
            <a:pPr indent="0" marL="0">
              <a:buNone/>
            </a:pPr>
            <a:r>
              <a:rPr lang="en-US" sz="2200" i="1" dirty="0">
                <a:solidFill>
                  <a:srgbClr val="CBD5E1"/>
                </a:solidFill>
              </a:rPr>
              <a:t>LinkedIn lets you find people.</a:t>
            </a:r>
            <a:endParaRPr lang="en-US" sz="2200" dirty="0"/>
          </a:p>
        </p:txBody>
      </p:sp>
      <p:sp>
        <p:nvSpPr>
          <p:cNvPr id="6" name="Text 4"/>
          <p:cNvSpPr/>
          <p:nvPr/>
        </p:nvSpPr>
        <p:spPr>
          <a:xfrm>
            <a:off x="502920" y="2423160"/>
            <a:ext cx="8229600" cy="457200"/>
          </a:xfrm>
          <a:prstGeom prst="rect">
            <a:avLst/>
          </a:prstGeom>
          <a:noFill/>
          <a:ln/>
        </p:spPr>
        <p:txBody>
          <a:bodyPr wrap="square" lIns="0" tIns="0" rIns="0" bIns="0" rtlCol="0" anchor="ctr"/>
          <a:lstStyle/>
          <a:p>
            <a:pPr indent="0" marL="0">
              <a:buNone/>
            </a:pPr>
            <a:r>
              <a:rPr lang="en-US" sz="2200" b="1" i="1" dirty="0">
                <a:solidFill>
                  <a:srgbClr val="E8A020"/>
                </a:solidFill>
              </a:rPr>
              <a:t>WarmPath gets you introduced through people who trust you both.</a:t>
            </a:r>
            <a:endParaRPr lang="en-US" sz="2200" dirty="0"/>
          </a:p>
        </p:txBody>
      </p:sp>
      <p:sp>
        <p:nvSpPr>
          <p:cNvPr id="7" name="Shape 5"/>
          <p:cNvSpPr/>
          <p:nvPr/>
        </p:nvSpPr>
        <p:spPr>
          <a:xfrm>
            <a:off x="502920" y="3063240"/>
            <a:ext cx="8229600" cy="27432"/>
          </a:xfrm>
          <a:prstGeom prst="rect">
            <a:avLst/>
          </a:prstGeom>
          <a:solidFill>
            <a:srgbClr val="1B6CA8"/>
          </a:solidFill>
          <a:ln w="12700">
            <a:solidFill>
              <a:srgbClr val="1B6CA8"/>
            </a:solidFill>
            <a:prstDash val="solid"/>
          </a:ln>
        </p:spPr>
      </p:sp>
      <p:sp>
        <p:nvSpPr>
          <p:cNvPr id="8" name="Text 6"/>
          <p:cNvSpPr/>
          <p:nvPr/>
        </p:nvSpPr>
        <p:spPr>
          <a:xfrm>
            <a:off x="502920" y="3246120"/>
            <a:ext cx="8229600" cy="365760"/>
          </a:xfrm>
          <a:prstGeom prst="rect">
            <a:avLst/>
          </a:prstGeom>
          <a:noFill/>
          <a:ln/>
        </p:spPr>
        <p:txBody>
          <a:bodyPr wrap="square" lIns="0" tIns="0" rIns="0" bIns="0" rtlCol="0" anchor="ctr"/>
          <a:lstStyle/>
          <a:p>
            <a:pPr indent="0" marL="0">
              <a:buNone/>
            </a:pPr>
            <a:r>
              <a:rPr lang="en-US" sz="1400" dirty="0">
                <a:solidFill>
                  <a:srgbClr val="88A0B8"/>
                </a:solidFill>
              </a:rPr>
              <a:t>AI-Powered Warm Referral Network for Deal-Makers</a:t>
            </a:r>
            <a:endParaRPr lang="en-US" sz="1400" dirty="0"/>
          </a:p>
        </p:txBody>
      </p:sp>
      <p:sp>
        <p:nvSpPr>
          <p:cNvPr id="9" name="Text 7"/>
          <p:cNvSpPr/>
          <p:nvPr/>
        </p:nvSpPr>
        <p:spPr>
          <a:xfrm>
            <a:off x="502920" y="4663440"/>
            <a:ext cx="5486400" cy="274320"/>
          </a:xfrm>
          <a:prstGeom prst="rect">
            <a:avLst/>
          </a:prstGeom>
          <a:noFill/>
          <a:ln/>
        </p:spPr>
        <p:txBody>
          <a:bodyPr wrap="square" lIns="0" tIns="0" rIns="0" bIns="0" rtlCol="0" anchor="ctr"/>
          <a:lstStyle/>
          <a:p>
            <a:pPr indent="0" marL="0">
              <a:buNone/>
            </a:pPr>
            <a:r>
              <a:rPr lang="en-US" sz="900" spc="200" kern="0" dirty="0">
                <a:solidFill>
                  <a:srgbClr val="506070"/>
                </a:solidFill>
              </a:rPr>
              <a:t>CONFIDENTIAL  ·  MARCH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1 — THE MIRROR</a:t>
            </a:r>
            <a:endParaRPr lang="en-US" sz="8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3200" b="1" dirty="0">
                <a:solidFill>
                  <a:srgbClr val="0D1B2A"/>
                </a:solidFill>
                <a:latin typeface="Calibri" pitchFamily="34" charset="0"/>
                <a:ea typeface="Calibri" pitchFamily="34" charset="-122"/>
                <a:cs typeface="Calibri" pitchFamily="34" charset="-120"/>
              </a:rPr>
              <a:t>It's Tuesday. You need $200K by Friday.</a:t>
            </a:r>
            <a:endParaRPr lang="en-US" sz="3200" dirty="0"/>
          </a:p>
        </p:txBody>
      </p:sp>
      <p:sp>
        <p:nvSpPr>
          <p:cNvPr id="5" name="Shape 3"/>
          <p:cNvSpPr/>
          <p:nvPr/>
        </p:nvSpPr>
        <p:spPr>
          <a:xfrm>
            <a:off x="457200" y="1325880"/>
            <a:ext cx="5394960" cy="2560320"/>
          </a:xfrm>
          <a:prstGeom prst="rect">
            <a:avLst/>
          </a:prstGeom>
          <a:solidFill>
            <a:srgbClr val="FFFFFF"/>
          </a:solidFill>
          <a:ln w="12700">
            <a:solidFill>
              <a:srgbClr val="CBD5E1"/>
            </a:solidFill>
            <a:prstDash val="solid"/>
          </a:ln>
          <a:effectLst>
            <a:outerShdw sx="100000" sy="100000" kx="0" ky="0" algn="bl" rotWithShape="0" blurRad="76200" dist="25400" dir="8100000">
              <a:srgbClr val="000000">
                <a:alpha val="8000"/>
              </a:srgbClr>
            </a:outerShdw>
          </a:effectLst>
        </p:spPr>
      </p:sp>
      <p:sp>
        <p:nvSpPr>
          <p:cNvPr id="6" name="Text 4"/>
          <p:cNvSpPr/>
          <p:nvPr/>
        </p:nvSpPr>
        <p:spPr>
          <a:xfrm>
            <a:off x="640080" y="1463040"/>
            <a:ext cx="5029200" cy="2286000"/>
          </a:xfrm>
          <a:prstGeom prst="rect">
            <a:avLst/>
          </a:prstGeom>
          <a:noFill/>
          <a:ln/>
        </p:spPr>
        <p:txBody>
          <a:bodyPr wrap="square" lIns="0" tIns="0" rIns="0" bIns="0" rtlCol="0" anchor="ctr"/>
          <a:lstStyle/>
          <a:p>
            <a:pPr indent="0" marL="0">
              <a:buNone/>
            </a:pPr>
            <a:r>
              <a:rPr lang="en-US" sz="1300" dirty="0">
                <a:solidFill>
                  <a:srgbClr val="475569"/>
                </a:solidFill>
              </a:rPr>
              <a:t>You're staring at your phone. The flip deal closes in 72 hours. Your usual lender just went silent. You start texting people: </a:t>
            </a:r>
            <a:pPr indent="0" marL="0">
              <a:buNone/>
            </a:pPr>
            <a:r>
              <a:rPr lang="en-US" sz="1300" i="1" dirty="0">
                <a:solidFill>
                  <a:srgbClr val="1B6CA8"/>
                </a:solidFill>
              </a:rPr>
              <a:t>"Hey, do you know anyone who does hard money in PA?"</a:t>
            </a:r>
            <a:endParaRPr lang="en-US" sz="1300" dirty="0"/>
          </a:p>
          <a:p>
            <a:pPr indent="0" marL="0">
              <a:buNone/>
            </a:pPr>
            <a:endParaRPr lang="en-US" sz="1300" dirty="0"/>
          </a:p>
          <a:p>
            <a:pPr indent="0" marL="0">
              <a:buNone/>
            </a:pPr>
            <a:r>
              <a:rPr lang="en-US" sz="1300" dirty="0">
                <a:solidFill>
                  <a:srgbClr val="475569"/>
                </a:solidFill>
              </a:rPr>
              <a:t>Three days pass. Two friends reply. One says his buddy Dave might do it. Dave takes 24 hours to respond. By then, the deal is gone.</a:t>
            </a:r>
            <a:endParaRPr lang="en-US" sz="1300" dirty="0"/>
          </a:p>
        </p:txBody>
      </p:sp>
      <p:sp>
        <p:nvSpPr>
          <p:cNvPr id="7" name="Shape 5"/>
          <p:cNvSpPr/>
          <p:nvPr/>
        </p:nvSpPr>
        <p:spPr>
          <a:xfrm>
            <a:off x="6126480" y="1325880"/>
            <a:ext cx="2743200" cy="777240"/>
          </a:xfrm>
          <a:prstGeom prst="rect">
            <a:avLst/>
          </a:prstGeom>
          <a:solidFill>
            <a:srgbClr val="0D1B2A"/>
          </a:solidFill>
          <a:ln w="12700">
            <a:solidFill>
              <a:srgbClr val="0D1B2A"/>
            </a:solidFill>
            <a:prstDash val="solid"/>
          </a:ln>
          <a:effectLst>
            <a:outerShdw sx="100000" sy="100000" kx="0" ky="0" algn="bl" rotWithShape="0" blurRad="50800" dist="25400" dir="8100000">
              <a:srgbClr val="000000">
                <a:alpha val="12000"/>
              </a:srgbClr>
            </a:outerShdw>
          </a:effectLst>
        </p:spPr>
      </p:sp>
      <p:sp>
        <p:nvSpPr>
          <p:cNvPr id="8" name="Text 6"/>
          <p:cNvSpPr/>
          <p:nvPr/>
        </p:nvSpPr>
        <p:spPr>
          <a:xfrm>
            <a:off x="6126480" y="1344168"/>
            <a:ext cx="1005840" cy="777240"/>
          </a:xfrm>
          <a:prstGeom prst="rect">
            <a:avLst/>
          </a:prstGeom>
          <a:noFill/>
          <a:ln/>
        </p:spPr>
        <p:txBody>
          <a:bodyPr wrap="square" lIns="0" tIns="0" rIns="0" bIns="0" rtlCol="0" anchor="ctr"/>
          <a:lstStyle/>
          <a:p>
            <a:pPr algn="ctr" indent="0" marL="0">
              <a:buNone/>
            </a:pPr>
            <a:r>
              <a:rPr lang="en-US" sz="3000" b="1" dirty="0">
                <a:solidFill>
                  <a:srgbClr val="E8A020"/>
                </a:solidFill>
              </a:rPr>
              <a:t>13x</a:t>
            </a:r>
            <a:endParaRPr lang="en-US" sz="3000" dirty="0"/>
          </a:p>
        </p:txBody>
      </p:sp>
      <p:sp>
        <p:nvSpPr>
          <p:cNvPr id="9" name="Text 7"/>
          <p:cNvSpPr/>
          <p:nvPr/>
        </p:nvSpPr>
        <p:spPr>
          <a:xfrm>
            <a:off x="7178040" y="1417320"/>
            <a:ext cx="1645920" cy="640080"/>
          </a:xfrm>
          <a:prstGeom prst="rect">
            <a:avLst/>
          </a:prstGeom>
          <a:noFill/>
          <a:ln/>
        </p:spPr>
        <p:txBody>
          <a:bodyPr wrap="square" lIns="0" tIns="0" rIns="0" bIns="0" rtlCol="0" anchor="ctr"/>
          <a:lstStyle/>
          <a:p>
            <a:pPr indent="0" marL="0">
              <a:buNone/>
            </a:pPr>
            <a:r>
              <a:rPr lang="en-US" sz="1000" dirty="0">
                <a:solidFill>
                  <a:srgbClr val="CBD5E1"/>
                </a:solidFill>
              </a:rPr>
              <a:t>warm intro converts vs. cold</a:t>
            </a:r>
            <a:endParaRPr lang="en-US" sz="1000" dirty="0"/>
          </a:p>
        </p:txBody>
      </p:sp>
      <p:sp>
        <p:nvSpPr>
          <p:cNvPr id="10" name="Shape 8"/>
          <p:cNvSpPr/>
          <p:nvPr/>
        </p:nvSpPr>
        <p:spPr>
          <a:xfrm>
            <a:off x="6126480" y="2240280"/>
            <a:ext cx="2743200" cy="777240"/>
          </a:xfrm>
          <a:prstGeom prst="rect">
            <a:avLst/>
          </a:prstGeom>
          <a:solidFill>
            <a:srgbClr val="0D1B2A"/>
          </a:solidFill>
          <a:ln w="12700">
            <a:solidFill>
              <a:srgbClr val="0D1B2A"/>
            </a:solidFill>
            <a:prstDash val="solid"/>
          </a:ln>
          <a:effectLst>
            <a:outerShdw sx="100000" sy="100000" kx="0" ky="0" algn="bl" rotWithShape="0" blurRad="50800" dist="25400" dir="8100000">
              <a:srgbClr val="000000">
                <a:alpha val="12000"/>
              </a:srgbClr>
            </a:outerShdw>
          </a:effectLst>
        </p:spPr>
      </p:sp>
      <p:sp>
        <p:nvSpPr>
          <p:cNvPr id="11" name="Text 9"/>
          <p:cNvSpPr/>
          <p:nvPr/>
        </p:nvSpPr>
        <p:spPr>
          <a:xfrm>
            <a:off x="6126480" y="2258568"/>
            <a:ext cx="1005840" cy="777240"/>
          </a:xfrm>
          <a:prstGeom prst="rect">
            <a:avLst/>
          </a:prstGeom>
          <a:noFill/>
          <a:ln/>
        </p:spPr>
        <p:txBody>
          <a:bodyPr wrap="square" lIns="0" tIns="0" rIns="0" bIns="0" rtlCol="0" anchor="ctr"/>
          <a:lstStyle/>
          <a:p>
            <a:pPr algn="ctr" indent="0" marL="0">
              <a:buNone/>
            </a:pPr>
            <a:r>
              <a:rPr lang="en-US" sz="3000" b="1" dirty="0">
                <a:solidFill>
                  <a:srgbClr val="E8A020"/>
                </a:solidFill>
              </a:rPr>
              <a:t>3–7</a:t>
            </a:r>
            <a:endParaRPr lang="en-US" sz="3000" dirty="0"/>
          </a:p>
        </p:txBody>
      </p:sp>
      <p:sp>
        <p:nvSpPr>
          <p:cNvPr id="12" name="Text 10"/>
          <p:cNvSpPr/>
          <p:nvPr/>
        </p:nvSpPr>
        <p:spPr>
          <a:xfrm>
            <a:off x="7178040" y="2331720"/>
            <a:ext cx="1645920" cy="640080"/>
          </a:xfrm>
          <a:prstGeom prst="rect">
            <a:avLst/>
          </a:prstGeom>
          <a:noFill/>
          <a:ln/>
        </p:spPr>
        <p:txBody>
          <a:bodyPr wrap="square" lIns="0" tIns="0" rIns="0" bIns="0" rtlCol="0" anchor="ctr"/>
          <a:lstStyle/>
          <a:p>
            <a:pPr indent="0" marL="0">
              <a:buNone/>
            </a:pPr>
            <a:r>
              <a:rPr lang="en-US" sz="1000" dirty="0">
                <a:solidFill>
                  <a:srgbClr val="CBD5E1"/>
                </a:solidFill>
              </a:rPr>
              <a:t>days lost per intro, manually</a:t>
            </a:r>
            <a:endParaRPr lang="en-US" sz="1000" dirty="0"/>
          </a:p>
        </p:txBody>
      </p:sp>
      <p:sp>
        <p:nvSpPr>
          <p:cNvPr id="13" name="Shape 11"/>
          <p:cNvSpPr/>
          <p:nvPr/>
        </p:nvSpPr>
        <p:spPr>
          <a:xfrm>
            <a:off x="6126480" y="3154680"/>
            <a:ext cx="2743200" cy="777240"/>
          </a:xfrm>
          <a:prstGeom prst="rect">
            <a:avLst/>
          </a:prstGeom>
          <a:solidFill>
            <a:srgbClr val="0D1B2A"/>
          </a:solidFill>
          <a:ln w="12700">
            <a:solidFill>
              <a:srgbClr val="0D1B2A"/>
            </a:solidFill>
            <a:prstDash val="solid"/>
          </a:ln>
          <a:effectLst>
            <a:outerShdw sx="100000" sy="100000" kx="0" ky="0" algn="bl" rotWithShape="0" blurRad="50800" dist="25400" dir="8100000">
              <a:srgbClr val="000000">
                <a:alpha val="12000"/>
              </a:srgbClr>
            </a:outerShdw>
          </a:effectLst>
        </p:spPr>
      </p:sp>
      <p:sp>
        <p:nvSpPr>
          <p:cNvPr id="14" name="Text 12"/>
          <p:cNvSpPr/>
          <p:nvPr/>
        </p:nvSpPr>
        <p:spPr>
          <a:xfrm>
            <a:off x="6126480" y="3172968"/>
            <a:ext cx="1005840" cy="777240"/>
          </a:xfrm>
          <a:prstGeom prst="rect">
            <a:avLst/>
          </a:prstGeom>
          <a:noFill/>
          <a:ln/>
        </p:spPr>
        <p:txBody>
          <a:bodyPr wrap="square" lIns="0" tIns="0" rIns="0" bIns="0" rtlCol="0" anchor="ctr"/>
          <a:lstStyle/>
          <a:p>
            <a:pPr algn="ctr" indent="0" marL="0">
              <a:buNone/>
            </a:pPr>
            <a:r>
              <a:rPr lang="en-US" sz="3000" b="1" dirty="0">
                <a:solidFill>
                  <a:srgbClr val="E8A020"/>
                </a:solidFill>
              </a:rPr>
              <a:t>700K+</a:t>
            </a:r>
            <a:endParaRPr lang="en-US" sz="3000" dirty="0"/>
          </a:p>
        </p:txBody>
      </p:sp>
      <p:sp>
        <p:nvSpPr>
          <p:cNvPr id="15" name="Text 13"/>
          <p:cNvSpPr/>
          <p:nvPr/>
        </p:nvSpPr>
        <p:spPr>
          <a:xfrm>
            <a:off x="7178040" y="3246120"/>
            <a:ext cx="1645920" cy="640080"/>
          </a:xfrm>
          <a:prstGeom prst="rect">
            <a:avLst/>
          </a:prstGeom>
          <a:noFill/>
          <a:ln/>
        </p:spPr>
        <p:txBody>
          <a:bodyPr wrap="square" lIns="0" tIns="0" rIns="0" bIns="0" rtlCol="0" anchor="ctr"/>
          <a:lstStyle/>
          <a:p>
            <a:pPr indent="0" marL="0">
              <a:buNone/>
            </a:pPr>
            <a:r>
              <a:rPr lang="en-US" sz="1000" dirty="0">
                <a:solidFill>
                  <a:srgbClr val="CBD5E1"/>
                </a:solidFill>
              </a:rPr>
              <a:t>pay $120/mo for LinkedIn Nav</a:t>
            </a:r>
            <a:endParaRPr lang="en-US" sz="1000" dirty="0"/>
          </a:p>
          <a:p>
            <a:pPr indent="0" marL="0">
              <a:buNone/>
            </a:pPr>
            <a:r>
              <a:rPr lang="en-US" sz="1000" dirty="0">
                <a:solidFill>
                  <a:srgbClr val="CBD5E1"/>
                </a:solidFill>
              </a:rPr>
              <a:t>(still manual)</a:t>
            </a:r>
            <a:endParaRPr lang="en-US" sz="1000" dirty="0"/>
          </a:p>
        </p:txBody>
      </p:sp>
      <p:sp>
        <p:nvSpPr>
          <p:cNvPr id="16" name="Shape 14"/>
          <p:cNvSpPr/>
          <p:nvPr/>
        </p:nvSpPr>
        <p:spPr>
          <a:xfrm>
            <a:off x="457200" y="4023360"/>
            <a:ext cx="8412480" cy="640080"/>
          </a:xfrm>
          <a:prstGeom prst="rect">
            <a:avLst/>
          </a:prstGeom>
          <a:solidFill>
            <a:srgbClr val="1B6CA8"/>
          </a:solidFill>
          <a:ln w="12700">
            <a:solidFill>
              <a:srgbClr val="1B6CA8"/>
            </a:solidFill>
            <a:prstDash val="solid"/>
          </a:ln>
        </p:spPr>
      </p:sp>
      <p:sp>
        <p:nvSpPr>
          <p:cNvPr id="17" name="Text 15"/>
          <p:cNvSpPr/>
          <p:nvPr/>
        </p:nvSpPr>
        <p:spPr>
          <a:xfrm>
            <a:off x="640080" y="4023360"/>
            <a:ext cx="8046720" cy="640080"/>
          </a:xfrm>
          <a:prstGeom prst="rect">
            <a:avLst/>
          </a:prstGeom>
          <a:noFill/>
          <a:ln/>
        </p:spPr>
        <p:txBody>
          <a:bodyPr wrap="square" lIns="0" tIns="0" rIns="0" bIns="0" rtlCol="0" anchor="ctr"/>
          <a:lstStyle/>
          <a:p>
            <a:pPr indent="0" marL="0">
              <a:buNone/>
            </a:pPr>
            <a:r>
              <a:rPr lang="en-US" sz="1200" i="1" dirty="0">
                <a:solidFill>
                  <a:srgbClr val="FFFFFF"/>
                </a:solidFill>
              </a:rPr>
              <a:t>Every deal-maker reading this has lived this story. The warm intro exists — the orchestration to get it is broken.</a:t>
            </a:r>
            <a:endParaRPr lang="en-US" sz="1200" dirty="0"/>
          </a:p>
        </p:txBody>
      </p:sp>
      <p:sp>
        <p:nvSpPr>
          <p:cNvPr id="18" name="Text 16"/>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2 / 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1 — THE MIRROR</a:t>
            </a:r>
            <a:endParaRPr lang="en-US" sz="800" dirty="0"/>
          </a:p>
        </p:txBody>
      </p:sp>
      <p:sp>
        <p:nvSpPr>
          <p:cNvPr id="4" name="Text 2"/>
          <p:cNvSpPr/>
          <p:nvPr/>
        </p:nvSpPr>
        <p:spPr>
          <a:xfrm>
            <a:off x="457200" y="548640"/>
            <a:ext cx="8229600" cy="502920"/>
          </a:xfrm>
          <a:prstGeom prst="rect">
            <a:avLst/>
          </a:prstGeom>
          <a:noFill/>
          <a:ln/>
        </p:spPr>
        <p:txBody>
          <a:bodyPr wrap="square" lIns="0" tIns="0" rIns="0" bIns="0" rtlCol="0" anchor="ctr"/>
          <a:lstStyle/>
          <a:p>
            <a:pPr indent="0" marL="0">
              <a:buNone/>
            </a:pPr>
            <a:r>
              <a:rPr lang="en-US" sz="2800" b="1" dirty="0">
                <a:solidFill>
                  <a:srgbClr val="0D1B2A"/>
                </a:solidFill>
              </a:rPr>
              <a:t>Your market is saying this out loud.</a:t>
            </a:r>
            <a:endParaRPr lang="en-US" sz="2800" dirty="0"/>
          </a:p>
        </p:txBody>
      </p:sp>
      <p:sp>
        <p:nvSpPr>
          <p:cNvPr id="5" name="Shape 3"/>
          <p:cNvSpPr/>
          <p:nvPr/>
        </p:nvSpPr>
        <p:spPr>
          <a:xfrm>
            <a:off x="457200" y="1188720"/>
            <a:ext cx="4114800" cy="16002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457200" y="1188720"/>
            <a:ext cx="64008" cy="1600200"/>
          </a:xfrm>
          <a:prstGeom prst="rect">
            <a:avLst/>
          </a:prstGeom>
          <a:solidFill>
            <a:srgbClr val="E8A020"/>
          </a:solidFill>
          <a:ln w="12700">
            <a:solidFill>
              <a:srgbClr val="E8A020"/>
            </a:solidFill>
            <a:prstDash val="solid"/>
          </a:ln>
        </p:spPr>
      </p:sp>
      <p:sp>
        <p:nvSpPr>
          <p:cNvPr id="7" name="Text 5"/>
          <p:cNvSpPr/>
          <p:nvPr/>
        </p:nvSpPr>
        <p:spPr>
          <a:xfrm>
            <a:off x="621792" y="1280160"/>
            <a:ext cx="3840480" cy="1051560"/>
          </a:xfrm>
          <a:prstGeom prst="rect">
            <a:avLst/>
          </a:prstGeom>
          <a:noFill/>
          <a:ln/>
        </p:spPr>
        <p:txBody>
          <a:bodyPr wrap="square" lIns="0" tIns="0" rIns="0" bIns="0" rtlCol="0" anchor="ctr"/>
          <a:lstStyle/>
          <a:p>
            <a:pPr indent="0" marL="0">
              <a:buNone/>
            </a:pPr>
            <a:r>
              <a:rPr lang="en-US" sz="1050" i="1" dirty="0">
                <a:solidFill>
                  <a:srgbClr val="475569"/>
                </a:solidFill>
              </a:rPr>
              <a:t>"Spent 4 days trying to track down a hard money lender through LinkedIn. Got ghosted twice. Ended up losing the deal. There HAS to be a better way."</a:t>
            </a:r>
            <a:endParaRPr lang="en-US" sz="1050" dirty="0"/>
          </a:p>
        </p:txBody>
      </p:sp>
      <p:sp>
        <p:nvSpPr>
          <p:cNvPr id="8" name="Text 6"/>
          <p:cNvSpPr/>
          <p:nvPr/>
        </p:nvSpPr>
        <p:spPr>
          <a:xfrm>
            <a:off x="621792" y="2377440"/>
            <a:ext cx="3200400" cy="256032"/>
          </a:xfrm>
          <a:prstGeom prst="rect">
            <a:avLst/>
          </a:prstGeom>
          <a:noFill/>
          <a:ln/>
        </p:spPr>
        <p:txBody>
          <a:bodyPr wrap="square" lIns="0" tIns="0" rIns="0" bIns="0" rtlCol="0" anchor="ctr"/>
          <a:lstStyle/>
          <a:p>
            <a:pPr indent="0" marL="0">
              <a:buNone/>
            </a:pPr>
            <a:r>
              <a:rPr lang="en-US" sz="850" b="1" dirty="0">
                <a:solidFill>
                  <a:srgbClr val="1B6CA8"/>
                </a:solidFill>
              </a:rPr>
              <a:t>@reiflipperTX  ·  BiggerPockets Forum</a:t>
            </a:r>
            <a:endParaRPr lang="en-US" sz="850" dirty="0"/>
          </a:p>
        </p:txBody>
      </p:sp>
      <p:sp>
        <p:nvSpPr>
          <p:cNvPr id="9" name="Text 7"/>
          <p:cNvSpPr/>
          <p:nvPr/>
        </p:nvSpPr>
        <p:spPr>
          <a:xfrm>
            <a:off x="3383280" y="2377440"/>
            <a:ext cx="1097280" cy="256032"/>
          </a:xfrm>
          <a:prstGeom prst="rect">
            <a:avLst/>
          </a:prstGeom>
          <a:noFill/>
          <a:ln/>
        </p:spPr>
        <p:txBody>
          <a:bodyPr wrap="square" lIns="0" tIns="0" rIns="0" bIns="0" rtlCol="0" anchor="ctr"/>
          <a:lstStyle/>
          <a:p>
            <a:pPr algn="r" indent="0" marL="0">
              <a:buNone/>
            </a:pPr>
            <a:r>
              <a:rPr lang="en-US" sz="800" dirty="0">
                <a:solidFill>
                  <a:srgbClr val="475569"/>
                </a:solidFill>
              </a:rPr>
              <a:t>847 upvotes</a:t>
            </a:r>
            <a:endParaRPr lang="en-US" sz="800" dirty="0"/>
          </a:p>
        </p:txBody>
      </p:sp>
      <p:sp>
        <p:nvSpPr>
          <p:cNvPr id="10" name="Shape 8"/>
          <p:cNvSpPr/>
          <p:nvPr/>
        </p:nvSpPr>
        <p:spPr>
          <a:xfrm>
            <a:off x="4846320" y="1188720"/>
            <a:ext cx="4114800" cy="16002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1" name="Shape 9"/>
          <p:cNvSpPr/>
          <p:nvPr/>
        </p:nvSpPr>
        <p:spPr>
          <a:xfrm>
            <a:off x="4846320" y="1188720"/>
            <a:ext cx="64008" cy="1600200"/>
          </a:xfrm>
          <a:prstGeom prst="rect">
            <a:avLst/>
          </a:prstGeom>
          <a:solidFill>
            <a:srgbClr val="E8A020"/>
          </a:solidFill>
          <a:ln w="12700">
            <a:solidFill>
              <a:srgbClr val="E8A020"/>
            </a:solidFill>
            <a:prstDash val="solid"/>
          </a:ln>
        </p:spPr>
      </p:sp>
      <p:sp>
        <p:nvSpPr>
          <p:cNvPr id="12" name="Text 10"/>
          <p:cNvSpPr/>
          <p:nvPr/>
        </p:nvSpPr>
        <p:spPr>
          <a:xfrm>
            <a:off x="5010912" y="1280160"/>
            <a:ext cx="3840480" cy="1051560"/>
          </a:xfrm>
          <a:prstGeom prst="rect">
            <a:avLst/>
          </a:prstGeom>
          <a:noFill/>
          <a:ln/>
        </p:spPr>
        <p:txBody>
          <a:bodyPr wrap="square" lIns="0" tIns="0" rIns="0" bIns="0" rtlCol="0" anchor="ctr"/>
          <a:lstStyle/>
          <a:p>
            <a:pPr indent="0" marL="0">
              <a:buNone/>
            </a:pPr>
            <a:r>
              <a:rPr lang="en-US" sz="1050" i="1" dirty="0">
                <a:solidFill>
                  <a:srgbClr val="475569"/>
                </a:solidFill>
              </a:rPr>
              <a:t>"My entire business runs on warm intros but I have zero system for generating them. If a tool existed that automated that chain, I'd pay for it immediately."</a:t>
            </a:r>
            <a:endParaRPr lang="en-US" sz="1050" dirty="0"/>
          </a:p>
        </p:txBody>
      </p:sp>
      <p:sp>
        <p:nvSpPr>
          <p:cNvPr id="13" name="Text 11"/>
          <p:cNvSpPr/>
          <p:nvPr/>
        </p:nvSpPr>
        <p:spPr>
          <a:xfrm>
            <a:off x="5010912" y="2377440"/>
            <a:ext cx="3200400" cy="256032"/>
          </a:xfrm>
          <a:prstGeom prst="rect">
            <a:avLst/>
          </a:prstGeom>
          <a:noFill/>
          <a:ln/>
        </p:spPr>
        <p:txBody>
          <a:bodyPr wrap="square" lIns="0" tIns="0" rIns="0" bIns="0" rtlCol="0" anchor="ctr"/>
          <a:lstStyle/>
          <a:p>
            <a:pPr indent="0" marL="0">
              <a:buNone/>
            </a:pPr>
            <a:r>
              <a:rPr lang="en-US" sz="850" b="1" dirty="0">
                <a:solidFill>
                  <a:srgbClr val="1B6CA8"/>
                </a:solidFill>
              </a:rPr>
              <a:t>@praiselendingpro  ·  Reddit r/realestateinvesting</a:t>
            </a:r>
            <a:endParaRPr lang="en-US" sz="850" dirty="0"/>
          </a:p>
        </p:txBody>
      </p:sp>
      <p:sp>
        <p:nvSpPr>
          <p:cNvPr id="14" name="Text 12"/>
          <p:cNvSpPr/>
          <p:nvPr/>
        </p:nvSpPr>
        <p:spPr>
          <a:xfrm>
            <a:off x="7772400" y="2377440"/>
            <a:ext cx="1097280" cy="256032"/>
          </a:xfrm>
          <a:prstGeom prst="rect">
            <a:avLst/>
          </a:prstGeom>
          <a:noFill/>
          <a:ln/>
        </p:spPr>
        <p:txBody>
          <a:bodyPr wrap="square" lIns="0" tIns="0" rIns="0" bIns="0" rtlCol="0" anchor="ctr"/>
          <a:lstStyle/>
          <a:p>
            <a:pPr algn="r" indent="0" marL="0">
              <a:buNone/>
            </a:pPr>
            <a:r>
              <a:rPr lang="en-US" sz="800" dirty="0">
                <a:solidFill>
                  <a:srgbClr val="475569"/>
                </a:solidFill>
              </a:rPr>
              <a:t>612 upvotes</a:t>
            </a:r>
            <a:endParaRPr lang="en-US" sz="800" dirty="0"/>
          </a:p>
        </p:txBody>
      </p:sp>
      <p:sp>
        <p:nvSpPr>
          <p:cNvPr id="15" name="Shape 13"/>
          <p:cNvSpPr/>
          <p:nvPr/>
        </p:nvSpPr>
        <p:spPr>
          <a:xfrm>
            <a:off x="457200" y="3017520"/>
            <a:ext cx="4114800" cy="16002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6" name="Shape 14"/>
          <p:cNvSpPr/>
          <p:nvPr/>
        </p:nvSpPr>
        <p:spPr>
          <a:xfrm>
            <a:off x="457200" y="3017520"/>
            <a:ext cx="64008" cy="1600200"/>
          </a:xfrm>
          <a:prstGeom prst="rect">
            <a:avLst/>
          </a:prstGeom>
          <a:solidFill>
            <a:srgbClr val="E8A020"/>
          </a:solidFill>
          <a:ln w="12700">
            <a:solidFill>
              <a:srgbClr val="E8A020"/>
            </a:solidFill>
            <a:prstDash val="solid"/>
          </a:ln>
        </p:spPr>
      </p:sp>
      <p:sp>
        <p:nvSpPr>
          <p:cNvPr id="17" name="Text 15"/>
          <p:cNvSpPr/>
          <p:nvPr/>
        </p:nvSpPr>
        <p:spPr>
          <a:xfrm>
            <a:off x="621792" y="3108960"/>
            <a:ext cx="3840480" cy="1051560"/>
          </a:xfrm>
          <a:prstGeom prst="rect">
            <a:avLst/>
          </a:prstGeom>
          <a:noFill/>
          <a:ln/>
        </p:spPr>
        <p:txBody>
          <a:bodyPr wrap="square" lIns="0" tIns="0" rIns="0" bIns="0" rtlCol="0" anchor="ctr"/>
          <a:lstStyle/>
          <a:p>
            <a:pPr indent="0" marL="0">
              <a:buNone/>
            </a:pPr>
            <a:r>
              <a:rPr lang="en-US" sz="1050" i="1" dirty="0">
                <a:solidFill>
                  <a:srgbClr val="475569"/>
                </a:solidFill>
              </a:rPr>
              <a:t>"Flippers don't find me on LinkedIn. They find me through someone who already trusts me. But getting into those referral circles takes years."</a:t>
            </a:r>
            <a:endParaRPr lang="en-US" sz="1050" dirty="0"/>
          </a:p>
        </p:txBody>
      </p:sp>
      <p:sp>
        <p:nvSpPr>
          <p:cNvPr id="18" name="Text 16"/>
          <p:cNvSpPr/>
          <p:nvPr/>
        </p:nvSpPr>
        <p:spPr>
          <a:xfrm>
            <a:off x="621792" y="4206240"/>
            <a:ext cx="3200400" cy="256032"/>
          </a:xfrm>
          <a:prstGeom prst="rect">
            <a:avLst/>
          </a:prstGeom>
          <a:noFill/>
          <a:ln/>
        </p:spPr>
        <p:txBody>
          <a:bodyPr wrap="square" lIns="0" tIns="0" rIns="0" bIns="0" rtlCol="0" anchor="ctr"/>
          <a:lstStyle/>
          <a:p>
            <a:pPr indent="0" marL="0">
              <a:buNone/>
            </a:pPr>
            <a:r>
              <a:rPr lang="en-US" sz="850" b="1" dirty="0">
                <a:solidFill>
                  <a:srgbClr val="1B6CA8"/>
                </a:solidFill>
              </a:rPr>
              <a:t>@contractor_matt_philly  ·  Facebook Contractor Group</a:t>
            </a:r>
            <a:endParaRPr lang="en-US" sz="850" dirty="0"/>
          </a:p>
        </p:txBody>
      </p:sp>
      <p:sp>
        <p:nvSpPr>
          <p:cNvPr id="19" name="Text 17"/>
          <p:cNvSpPr/>
          <p:nvPr/>
        </p:nvSpPr>
        <p:spPr>
          <a:xfrm>
            <a:off x="3383280" y="4206240"/>
            <a:ext cx="1097280" cy="256032"/>
          </a:xfrm>
          <a:prstGeom prst="rect">
            <a:avLst/>
          </a:prstGeom>
          <a:noFill/>
          <a:ln/>
        </p:spPr>
        <p:txBody>
          <a:bodyPr wrap="square" lIns="0" tIns="0" rIns="0" bIns="0" rtlCol="0" anchor="ctr"/>
          <a:lstStyle/>
          <a:p>
            <a:pPr algn="r" indent="0" marL="0">
              <a:buNone/>
            </a:pPr>
            <a:r>
              <a:rPr lang="en-US" sz="800" dirty="0">
                <a:solidFill>
                  <a:srgbClr val="475569"/>
                </a:solidFill>
              </a:rPr>
              <a:t>412 likes</a:t>
            </a:r>
            <a:endParaRPr lang="en-US" sz="800" dirty="0"/>
          </a:p>
        </p:txBody>
      </p:sp>
      <p:sp>
        <p:nvSpPr>
          <p:cNvPr id="20" name="Shape 18"/>
          <p:cNvSpPr/>
          <p:nvPr/>
        </p:nvSpPr>
        <p:spPr>
          <a:xfrm>
            <a:off x="4846320" y="3017520"/>
            <a:ext cx="4114800" cy="16002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21" name="Shape 19"/>
          <p:cNvSpPr/>
          <p:nvPr/>
        </p:nvSpPr>
        <p:spPr>
          <a:xfrm>
            <a:off x="4846320" y="3017520"/>
            <a:ext cx="64008" cy="1600200"/>
          </a:xfrm>
          <a:prstGeom prst="rect">
            <a:avLst/>
          </a:prstGeom>
          <a:solidFill>
            <a:srgbClr val="E8A020"/>
          </a:solidFill>
          <a:ln w="12700">
            <a:solidFill>
              <a:srgbClr val="E8A020"/>
            </a:solidFill>
            <a:prstDash val="solid"/>
          </a:ln>
        </p:spPr>
      </p:sp>
      <p:sp>
        <p:nvSpPr>
          <p:cNvPr id="22" name="Text 20"/>
          <p:cNvSpPr/>
          <p:nvPr/>
        </p:nvSpPr>
        <p:spPr>
          <a:xfrm>
            <a:off x="5010912" y="3108960"/>
            <a:ext cx="3840480" cy="1051560"/>
          </a:xfrm>
          <a:prstGeom prst="rect">
            <a:avLst/>
          </a:prstGeom>
          <a:noFill/>
          <a:ln/>
        </p:spPr>
        <p:txBody>
          <a:bodyPr wrap="square" lIns="0" tIns="0" rIns="0" bIns="0" rtlCol="0" anchor="ctr"/>
          <a:lstStyle/>
          <a:p>
            <a:pPr indent="0" marL="0">
              <a:buNone/>
            </a:pPr>
            <a:r>
              <a:rPr lang="en-US" sz="1050" i="1" dirty="0">
                <a:solidFill>
                  <a:srgbClr val="475569"/>
                </a:solidFill>
              </a:rPr>
              <a:t>"I have capital sitting idle because I can't find qualified borrowers fast enough. Every lender I know has the same problem."</a:t>
            </a:r>
            <a:endParaRPr lang="en-US" sz="1050" dirty="0"/>
          </a:p>
        </p:txBody>
      </p:sp>
      <p:sp>
        <p:nvSpPr>
          <p:cNvPr id="23" name="Text 21"/>
          <p:cNvSpPr/>
          <p:nvPr/>
        </p:nvSpPr>
        <p:spPr>
          <a:xfrm>
            <a:off x="5010912" y="4206240"/>
            <a:ext cx="3200400" cy="256032"/>
          </a:xfrm>
          <a:prstGeom prst="rect">
            <a:avLst/>
          </a:prstGeom>
          <a:noFill/>
          <a:ln/>
        </p:spPr>
        <p:txBody>
          <a:bodyPr wrap="square" lIns="0" tIns="0" rIns="0" bIns="0" rtlCol="0" anchor="ctr"/>
          <a:lstStyle/>
          <a:p>
            <a:pPr indent="0" marL="0">
              <a:buNone/>
            </a:pPr>
            <a:r>
              <a:rPr lang="en-US" sz="850" b="1" dirty="0">
                <a:solidFill>
                  <a:srgbClr val="1B6CA8"/>
                </a:solidFill>
              </a:rPr>
              <a:t>@privatelmr  ·  BP Forums — Private Lending</a:t>
            </a:r>
            <a:endParaRPr lang="en-US" sz="850" dirty="0"/>
          </a:p>
        </p:txBody>
      </p:sp>
      <p:sp>
        <p:nvSpPr>
          <p:cNvPr id="24" name="Text 22"/>
          <p:cNvSpPr/>
          <p:nvPr/>
        </p:nvSpPr>
        <p:spPr>
          <a:xfrm>
            <a:off x="7772400" y="4206240"/>
            <a:ext cx="1097280" cy="256032"/>
          </a:xfrm>
          <a:prstGeom prst="rect">
            <a:avLst/>
          </a:prstGeom>
          <a:noFill/>
          <a:ln/>
        </p:spPr>
        <p:txBody>
          <a:bodyPr wrap="square" lIns="0" tIns="0" rIns="0" bIns="0" rtlCol="0" anchor="ctr"/>
          <a:lstStyle/>
          <a:p>
            <a:pPr algn="r" indent="0" marL="0">
              <a:buNone/>
            </a:pPr>
            <a:r>
              <a:rPr lang="en-US" sz="800" dirty="0">
                <a:solidFill>
                  <a:srgbClr val="475569"/>
                </a:solidFill>
              </a:rPr>
              <a:t>389 upvotes</a:t>
            </a:r>
            <a:endParaRPr lang="en-US" sz="800" dirty="0"/>
          </a:p>
        </p:txBody>
      </p:sp>
      <p:sp>
        <p:nvSpPr>
          <p:cNvPr id="25" name="Text 2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3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2 — THE VILLAIN</a:t>
            </a:r>
            <a:endParaRPr lang="en-US" sz="8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3000" b="1" dirty="0">
                <a:solidFill>
                  <a:srgbClr val="FFFFFF"/>
                </a:solidFill>
              </a:rPr>
              <a:t>The villain isn't a competitor.</a:t>
            </a:r>
            <a:endParaRPr lang="en-US" sz="3000" dirty="0"/>
          </a:p>
          <a:p>
            <a:pPr indent="0" marL="0">
              <a:buNone/>
            </a:pPr>
            <a:r>
              <a:rPr lang="en-US" sz="3000" b="1" dirty="0">
                <a:solidFill>
                  <a:srgbClr val="FFFFFF"/>
                </a:solidFill>
              </a:rPr>
              <a:t>It's the manual intro chain.</a:t>
            </a:r>
            <a:endParaRPr lang="en-US" sz="3000" dirty="0"/>
          </a:p>
        </p:txBody>
      </p:sp>
      <p:sp>
        <p:nvSpPr>
          <p:cNvPr id="5" name="Shape 3"/>
          <p:cNvSpPr/>
          <p:nvPr/>
        </p:nvSpPr>
        <p:spPr>
          <a:xfrm>
            <a:off x="457200" y="1600200"/>
            <a:ext cx="4114800" cy="1389888"/>
          </a:xfrm>
          <a:prstGeom prst="rect">
            <a:avLst/>
          </a:prstGeom>
          <a:solidFill>
            <a:srgbClr val="132237"/>
          </a:solidFill>
          <a:ln w="12700">
            <a:solidFill>
              <a:srgbClr val="1E3A5A"/>
            </a:solidFill>
            <a:prstDash val="solid"/>
          </a:ln>
        </p:spPr>
      </p:sp>
      <p:sp>
        <p:nvSpPr>
          <p:cNvPr id="6" name="Shape 4"/>
          <p:cNvSpPr/>
          <p:nvPr/>
        </p:nvSpPr>
        <p:spPr>
          <a:xfrm>
            <a:off x="457200" y="1600200"/>
            <a:ext cx="54864" cy="1389888"/>
          </a:xfrm>
          <a:prstGeom prst="rect">
            <a:avLst/>
          </a:prstGeom>
          <a:solidFill>
            <a:srgbClr val="E8A020"/>
          </a:solidFill>
          <a:ln w="12700">
            <a:solidFill>
              <a:srgbClr val="E8A020"/>
            </a:solidFill>
            <a:prstDash val="solid"/>
          </a:ln>
        </p:spPr>
      </p:sp>
      <p:sp>
        <p:nvSpPr>
          <p:cNvPr id="7" name="Text 5"/>
          <p:cNvSpPr/>
          <p:nvPr/>
        </p:nvSpPr>
        <p:spPr>
          <a:xfrm>
            <a:off x="640080" y="1691640"/>
            <a:ext cx="3749040" cy="320040"/>
          </a:xfrm>
          <a:prstGeom prst="rect">
            <a:avLst/>
          </a:prstGeom>
          <a:noFill/>
          <a:ln/>
        </p:spPr>
        <p:txBody>
          <a:bodyPr wrap="square" lIns="0" tIns="0" rIns="0" bIns="0" rtlCol="0" anchor="ctr"/>
          <a:lstStyle/>
          <a:p>
            <a:pPr indent="0" marL="0">
              <a:buNone/>
            </a:pPr>
            <a:r>
              <a:rPr lang="en-US" sz="1300" b="1" dirty="0">
                <a:solidFill>
                  <a:srgbClr val="E8A020"/>
                </a:solidFill>
              </a:rPr>
              <a:t>Time Theft</a:t>
            </a:r>
            <a:endParaRPr lang="en-US" sz="1300" dirty="0"/>
          </a:p>
        </p:txBody>
      </p:sp>
      <p:sp>
        <p:nvSpPr>
          <p:cNvPr id="8" name="Text 6"/>
          <p:cNvSpPr/>
          <p:nvPr/>
        </p:nvSpPr>
        <p:spPr>
          <a:xfrm>
            <a:off x="640080" y="2039112"/>
            <a:ext cx="3749040" cy="822960"/>
          </a:xfrm>
          <a:prstGeom prst="rect">
            <a:avLst/>
          </a:prstGeom>
          <a:noFill/>
          <a:ln/>
        </p:spPr>
        <p:txBody>
          <a:bodyPr wrap="square" lIns="0" tIns="0" rIns="0" bIns="0" rtlCol="0" anchor="ctr"/>
          <a:lstStyle/>
          <a:p>
            <a:pPr indent="0" marL="0">
              <a:buNone/>
            </a:pPr>
            <a:r>
              <a:rPr lang="en-US" sz="1050" dirty="0">
                <a:solidFill>
                  <a:srgbClr val="A8BDD0"/>
                </a:solidFill>
              </a:rPr>
              <a:t>3–7 days lost per introduction attempt. Multiply that by 20 deals a year and you're losing 60–140 days of deal-making bandwidth to a broken social graph.</a:t>
            </a:r>
            <a:endParaRPr lang="en-US" sz="1050" dirty="0"/>
          </a:p>
        </p:txBody>
      </p:sp>
      <p:sp>
        <p:nvSpPr>
          <p:cNvPr id="9" name="Shape 7"/>
          <p:cNvSpPr/>
          <p:nvPr/>
        </p:nvSpPr>
        <p:spPr>
          <a:xfrm>
            <a:off x="4846320" y="1600200"/>
            <a:ext cx="4114800" cy="1389888"/>
          </a:xfrm>
          <a:prstGeom prst="rect">
            <a:avLst/>
          </a:prstGeom>
          <a:solidFill>
            <a:srgbClr val="132237"/>
          </a:solidFill>
          <a:ln w="12700">
            <a:solidFill>
              <a:srgbClr val="1E3A5A"/>
            </a:solidFill>
            <a:prstDash val="solid"/>
          </a:ln>
        </p:spPr>
      </p:sp>
      <p:sp>
        <p:nvSpPr>
          <p:cNvPr id="10" name="Shape 8"/>
          <p:cNvSpPr/>
          <p:nvPr/>
        </p:nvSpPr>
        <p:spPr>
          <a:xfrm>
            <a:off x="4846320" y="1600200"/>
            <a:ext cx="54864" cy="1389888"/>
          </a:xfrm>
          <a:prstGeom prst="rect">
            <a:avLst/>
          </a:prstGeom>
          <a:solidFill>
            <a:srgbClr val="E8A020"/>
          </a:solidFill>
          <a:ln w="12700">
            <a:solidFill>
              <a:srgbClr val="E8A020"/>
            </a:solidFill>
            <a:prstDash val="solid"/>
          </a:ln>
        </p:spPr>
      </p:sp>
      <p:sp>
        <p:nvSpPr>
          <p:cNvPr id="11" name="Text 9"/>
          <p:cNvSpPr/>
          <p:nvPr/>
        </p:nvSpPr>
        <p:spPr>
          <a:xfrm>
            <a:off x="5029200" y="1691640"/>
            <a:ext cx="3749040" cy="320040"/>
          </a:xfrm>
          <a:prstGeom prst="rect">
            <a:avLst/>
          </a:prstGeom>
          <a:noFill/>
          <a:ln/>
        </p:spPr>
        <p:txBody>
          <a:bodyPr wrap="square" lIns="0" tIns="0" rIns="0" bIns="0" rtlCol="0" anchor="ctr"/>
          <a:lstStyle/>
          <a:p>
            <a:pPr indent="0" marL="0">
              <a:buNone/>
            </a:pPr>
            <a:r>
              <a:rPr lang="en-US" sz="1300" b="1" dirty="0">
                <a:solidFill>
                  <a:srgbClr val="E8A020"/>
                </a:solidFill>
              </a:rPr>
              <a:t>Deal Decay</a:t>
            </a:r>
            <a:endParaRPr lang="en-US" sz="1300" dirty="0"/>
          </a:p>
        </p:txBody>
      </p:sp>
      <p:sp>
        <p:nvSpPr>
          <p:cNvPr id="12" name="Text 10"/>
          <p:cNvSpPr/>
          <p:nvPr/>
        </p:nvSpPr>
        <p:spPr>
          <a:xfrm>
            <a:off x="5029200" y="2039112"/>
            <a:ext cx="3749040" cy="822960"/>
          </a:xfrm>
          <a:prstGeom prst="rect">
            <a:avLst/>
          </a:prstGeom>
          <a:noFill/>
          <a:ln/>
        </p:spPr>
        <p:txBody>
          <a:bodyPr wrap="square" lIns="0" tIns="0" rIns="0" bIns="0" rtlCol="0" anchor="ctr"/>
          <a:lstStyle/>
          <a:p>
            <a:pPr indent="0" marL="0">
              <a:buNone/>
            </a:pPr>
            <a:r>
              <a:rPr lang="en-US" sz="1050" dirty="0">
                <a:solidFill>
                  <a:srgbClr val="A8BDD0"/>
                </a:solidFill>
              </a:rPr>
              <a:t>Motivated sellers, available lenders, and open contractor slots expire. The deal-making window is 24–72 hours. The manual intro chain takes 72–168 hours.</a:t>
            </a:r>
            <a:endParaRPr lang="en-US" sz="1050" dirty="0"/>
          </a:p>
        </p:txBody>
      </p:sp>
      <p:sp>
        <p:nvSpPr>
          <p:cNvPr id="13" name="Shape 11"/>
          <p:cNvSpPr/>
          <p:nvPr/>
        </p:nvSpPr>
        <p:spPr>
          <a:xfrm>
            <a:off x="457200" y="3154680"/>
            <a:ext cx="4114800" cy="1389888"/>
          </a:xfrm>
          <a:prstGeom prst="rect">
            <a:avLst/>
          </a:prstGeom>
          <a:solidFill>
            <a:srgbClr val="132237"/>
          </a:solidFill>
          <a:ln w="12700">
            <a:solidFill>
              <a:srgbClr val="1E3A5A"/>
            </a:solidFill>
            <a:prstDash val="solid"/>
          </a:ln>
        </p:spPr>
      </p:sp>
      <p:sp>
        <p:nvSpPr>
          <p:cNvPr id="14" name="Shape 12"/>
          <p:cNvSpPr/>
          <p:nvPr/>
        </p:nvSpPr>
        <p:spPr>
          <a:xfrm>
            <a:off x="457200" y="3154680"/>
            <a:ext cx="54864" cy="1389888"/>
          </a:xfrm>
          <a:prstGeom prst="rect">
            <a:avLst/>
          </a:prstGeom>
          <a:solidFill>
            <a:srgbClr val="E8A020"/>
          </a:solidFill>
          <a:ln w="12700">
            <a:solidFill>
              <a:srgbClr val="E8A020"/>
            </a:solidFill>
            <a:prstDash val="solid"/>
          </a:ln>
        </p:spPr>
      </p:sp>
      <p:sp>
        <p:nvSpPr>
          <p:cNvPr id="15" name="Text 13"/>
          <p:cNvSpPr/>
          <p:nvPr/>
        </p:nvSpPr>
        <p:spPr>
          <a:xfrm>
            <a:off x="640080" y="3246120"/>
            <a:ext cx="3749040" cy="320040"/>
          </a:xfrm>
          <a:prstGeom prst="rect">
            <a:avLst/>
          </a:prstGeom>
          <a:noFill/>
          <a:ln/>
        </p:spPr>
        <p:txBody>
          <a:bodyPr wrap="square" lIns="0" tIns="0" rIns="0" bIns="0" rtlCol="0" anchor="ctr"/>
          <a:lstStyle/>
          <a:p>
            <a:pPr indent="0" marL="0">
              <a:buNone/>
            </a:pPr>
            <a:r>
              <a:rPr lang="en-US" sz="1300" b="1" dirty="0">
                <a:solidFill>
                  <a:srgbClr val="E8A020"/>
                </a:solidFill>
              </a:rPr>
              <a:t>Capital Left on the Table</a:t>
            </a:r>
            <a:endParaRPr lang="en-US" sz="1300" dirty="0"/>
          </a:p>
        </p:txBody>
      </p:sp>
      <p:sp>
        <p:nvSpPr>
          <p:cNvPr id="16" name="Text 14"/>
          <p:cNvSpPr/>
          <p:nvPr/>
        </p:nvSpPr>
        <p:spPr>
          <a:xfrm>
            <a:off x="640080" y="3593592"/>
            <a:ext cx="3749040" cy="822960"/>
          </a:xfrm>
          <a:prstGeom prst="rect">
            <a:avLst/>
          </a:prstGeom>
          <a:noFill/>
          <a:ln/>
        </p:spPr>
        <p:txBody>
          <a:bodyPr wrap="square" lIns="0" tIns="0" rIns="0" bIns="0" rtlCol="0" anchor="ctr"/>
          <a:lstStyle/>
          <a:p>
            <a:pPr indent="0" marL="0">
              <a:buNone/>
            </a:pPr>
            <a:r>
              <a:rPr lang="en-US" sz="1050" dirty="0">
                <a:solidFill>
                  <a:srgbClr val="A8BDD0"/>
                </a:solidFill>
              </a:rPr>
              <a:t>Private lenders lose 6–12% annual yield to idle capital waiting for qualified borrowers. That's not bad luck. That's a systems failure.</a:t>
            </a:r>
            <a:endParaRPr lang="en-US" sz="1050" dirty="0"/>
          </a:p>
        </p:txBody>
      </p:sp>
      <p:sp>
        <p:nvSpPr>
          <p:cNvPr id="17" name="Shape 15"/>
          <p:cNvSpPr/>
          <p:nvPr/>
        </p:nvSpPr>
        <p:spPr>
          <a:xfrm>
            <a:off x="4846320" y="3154680"/>
            <a:ext cx="4114800" cy="1389888"/>
          </a:xfrm>
          <a:prstGeom prst="rect">
            <a:avLst/>
          </a:prstGeom>
          <a:solidFill>
            <a:srgbClr val="132237"/>
          </a:solidFill>
          <a:ln w="12700">
            <a:solidFill>
              <a:srgbClr val="1E3A5A"/>
            </a:solidFill>
            <a:prstDash val="solid"/>
          </a:ln>
        </p:spPr>
      </p:sp>
      <p:sp>
        <p:nvSpPr>
          <p:cNvPr id="18" name="Shape 16"/>
          <p:cNvSpPr/>
          <p:nvPr/>
        </p:nvSpPr>
        <p:spPr>
          <a:xfrm>
            <a:off x="4846320" y="3154680"/>
            <a:ext cx="54864" cy="1389888"/>
          </a:xfrm>
          <a:prstGeom prst="rect">
            <a:avLst/>
          </a:prstGeom>
          <a:solidFill>
            <a:srgbClr val="E8A020"/>
          </a:solidFill>
          <a:ln w="12700">
            <a:solidFill>
              <a:srgbClr val="E8A020"/>
            </a:solidFill>
            <a:prstDash val="solid"/>
          </a:ln>
        </p:spPr>
      </p:sp>
      <p:sp>
        <p:nvSpPr>
          <p:cNvPr id="19" name="Text 17"/>
          <p:cNvSpPr/>
          <p:nvPr/>
        </p:nvSpPr>
        <p:spPr>
          <a:xfrm>
            <a:off x="5029200" y="3246120"/>
            <a:ext cx="3749040" cy="320040"/>
          </a:xfrm>
          <a:prstGeom prst="rect">
            <a:avLst/>
          </a:prstGeom>
          <a:noFill/>
          <a:ln/>
        </p:spPr>
        <p:txBody>
          <a:bodyPr wrap="square" lIns="0" tIns="0" rIns="0" bIns="0" rtlCol="0" anchor="ctr"/>
          <a:lstStyle/>
          <a:p>
            <a:pPr indent="0" marL="0">
              <a:buNone/>
            </a:pPr>
            <a:r>
              <a:rPr lang="en-US" sz="1300" b="1" dirty="0">
                <a:solidFill>
                  <a:srgbClr val="E8A020"/>
                </a:solidFill>
              </a:rPr>
              <a:t>The Thing Nobody Noticed</a:t>
            </a:r>
            <a:endParaRPr lang="en-US" sz="1300" dirty="0"/>
          </a:p>
        </p:txBody>
      </p:sp>
      <p:sp>
        <p:nvSpPr>
          <p:cNvPr id="20" name="Text 18"/>
          <p:cNvSpPr/>
          <p:nvPr/>
        </p:nvSpPr>
        <p:spPr>
          <a:xfrm>
            <a:off x="5029200" y="3593592"/>
            <a:ext cx="3749040" cy="822960"/>
          </a:xfrm>
          <a:prstGeom prst="rect">
            <a:avLst/>
          </a:prstGeom>
          <a:noFill/>
          <a:ln/>
        </p:spPr>
        <p:txBody>
          <a:bodyPr wrap="square" lIns="0" tIns="0" rIns="0" bIns="0" rtlCol="0" anchor="ctr"/>
          <a:lstStyle/>
          <a:p>
            <a:pPr indent="0" marL="0">
              <a:buNone/>
            </a:pPr>
            <a:r>
              <a:rPr lang="en-US" sz="1050" dirty="0">
                <a:solidFill>
                  <a:srgbClr val="A8BDD0"/>
                </a:solidFill>
              </a:rPr>
              <a:t>WhatsApp groups and private masterminds are the #1 source of deals. People are paying $5,000–30,000/year for "mastermind access" that is literally just a curated warm-intro network.</a:t>
            </a:r>
            <a:endParaRPr lang="en-US" sz="1050" dirty="0"/>
          </a:p>
        </p:txBody>
      </p:sp>
      <p:sp>
        <p:nvSpPr>
          <p:cNvPr id="21" name="Text 19"/>
          <p:cNvSpPr/>
          <p:nvPr/>
        </p:nvSpPr>
        <p:spPr>
          <a:xfrm>
            <a:off x="457200" y="4709160"/>
            <a:ext cx="8412480" cy="274320"/>
          </a:xfrm>
          <a:prstGeom prst="rect">
            <a:avLst/>
          </a:prstGeom>
          <a:noFill/>
          <a:ln/>
        </p:spPr>
        <p:txBody>
          <a:bodyPr wrap="square" lIns="0" tIns="0" rIns="0" bIns="0" rtlCol="0" anchor="ctr"/>
          <a:lstStyle/>
          <a:p>
            <a:pPr indent="0" marL="0">
              <a:buNone/>
            </a:pPr>
            <a:r>
              <a:rPr lang="en-US" sz="1050" i="1" dirty="0">
                <a:solidFill>
                  <a:srgbClr val="88A0B8"/>
                </a:solidFill>
              </a:rPr>
              <a:t>It's 2026. AI writes code and drives cars. Deal-makers are still leaving voicemails to find a lender.</a:t>
            </a:r>
            <a:endParaRPr lang="en-US" sz="1050" dirty="0"/>
          </a:p>
        </p:txBody>
      </p:sp>
      <p:sp>
        <p:nvSpPr>
          <p:cNvPr id="22" name="Text 2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4 / 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3 — EXIT PROOF</a:t>
            </a:r>
            <a:endParaRPr lang="en-US" sz="800" dirty="0"/>
          </a:p>
        </p:txBody>
      </p:sp>
      <p:sp>
        <p:nvSpPr>
          <p:cNvPr id="4" name="Text 2"/>
          <p:cNvSpPr/>
          <p:nvPr/>
        </p:nvSpPr>
        <p:spPr>
          <a:xfrm>
            <a:off x="457200" y="502920"/>
            <a:ext cx="8229600" cy="914400"/>
          </a:xfrm>
          <a:prstGeom prst="rect">
            <a:avLst/>
          </a:prstGeom>
          <a:noFill/>
          <a:ln/>
        </p:spPr>
        <p:txBody>
          <a:bodyPr wrap="square" lIns="0" tIns="0" rIns="0" bIns="0" rtlCol="0" anchor="ctr"/>
          <a:lstStyle/>
          <a:p>
            <a:pPr indent="0" marL="0">
              <a:buNone/>
            </a:pPr>
            <a:r>
              <a:rPr lang="en-US" sz="2800" b="1" dirty="0">
                <a:solidFill>
                  <a:srgbClr val="0D1B2A"/>
                </a:solidFill>
              </a:rPr>
              <a:t>The market was already validated.</a:t>
            </a:r>
            <a:endParaRPr lang="en-US" sz="2800" dirty="0"/>
          </a:p>
          <a:p>
            <a:pPr indent="0" marL="0">
              <a:buNone/>
            </a:pPr>
            <a:r>
              <a:rPr lang="en-US" sz="2800" b="1" dirty="0">
                <a:solidFill>
                  <a:srgbClr val="0D1B2A"/>
                </a:solidFill>
              </a:rPr>
              <a:t>WarmPath builds on the floor.</a:t>
            </a:r>
            <a:endParaRPr lang="en-US" sz="2800" dirty="0"/>
          </a:p>
        </p:txBody>
      </p:sp>
      <p:sp>
        <p:nvSpPr>
          <p:cNvPr id="5" name="Shape 3"/>
          <p:cNvSpPr/>
          <p:nvPr/>
        </p:nvSpPr>
        <p:spPr>
          <a:xfrm>
            <a:off x="457200" y="1508760"/>
            <a:ext cx="8412480" cy="128016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5000"/>
              </a:srgbClr>
            </a:outerShdw>
          </a:effectLst>
        </p:spPr>
      </p:sp>
      <p:sp>
        <p:nvSpPr>
          <p:cNvPr id="6" name="Text 4"/>
          <p:cNvSpPr/>
          <p:nvPr/>
        </p:nvSpPr>
        <p:spPr>
          <a:xfrm>
            <a:off x="685800" y="1600200"/>
            <a:ext cx="7955280" cy="365760"/>
          </a:xfrm>
          <a:prstGeom prst="rect">
            <a:avLst/>
          </a:prstGeom>
          <a:noFill/>
          <a:ln/>
        </p:spPr>
        <p:txBody>
          <a:bodyPr wrap="square" lIns="0" tIns="0" rIns="0" bIns="0" rtlCol="0" anchor="ctr"/>
          <a:lstStyle/>
          <a:p>
            <a:pPr indent="0" marL="0">
              <a:buNone/>
            </a:pPr>
            <a:r>
              <a:rPr lang="en-US" sz="1500" b="1" dirty="0">
                <a:solidFill>
                  <a:srgbClr val="E8A020"/>
                </a:solidFill>
              </a:rPr>
              <a:t>Comparable Exit: BuildingConnected → Autodesk, 2018</a:t>
            </a:r>
            <a:endParaRPr lang="en-US" sz="1500" dirty="0"/>
          </a:p>
        </p:txBody>
      </p:sp>
      <p:sp>
        <p:nvSpPr>
          <p:cNvPr id="7" name="Text 5"/>
          <p:cNvSpPr/>
          <p:nvPr/>
        </p:nvSpPr>
        <p:spPr>
          <a:xfrm>
            <a:off x="685800" y="2011680"/>
            <a:ext cx="7955280" cy="685800"/>
          </a:xfrm>
          <a:prstGeom prst="rect">
            <a:avLst/>
          </a:prstGeom>
          <a:noFill/>
          <a:ln/>
        </p:spPr>
        <p:txBody>
          <a:bodyPr wrap="square" lIns="0" tIns="0" rIns="0" bIns="0" rtlCol="0" anchor="ctr"/>
          <a:lstStyle/>
          <a:p>
            <a:pPr indent="0" marL="0">
              <a:buNone/>
            </a:pPr>
            <a:r>
              <a:rPr lang="en-US" sz="1100" dirty="0">
                <a:solidFill>
                  <a:srgbClr val="CBD5E1"/>
                </a:solidFill>
              </a:rPr>
              <a:t>$275 million acquisition. BuildingConnected built a pre-construction network connecting GCs with subcontractors — a warm referral layer for the construction supply chain. No AI intro routing. No trust graph. No mobile-first UX. WarmPath is that thesis, rebuilt for every deal-maker vertical, with AI doing the work BuildingConnected left manual.</a:t>
            </a:r>
            <a:endParaRPr lang="en-US" sz="1100" dirty="0"/>
          </a:p>
        </p:txBody>
      </p:sp>
      <p:sp>
        <p:nvSpPr>
          <p:cNvPr id="8" name="Shape 6"/>
          <p:cNvSpPr/>
          <p:nvPr/>
        </p:nvSpPr>
        <p:spPr>
          <a:xfrm>
            <a:off x="457200" y="2971800"/>
            <a:ext cx="2743200" cy="17830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457200" y="2971800"/>
            <a:ext cx="2743200" cy="320040"/>
          </a:xfrm>
          <a:prstGeom prst="rect">
            <a:avLst/>
          </a:prstGeom>
          <a:solidFill>
            <a:srgbClr val="1B6CA8"/>
          </a:solidFill>
          <a:ln w="12700">
            <a:solidFill>
              <a:srgbClr val="1B6CA8"/>
            </a:solidFill>
            <a:prstDash val="solid"/>
          </a:ln>
        </p:spPr>
      </p:sp>
      <p:sp>
        <p:nvSpPr>
          <p:cNvPr id="10" name="Text 8"/>
          <p:cNvSpPr/>
          <p:nvPr/>
        </p:nvSpPr>
        <p:spPr>
          <a:xfrm>
            <a:off x="548640" y="2971800"/>
            <a:ext cx="2560320" cy="320040"/>
          </a:xfrm>
          <a:prstGeom prst="rect">
            <a:avLst/>
          </a:prstGeom>
          <a:noFill/>
          <a:ln/>
        </p:spPr>
        <p:txBody>
          <a:bodyPr wrap="square" lIns="0" tIns="0" rIns="0" bIns="0" rtlCol="0" anchor="ctr"/>
          <a:lstStyle/>
          <a:p>
            <a:pPr indent="0" marL="0">
              <a:buNone/>
            </a:pPr>
            <a:r>
              <a:rPr lang="en-US" sz="950" b="1" dirty="0">
                <a:solidFill>
                  <a:srgbClr val="FFFFFF"/>
                </a:solidFill>
              </a:rPr>
              <a:t>What BuildingConnected had</a:t>
            </a:r>
            <a:endParaRPr lang="en-US" sz="950" dirty="0"/>
          </a:p>
        </p:txBody>
      </p:sp>
      <p:sp>
        <p:nvSpPr>
          <p:cNvPr id="11" name="Text 9"/>
          <p:cNvSpPr/>
          <p:nvPr/>
        </p:nvSpPr>
        <p:spPr>
          <a:xfrm>
            <a:off x="548640" y="3355848"/>
            <a:ext cx="2560320" cy="1280160"/>
          </a:xfrm>
          <a:prstGeom prst="rect">
            <a:avLst/>
          </a:prstGeom>
          <a:noFill/>
          <a:ln/>
        </p:spPr>
        <p:txBody>
          <a:bodyPr wrap="square" lIns="0" tIns="0" rIns="0" bIns="0" rtlCol="0" anchor="ctr"/>
          <a:lstStyle/>
          <a:p>
            <a:pPr indent="0" marL="0">
              <a:spcAft>
                <a:spcPts val="400"/>
              </a:spcAft>
              <a:buNone/>
            </a:pPr>
            <a:r>
              <a:rPr lang="en-US" sz="1050" dirty="0">
                <a:solidFill>
                  <a:srgbClr val="475569"/>
                </a:solidFill>
              </a:rPr>
              <a:t>Construction network graph</a:t>
            </a:r>
            <a:endParaRPr lang="en-US" sz="1050" dirty="0"/>
          </a:p>
          <a:p>
            <a:pPr indent="0" marL="0">
              <a:spcAft>
                <a:spcPts val="400"/>
              </a:spcAft>
              <a:buNone/>
            </a:pPr>
            <a:r>
              <a:rPr lang="en-US" sz="1050" dirty="0">
                <a:solidFill>
                  <a:srgbClr val="475569"/>
                </a:solidFill>
              </a:rPr>
              <a:t>Verified supplier profiles</a:t>
            </a:r>
            <a:endParaRPr lang="en-US" sz="1050" dirty="0"/>
          </a:p>
          <a:p>
            <a:pPr indent="0" marL="0">
              <a:spcAft>
                <a:spcPts val="400"/>
              </a:spcAft>
              <a:buNone/>
            </a:pPr>
            <a:r>
              <a:rPr lang="en-US" sz="1050" dirty="0">
                <a:solidFill>
                  <a:srgbClr val="475569"/>
                </a:solidFill>
              </a:rPr>
              <a:t>Bidding workflow</a:t>
            </a:r>
            <a:endParaRPr lang="en-US" sz="1050" dirty="0"/>
          </a:p>
        </p:txBody>
      </p:sp>
      <p:sp>
        <p:nvSpPr>
          <p:cNvPr id="12" name="Shape 10"/>
          <p:cNvSpPr/>
          <p:nvPr/>
        </p:nvSpPr>
        <p:spPr>
          <a:xfrm>
            <a:off x="3337560" y="2971800"/>
            <a:ext cx="2743200" cy="17830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3" name="Shape 11"/>
          <p:cNvSpPr/>
          <p:nvPr/>
        </p:nvSpPr>
        <p:spPr>
          <a:xfrm>
            <a:off x="3337560" y="2971800"/>
            <a:ext cx="2743200" cy="320040"/>
          </a:xfrm>
          <a:prstGeom prst="rect">
            <a:avLst/>
          </a:prstGeom>
          <a:solidFill>
            <a:srgbClr val="E8A020"/>
          </a:solidFill>
          <a:ln w="12700">
            <a:solidFill>
              <a:srgbClr val="E8A020"/>
            </a:solidFill>
            <a:prstDash val="solid"/>
          </a:ln>
        </p:spPr>
      </p:sp>
      <p:sp>
        <p:nvSpPr>
          <p:cNvPr id="14" name="Text 12"/>
          <p:cNvSpPr/>
          <p:nvPr/>
        </p:nvSpPr>
        <p:spPr>
          <a:xfrm>
            <a:off x="3429000" y="2971800"/>
            <a:ext cx="2560320" cy="320040"/>
          </a:xfrm>
          <a:prstGeom prst="rect">
            <a:avLst/>
          </a:prstGeom>
          <a:noFill/>
          <a:ln/>
        </p:spPr>
        <p:txBody>
          <a:bodyPr wrap="square" lIns="0" tIns="0" rIns="0" bIns="0" rtlCol="0" anchor="ctr"/>
          <a:lstStyle/>
          <a:p>
            <a:pPr indent="0" marL="0">
              <a:buNone/>
            </a:pPr>
            <a:r>
              <a:rPr lang="en-US" sz="950" b="1" dirty="0">
                <a:solidFill>
                  <a:srgbClr val="FFFFFF"/>
                </a:solidFill>
              </a:rPr>
              <a:t>What WarmPath adds</a:t>
            </a:r>
            <a:endParaRPr lang="en-US" sz="950" dirty="0"/>
          </a:p>
        </p:txBody>
      </p:sp>
      <p:sp>
        <p:nvSpPr>
          <p:cNvPr id="15" name="Text 13"/>
          <p:cNvSpPr/>
          <p:nvPr/>
        </p:nvSpPr>
        <p:spPr>
          <a:xfrm>
            <a:off x="3429000" y="3355848"/>
            <a:ext cx="2560320" cy="1280160"/>
          </a:xfrm>
          <a:prstGeom prst="rect">
            <a:avLst/>
          </a:prstGeom>
          <a:noFill/>
          <a:ln/>
        </p:spPr>
        <p:txBody>
          <a:bodyPr wrap="square" lIns="0" tIns="0" rIns="0" bIns="0" rtlCol="0" anchor="ctr"/>
          <a:lstStyle/>
          <a:p>
            <a:pPr indent="0" marL="0">
              <a:spcAft>
                <a:spcPts val="400"/>
              </a:spcAft>
              <a:buNone/>
            </a:pPr>
            <a:r>
              <a:rPr lang="en-US" sz="1050" dirty="0">
                <a:solidFill>
                  <a:srgbClr val="475569"/>
                </a:solidFill>
              </a:rPr>
              <a:t>AI trust-path routing</a:t>
            </a:r>
            <a:endParaRPr lang="en-US" sz="1050" dirty="0"/>
          </a:p>
          <a:p>
            <a:pPr indent="0" marL="0">
              <a:spcAft>
                <a:spcPts val="400"/>
              </a:spcAft>
              <a:buNone/>
            </a:pPr>
            <a:r>
              <a:rPr lang="en-US" sz="1050" dirty="0">
                <a:solidFill>
                  <a:srgbClr val="475569"/>
                </a:solidFill>
              </a:rPr>
              <a:t>Double opt-in auto-intro flow</a:t>
            </a:r>
            <a:endParaRPr lang="en-US" sz="1050" dirty="0"/>
          </a:p>
          <a:p>
            <a:pPr indent="0" marL="0">
              <a:spcAft>
                <a:spcPts val="400"/>
              </a:spcAft>
              <a:buNone/>
            </a:pPr>
            <a:r>
              <a:rPr lang="en-US" sz="1050" dirty="0">
                <a:solidFill>
                  <a:srgbClr val="475569"/>
                </a:solidFill>
              </a:rPr>
              <a:t>Reputation scoring + consumer mobile</a:t>
            </a:r>
            <a:endParaRPr lang="en-US" sz="1050" dirty="0"/>
          </a:p>
        </p:txBody>
      </p:sp>
      <p:sp>
        <p:nvSpPr>
          <p:cNvPr id="16" name="Shape 14"/>
          <p:cNvSpPr/>
          <p:nvPr/>
        </p:nvSpPr>
        <p:spPr>
          <a:xfrm>
            <a:off x="6217920" y="2971800"/>
            <a:ext cx="2743200" cy="17830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6217920" y="2971800"/>
            <a:ext cx="2743200" cy="320040"/>
          </a:xfrm>
          <a:prstGeom prst="rect">
            <a:avLst/>
          </a:prstGeom>
          <a:solidFill>
            <a:srgbClr val="16A34A"/>
          </a:solidFill>
          <a:ln w="12700">
            <a:solidFill>
              <a:srgbClr val="16A34A"/>
            </a:solidFill>
            <a:prstDash val="solid"/>
          </a:ln>
        </p:spPr>
      </p:sp>
      <p:sp>
        <p:nvSpPr>
          <p:cNvPr id="18" name="Text 16"/>
          <p:cNvSpPr/>
          <p:nvPr/>
        </p:nvSpPr>
        <p:spPr>
          <a:xfrm>
            <a:off x="6309360" y="2971800"/>
            <a:ext cx="2560320" cy="320040"/>
          </a:xfrm>
          <a:prstGeom prst="rect">
            <a:avLst/>
          </a:prstGeom>
          <a:noFill/>
          <a:ln/>
        </p:spPr>
        <p:txBody>
          <a:bodyPr wrap="square" lIns="0" tIns="0" rIns="0" bIns="0" rtlCol="0" anchor="ctr"/>
          <a:lstStyle/>
          <a:p>
            <a:pPr indent="0" marL="0">
              <a:buNone/>
            </a:pPr>
            <a:r>
              <a:rPr lang="en-US" sz="950" b="1" dirty="0">
                <a:solidFill>
                  <a:srgbClr val="FFFFFF"/>
                </a:solidFill>
              </a:rPr>
              <a:t>The window is open NOW because...</a:t>
            </a:r>
            <a:endParaRPr lang="en-US" sz="950" dirty="0"/>
          </a:p>
        </p:txBody>
      </p:sp>
      <p:sp>
        <p:nvSpPr>
          <p:cNvPr id="19" name="Text 17"/>
          <p:cNvSpPr/>
          <p:nvPr/>
        </p:nvSpPr>
        <p:spPr>
          <a:xfrm>
            <a:off x="6309360" y="3355848"/>
            <a:ext cx="2560320" cy="1280160"/>
          </a:xfrm>
          <a:prstGeom prst="rect">
            <a:avLst/>
          </a:prstGeom>
          <a:noFill/>
          <a:ln/>
        </p:spPr>
        <p:txBody>
          <a:bodyPr wrap="square" lIns="0" tIns="0" rIns="0" bIns="0" rtlCol="0" anchor="ctr"/>
          <a:lstStyle/>
          <a:p>
            <a:pPr indent="0" marL="0">
              <a:spcAft>
                <a:spcPts val="400"/>
              </a:spcAft>
              <a:buNone/>
            </a:pPr>
            <a:r>
              <a:rPr lang="en-US" sz="1050" dirty="0">
                <a:solidFill>
                  <a:srgbClr val="475569"/>
                </a:solidFill>
              </a:rPr>
              <a:t>Claude/GPT make AI intros natural quality</a:t>
            </a:r>
            <a:endParaRPr lang="en-US" sz="1050" dirty="0"/>
          </a:p>
          <a:p>
            <a:pPr indent="0" marL="0">
              <a:spcAft>
                <a:spcPts val="400"/>
              </a:spcAft>
              <a:buNone/>
            </a:pPr>
            <a:r>
              <a:rPr lang="en-US" sz="1050" dirty="0">
                <a:solidFill>
                  <a:srgbClr val="475569"/>
                </a:solidFill>
              </a:rPr>
              <a:t>LinkedIn InMail response rates at historic lows</a:t>
            </a:r>
            <a:endParaRPr lang="en-US" sz="1050" dirty="0"/>
          </a:p>
          <a:p>
            <a:pPr indent="0" marL="0">
              <a:spcAft>
                <a:spcPts val="400"/>
              </a:spcAft>
              <a:buNone/>
            </a:pPr>
            <a:r>
              <a:rPr lang="en-US" sz="1050" dirty="0">
                <a:solidFill>
                  <a:srgbClr val="475569"/>
                </a:solidFill>
              </a:rPr>
              <a:t>Network trust tools mature + affordable</a:t>
            </a:r>
            <a:endParaRPr lang="en-US" sz="1050" dirty="0"/>
          </a:p>
        </p:txBody>
      </p:sp>
      <p:sp>
        <p:nvSpPr>
          <p:cNvPr id="20" name="Text 1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5 / 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MARKET OPPORTUNITY</a:t>
            </a:r>
            <a:endParaRPr lang="en-US" sz="8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3000" b="1" dirty="0">
                <a:solidFill>
                  <a:srgbClr val="0D1B2A"/>
                </a:solidFill>
              </a:rPr>
              <a:t>Three buyers. One graph. One platform.</a:t>
            </a:r>
            <a:endParaRPr lang="en-US" sz="3000" dirty="0"/>
          </a:p>
        </p:txBody>
      </p:sp>
      <p:sp>
        <p:nvSpPr>
          <p:cNvPr id="5" name="Shape 3"/>
          <p:cNvSpPr/>
          <p:nvPr/>
        </p:nvSpPr>
        <p:spPr>
          <a:xfrm>
            <a:off x="457200" y="1234440"/>
            <a:ext cx="2743200" cy="3520440"/>
          </a:xfrm>
          <a:prstGeom prst="rect">
            <a:avLst/>
          </a:prstGeom>
          <a:solidFill>
            <a:srgbClr val="FFFFFF"/>
          </a:solidFill>
          <a:ln w="12700">
            <a:solidFill>
              <a:srgbClr val="CBD5E1"/>
            </a:solidFill>
            <a:prstDash val="solid"/>
          </a:ln>
          <a:effectLst>
            <a:outerShdw sx="100000" sy="100000" kx="0" ky="0" algn="bl" rotWithShape="0" blurRad="76200" dist="25400" dir="8100000">
              <a:srgbClr val="000000">
                <a:alpha val="8000"/>
              </a:srgbClr>
            </a:outerShdw>
          </a:effectLst>
        </p:spPr>
      </p:sp>
      <p:sp>
        <p:nvSpPr>
          <p:cNvPr id="6" name="Shape 4"/>
          <p:cNvSpPr/>
          <p:nvPr/>
        </p:nvSpPr>
        <p:spPr>
          <a:xfrm>
            <a:off x="457200" y="1234440"/>
            <a:ext cx="2743200" cy="411480"/>
          </a:xfrm>
          <a:prstGeom prst="rect">
            <a:avLst/>
          </a:prstGeom>
          <a:solidFill>
            <a:srgbClr val="1B6CA8"/>
          </a:solidFill>
          <a:ln w="12700">
            <a:solidFill>
              <a:srgbClr val="1B6CA8"/>
            </a:solidFill>
            <a:prstDash val="solid"/>
          </a:ln>
        </p:spPr>
      </p:sp>
      <p:sp>
        <p:nvSpPr>
          <p:cNvPr id="7" name="Text 5"/>
          <p:cNvSpPr/>
          <p:nvPr/>
        </p:nvSpPr>
        <p:spPr>
          <a:xfrm>
            <a:off x="548640" y="1234440"/>
            <a:ext cx="2560320" cy="411480"/>
          </a:xfrm>
          <a:prstGeom prst="rect">
            <a:avLst/>
          </a:prstGeom>
          <a:noFill/>
          <a:ln/>
        </p:spPr>
        <p:txBody>
          <a:bodyPr wrap="square" lIns="0" tIns="0" rIns="0" bIns="0" rtlCol="0" anchor="ctr"/>
          <a:lstStyle/>
          <a:p>
            <a:pPr indent="0" marL="0">
              <a:buNone/>
            </a:pPr>
            <a:r>
              <a:rPr lang="en-US" sz="1100" b="1" dirty="0">
                <a:solidFill>
                  <a:srgbClr val="FFFFFF"/>
                </a:solidFill>
              </a:rPr>
              <a:t>Profile A  ·  House Flipper</a:t>
            </a:r>
            <a:endParaRPr lang="en-US" sz="1100" dirty="0"/>
          </a:p>
        </p:txBody>
      </p:sp>
      <p:sp>
        <p:nvSpPr>
          <p:cNvPr id="8" name="Text 6"/>
          <p:cNvSpPr/>
          <p:nvPr/>
        </p:nvSpPr>
        <p:spPr>
          <a:xfrm>
            <a:off x="594360" y="1755648"/>
            <a:ext cx="777240" cy="256032"/>
          </a:xfrm>
          <a:prstGeom prst="rect">
            <a:avLst/>
          </a:prstGeom>
          <a:noFill/>
          <a:ln/>
        </p:spPr>
        <p:txBody>
          <a:bodyPr wrap="square" lIns="0" tIns="0" rIns="0" bIns="0" rtlCol="0" anchor="ctr"/>
          <a:lstStyle/>
          <a:p>
            <a:pPr indent="0" marL="0">
              <a:buNone/>
            </a:pPr>
            <a:r>
              <a:rPr lang="en-US" sz="800" b="1" spc="100" kern="0" dirty="0">
                <a:solidFill>
                  <a:srgbClr val="1B6CA8"/>
                </a:solidFill>
              </a:rPr>
              <a:t>WTP</a:t>
            </a:r>
            <a:endParaRPr lang="en-US" sz="800" dirty="0"/>
          </a:p>
        </p:txBody>
      </p:sp>
      <p:sp>
        <p:nvSpPr>
          <p:cNvPr id="9" name="Text 7"/>
          <p:cNvSpPr/>
          <p:nvPr/>
        </p:nvSpPr>
        <p:spPr>
          <a:xfrm>
            <a:off x="1417320" y="1755648"/>
            <a:ext cx="1645920" cy="256032"/>
          </a:xfrm>
          <a:prstGeom prst="rect">
            <a:avLst/>
          </a:prstGeom>
          <a:noFill/>
          <a:ln/>
        </p:spPr>
        <p:txBody>
          <a:bodyPr wrap="square" lIns="0" tIns="0" rIns="0" bIns="0" rtlCol="0" anchor="ctr"/>
          <a:lstStyle/>
          <a:p>
            <a:pPr indent="0" marL="0">
              <a:buNone/>
            </a:pPr>
            <a:r>
              <a:rPr lang="en-US" sz="1000" dirty="0">
                <a:solidFill>
                  <a:srgbClr val="475569"/>
                </a:solidFill>
              </a:rPr>
              <a:t>$39/mo</a:t>
            </a:r>
            <a:endParaRPr lang="en-US" sz="1000" dirty="0"/>
          </a:p>
        </p:txBody>
      </p:sp>
      <p:sp>
        <p:nvSpPr>
          <p:cNvPr id="10" name="Text 8"/>
          <p:cNvSpPr/>
          <p:nvPr/>
        </p:nvSpPr>
        <p:spPr>
          <a:xfrm>
            <a:off x="594360" y="2103120"/>
            <a:ext cx="777240" cy="256032"/>
          </a:xfrm>
          <a:prstGeom prst="rect">
            <a:avLst/>
          </a:prstGeom>
          <a:noFill/>
          <a:ln/>
        </p:spPr>
        <p:txBody>
          <a:bodyPr wrap="square" lIns="0" tIns="0" rIns="0" bIns="0" rtlCol="0" anchor="ctr"/>
          <a:lstStyle/>
          <a:p>
            <a:pPr indent="0" marL="0">
              <a:buNone/>
            </a:pPr>
            <a:r>
              <a:rPr lang="en-US" sz="800" b="1" spc="100" kern="0" dirty="0">
                <a:solidFill>
                  <a:srgbClr val="1B6CA8"/>
                </a:solidFill>
              </a:rPr>
              <a:t>CORE PAIN</a:t>
            </a:r>
            <a:endParaRPr lang="en-US" sz="800" dirty="0"/>
          </a:p>
        </p:txBody>
      </p:sp>
      <p:sp>
        <p:nvSpPr>
          <p:cNvPr id="11" name="Text 9"/>
          <p:cNvSpPr/>
          <p:nvPr/>
        </p:nvSpPr>
        <p:spPr>
          <a:xfrm>
            <a:off x="1417320" y="2103120"/>
            <a:ext cx="1645920" cy="256032"/>
          </a:xfrm>
          <a:prstGeom prst="rect">
            <a:avLst/>
          </a:prstGeom>
          <a:noFill/>
          <a:ln/>
        </p:spPr>
        <p:txBody>
          <a:bodyPr wrap="square" lIns="0" tIns="0" rIns="0" bIns="0" rtlCol="0" anchor="ctr"/>
          <a:lstStyle/>
          <a:p>
            <a:pPr indent="0" marL="0">
              <a:buNone/>
            </a:pPr>
            <a:r>
              <a:rPr lang="en-US" sz="1000" dirty="0">
                <a:solidFill>
                  <a:srgbClr val="475569"/>
                </a:solidFill>
              </a:rPr>
              <a:t>No lender when the deal is live</a:t>
            </a:r>
            <a:endParaRPr lang="en-US" sz="1000" dirty="0"/>
          </a:p>
        </p:txBody>
      </p:sp>
      <p:sp>
        <p:nvSpPr>
          <p:cNvPr id="12" name="Text 10"/>
          <p:cNvSpPr/>
          <p:nvPr/>
        </p:nvSpPr>
        <p:spPr>
          <a:xfrm>
            <a:off x="594360" y="2450592"/>
            <a:ext cx="777240" cy="256032"/>
          </a:xfrm>
          <a:prstGeom prst="rect">
            <a:avLst/>
          </a:prstGeom>
          <a:noFill/>
          <a:ln/>
        </p:spPr>
        <p:txBody>
          <a:bodyPr wrap="square" lIns="0" tIns="0" rIns="0" bIns="0" rtlCol="0" anchor="ctr"/>
          <a:lstStyle/>
          <a:p>
            <a:pPr indent="0" marL="0">
              <a:buNone/>
            </a:pPr>
            <a:r>
              <a:rPr lang="en-US" sz="800" b="1" spc="100" kern="0" dirty="0">
                <a:solidFill>
                  <a:srgbClr val="1B6CA8"/>
                </a:solidFill>
              </a:rPr>
              <a:t>TAM SIGNAL</a:t>
            </a:r>
            <a:endParaRPr lang="en-US" sz="800" dirty="0"/>
          </a:p>
        </p:txBody>
      </p:sp>
      <p:sp>
        <p:nvSpPr>
          <p:cNvPr id="13" name="Text 11"/>
          <p:cNvSpPr/>
          <p:nvPr/>
        </p:nvSpPr>
        <p:spPr>
          <a:xfrm>
            <a:off x="1417320" y="2450592"/>
            <a:ext cx="1645920" cy="256032"/>
          </a:xfrm>
          <a:prstGeom prst="rect">
            <a:avLst/>
          </a:prstGeom>
          <a:noFill/>
          <a:ln/>
        </p:spPr>
        <p:txBody>
          <a:bodyPr wrap="square" lIns="0" tIns="0" rIns="0" bIns="0" rtlCol="0" anchor="ctr"/>
          <a:lstStyle/>
          <a:p>
            <a:pPr indent="0" marL="0">
              <a:buNone/>
            </a:pPr>
            <a:r>
              <a:rPr lang="en-US" sz="1000" dirty="0">
                <a:solidFill>
                  <a:srgbClr val="475569"/>
                </a:solidFill>
              </a:rPr>
              <a:t>50–70K active US flippers</a:t>
            </a:r>
            <a:endParaRPr lang="en-US" sz="1000" dirty="0"/>
          </a:p>
        </p:txBody>
      </p:sp>
      <p:sp>
        <p:nvSpPr>
          <p:cNvPr id="14" name="Shape 12"/>
          <p:cNvSpPr/>
          <p:nvPr/>
        </p:nvSpPr>
        <p:spPr>
          <a:xfrm>
            <a:off x="594360" y="2834640"/>
            <a:ext cx="2468880" cy="27432"/>
          </a:xfrm>
          <a:prstGeom prst="rect">
            <a:avLst/>
          </a:prstGeom>
          <a:solidFill>
            <a:srgbClr val="CBD5E1"/>
          </a:solidFill>
          <a:ln w="12700">
            <a:solidFill>
              <a:srgbClr val="CBD5E1"/>
            </a:solidFill>
            <a:prstDash val="solid"/>
          </a:ln>
        </p:spPr>
      </p:sp>
      <p:sp>
        <p:nvSpPr>
          <p:cNvPr id="15" name="Text 13"/>
          <p:cNvSpPr/>
          <p:nvPr/>
        </p:nvSpPr>
        <p:spPr>
          <a:xfrm>
            <a:off x="594360" y="2944368"/>
            <a:ext cx="2468880" cy="777240"/>
          </a:xfrm>
          <a:prstGeom prst="rect">
            <a:avLst/>
          </a:prstGeom>
          <a:noFill/>
          <a:ln/>
        </p:spPr>
        <p:txBody>
          <a:bodyPr wrap="square" lIns="0" tIns="0" rIns="0" bIns="0" rtlCol="0" anchor="ctr"/>
          <a:lstStyle/>
          <a:p>
            <a:pPr indent="0" marL="0">
              <a:buNone/>
            </a:pPr>
            <a:r>
              <a:rPr lang="en-US" sz="1000" i="1" dirty="0">
                <a:solidFill>
                  <a:srgbClr val="475569"/>
                </a:solidFill>
              </a:rPr>
              <a:t>One extra deal/year = $40–60K. ROI on $39/mo is obvious.</a:t>
            </a:r>
            <a:endParaRPr lang="en-US" sz="1000" dirty="0"/>
          </a:p>
        </p:txBody>
      </p:sp>
      <p:sp>
        <p:nvSpPr>
          <p:cNvPr id="16" name="Shape 14"/>
          <p:cNvSpPr/>
          <p:nvPr/>
        </p:nvSpPr>
        <p:spPr>
          <a:xfrm>
            <a:off x="3337560" y="1234440"/>
            <a:ext cx="2743200" cy="3520440"/>
          </a:xfrm>
          <a:prstGeom prst="rect">
            <a:avLst/>
          </a:prstGeom>
          <a:solidFill>
            <a:srgbClr val="FFFFFF"/>
          </a:solidFill>
          <a:ln w="12700">
            <a:solidFill>
              <a:srgbClr val="CBD5E1"/>
            </a:solidFill>
            <a:prstDash val="solid"/>
          </a:ln>
          <a:effectLst>
            <a:outerShdw sx="100000" sy="100000" kx="0" ky="0" algn="bl" rotWithShape="0" blurRad="76200" dist="25400" dir="8100000">
              <a:srgbClr val="000000">
                <a:alpha val="8000"/>
              </a:srgbClr>
            </a:outerShdw>
          </a:effectLst>
        </p:spPr>
      </p:sp>
      <p:sp>
        <p:nvSpPr>
          <p:cNvPr id="17" name="Shape 15"/>
          <p:cNvSpPr/>
          <p:nvPr/>
        </p:nvSpPr>
        <p:spPr>
          <a:xfrm>
            <a:off x="3337560" y="1234440"/>
            <a:ext cx="2743200" cy="411480"/>
          </a:xfrm>
          <a:prstGeom prst="rect">
            <a:avLst/>
          </a:prstGeom>
          <a:solidFill>
            <a:srgbClr val="E8A020"/>
          </a:solidFill>
          <a:ln w="12700">
            <a:solidFill>
              <a:srgbClr val="E8A020"/>
            </a:solidFill>
            <a:prstDash val="solid"/>
          </a:ln>
        </p:spPr>
      </p:sp>
      <p:sp>
        <p:nvSpPr>
          <p:cNvPr id="18" name="Text 16"/>
          <p:cNvSpPr/>
          <p:nvPr/>
        </p:nvSpPr>
        <p:spPr>
          <a:xfrm>
            <a:off x="3429000" y="1234440"/>
            <a:ext cx="2560320" cy="411480"/>
          </a:xfrm>
          <a:prstGeom prst="rect">
            <a:avLst/>
          </a:prstGeom>
          <a:noFill/>
          <a:ln/>
        </p:spPr>
        <p:txBody>
          <a:bodyPr wrap="square" lIns="0" tIns="0" rIns="0" bIns="0" rtlCol="0" anchor="ctr"/>
          <a:lstStyle/>
          <a:p>
            <a:pPr indent="0" marL="0">
              <a:buNone/>
            </a:pPr>
            <a:r>
              <a:rPr lang="en-US" sz="1100" b="1" dirty="0">
                <a:solidFill>
                  <a:srgbClr val="FFFFFF"/>
                </a:solidFill>
              </a:rPr>
              <a:t>Profile B ★  ·  Private Lender</a:t>
            </a:r>
            <a:endParaRPr lang="en-US" sz="1100" dirty="0"/>
          </a:p>
        </p:txBody>
      </p:sp>
      <p:sp>
        <p:nvSpPr>
          <p:cNvPr id="19" name="Text 17"/>
          <p:cNvSpPr/>
          <p:nvPr/>
        </p:nvSpPr>
        <p:spPr>
          <a:xfrm>
            <a:off x="3474720" y="1755648"/>
            <a:ext cx="777240" cy="256032"/>
          </a:xfrm>
          <a:prstGeom prst="rect">
            <a:avLst/>
          </a:prstGeom>
          <a:noFill/>
          <a:ln/>
        </p:spPr>
        <p:txBody>
          <a:bodyPr wrap="square" lIns="0" tIns="0" rIns="0" bIns="0" rtlCol="0" anchor="ctr"/>
          <a:lstStyle/>
          <a:p>
            <a:pPr indent="0" marL="0">
              <a:buNone/>
            </a:pPr>
            <a:r>
              <a:rPr lang="en-US" sz="800" b="1" spc="100" kern="0" dirty="0">
                <a:solidFill>
                  <a:srgbClr val="E8A020"/>
                </a:solidFill>
              </a:rPr>
              <a:t>WTP</a:t>
            </a:r>
            <a:endParaRPr lang="en-US" sz="800" dirty="0"/>
          </a:p>
        </p:txBody>
      </p:sp>
      <p:sp>
        <p:nvSpPr>
          <p:cNvPr id="20" name="Text 18"/>
          <p:cNvSpPr/>
          <p:nvPr/>
        </p:nvSpPr>
        <p:spPr>
          <a:xfrm>
            <a:off x="4297680" y="1755648"/>
            <a:ext cx="1645920" cy="256032"/>
          </a:xfrm>
          <a:prstGeom prst="rect">
            <a:avLst/>
          </a:prstGeom>
          <a:noFill/>
          <a:ln/>
        </p:spPr>
        <p:txBody>
          <a:bodyPr wrap="square" lIns="0" tIns="0" rIns="0" bIns="0" rtlCol="0" anchor="ctr"/>
          <a:lstStyle/>
          <a:p>
            <a:pPr indent="0" marL="0">
              <a:buNone/>
            </a:pPr>
            <a:r>
              <a:rPr lang="en-US" sz="1000" dirty="0">
                <a:solidFill>
                  <a:srgbClr val="475569"/>
                </a:solidFill>
              </a:rPr>
              <a:t>$199/mo</a:t>
            </a:r>
            <a:endParaRPr lang="en-US" sz="1000" dirty="0"/>
          </a:p>
        </p:txBody>
      </p:sp>
      <p:sp>
        <p:nvSpPr>
          <p:cNvPr id="21" name="Text 19"/>
          <p:cNvSpPr/>
          <p:nvPr/>
        </p:nvSpPr>
        <p:spPr>
          <a:xfrm>
            <a:off x="3474720" y="2103120"/>
            <a:ext cx="777240" cy="256032"/>
          </a:xfrm>
          <a:prstGeom prst="rect">
            <a:avLst/>
          </a:prstGeom>
          <a:noFill/>
          <a:ln/>
        </p:spPr>
        <p:txBody>
          <a:bodyPr wrap="square" lIns="0" tIns="0" rIns="0" bIns="0" rtlCol="0" anchor="ctr"/>
          <a:lstStyle/>
          <a:p>
            <a:pPr indent="0" marL="0">
              <a:buNone/>
            </a:pPr>
            <a:r>
              <a:rPr lang="en-US" sz="800" b="1" spc="100" kern="0" dirty="0">
                <a:solidFill>
                  <a:srgbClr val="E8A020"/>
                </a:solidFill>
              </a:rPr>
              <a:t>CORE PAIN</a:t>
            </a:r>
            <a:endParaRPr lang="en-US" sz="800" dirty="0"/>
          </a:p>
        </p:txBody>
      </p:sp>
      <p:sp>
        <p:nvSpPr>
          <p:cNvPr id="22" name="Text 20"/>
          <p:cNvSpPr/>
          <p:nvPr/>
        </p:nvSpPr>
        <p:spPr>
          <a:xfrm>
            <a:off x="4297680" y="2103120"/>
            <a:ext cx="1645920" cy="256032"/>
          </a:xfrm>
          <a:prstGeom prst="rect">
            <a:avLst/>
          </a:prstGeom>
          <a:noFill/>
          <a:ln/>
        </p:spPr>
        <p:txBody>
          <a:bodyPr wrap="square" lIns="0" tIns="0" rIns="0" bIns="0" rtlCol="0" anchor="ctr"/>
          <a:lstStyle/>
          <a:p>
            <a:pPr indent="0" marL="0">
              <a:buNone/>
            </a:pPr>
            <a:r>
              <a:rPr lang="en-US" sz="1000" dirty="0">
                <a:solidFill>
                  <a:srgbClr val="475569"/>
                </a:solidFill>
              </a:rPr>
              <a:t>Capital idle, no qualified borrowers</a:t>
            </a:r>
            <a:endParaRPr lang="en-US" sz="1000" dirty="0"/>
          </a:p>
        </p:txBody>
      </p:sp>
      <p:sp>
        <p:nvSpPr>
          <p:cNvPr id="23" name="Text 21"/>
          <p:cNvSpPr/>
          <p:nvPr/>
        </p:nvSpPr>
        <p:spPr>
          <a:xfrm>
            <a:off x="3474720" y="2450592"/>
            <a:ext cx="777240" cy="256032"/>
          </a:xfrm>
          <a:prstGeom prst="rect">
            <a:avLst/>
          </a:prstGeom>
          <a:noFill/>
          <a:ln/>
        </p:spPr>
        <p:txBody>
          <a:bodyPr wrap="square" lIns="0" tIns="0" rIns="0" bIns="0" rtlCol="0" anchor="ctr"/>
          <a:lstStyle/>
          <a:p>
            <a:pPr indent="0" marL="0">
              <a:buNone/>
            </a:pPr>
            <a:r>
              <a:rPr lang="en-US" sz="800" b="1" spc="100" kern="0" dirty="0">
                <a:solidFill>
                  <a:srgbClr val="E8A020"/>
                </a:solidFill>
              </a:rPr>
              <a:t>TAM SIGNAL</a:t>
            </a:r>
            <a:endParaRPr lang="en-US" sz="800" dirty="0"/>
          </a:p>
        </p:txBody>
      </p:sp>
      <p:sp>
        <p:nvSpPr>
          <p:cNvPr id="24" name="Text 22"/>
          <p:cNvSpPr/>
          <p:nvPr/>
        </p:nvSpPr>
        <p:spPr>
          <a:xfrm>
            <a:off x="4297680" y="2450592"/>
            <a:ext cx="1645920" cy="256032"/>
          </a:xfrm>
          <a:prstGeom prst="rect">
            <a:avLst/>
          </a:prstGeom>
          <a:noFill/>
          <a:ln/>
        </p:spPr>
        <p:txBody>
          <a:bodyPr wrap="square" lIns="0" tIns="0" rIns="0" bIns="0" rtlCol="0" anchor="ctr"/>
          <a:lstStyle/>
          <a:p>
            <a:pPr indent="0" marL="0">
              <a:buNone/>
            </a:pPr>
            <a:r>
              <a:rPr lang="en-US" sz="1000" dirty="0">
                <a:solidFill>
                  <a:srgbClr val="475569"/>
                </a:solidFill>
              </a:rPr>
              <a:t>$80K/yr in broker fees today</a:t>
            </a:r>
            <a:endParaRPr lang="en-US" sz="1000" dirty="0"/>
          </a:p>
        </p:txBody>
      </p:sp>
      <p:sp>
        <p:nvSpPr>
          <p:cNvPr id="25" name="Shape 23"/>
          <p:cNvSpPr/>
          <p:nvPr/>
        </p:nvSpPr>
        <p:spPr>
          <a:xfrm>
            <a:off x="3474720" y="2834640"/>
            <a:ext cx="2468880" cy="27432"/>
          </a:xfrm>
          <a:prstGeom prst="rect">
            <a:avLst/>
          </a:prstGeom>
          <a:solidFill>
            <a:srgbClr val="CBD5E1"/>
          </a:solidFill>
          <a:ln w="12700">
            <a:solidFill>
              <a:srgbClr val="CBD5E1"/>
            </a:solidFill>
            <a:prstDash val="solid"/>
          </a:ln>
        </p:spPr>
      </p:sp>
      <p:sp>
        <p:nvSpPr>
          <p:cNvPr id="26" name="Text 24"/>
          <p:cNvSpPr/>
          <p:nvPr/>
        </p:nvSpPr>
        <p:spPr>
          <a:xfrm>
            <a:off x="3474720" y="2944368"/>
            <a:ext cx="2468880" cy="777240"/>
          </a:xfrm>
          <a:prstGeom prst="rect">
            <a:avLst/>
          </a:prstGeom>
          <a:noFill/>
          <a:ln/>
        </p:spPr>
        <p:txBody>
          <a:bodyPr wrap="square" lIns="0" tIns="0" rIns="0" bIns="0" rtlCol="0" anchor="ctr"/>
          <a:lstStyle/>
          <a:p>
            <a:pPr indent="0" marL="0">
              <a:buNone/>
            </a:pPr>
            <a:r>
              <a:rPr lang="en-US" sz="1000" i="1" dirty="0">
                <a:solidFill>
                  <a:srgbClr val="475569"/>
                </a:solidFill>
              </a:rPr>
              <a:t>Replaces broker fees at 1/60th the cost. Highest LTV of any segment.</a:t>
            </a:r>
            <a:endParaRPr lang="en-US" sz="1000" dirty="0"/>
          </a:p>
        </p:txBody>
      </p:sp>
      <p:sp>
        <p:nvSpPr>
          <p:cNvPr id="27" name="Shape 25"/>
          <p:cNvSpPr/>
          <p:nvPr/>
        </p:nvSpPr>
        <p:spPr>
          <a:xfrm>
            <a:off x="6217920" y="1234440"/>
            <a:ext cx="2743200" cy="3520440"/>
          </a:xfrm>
          <a:prstGeom prst="rect">
            <a:avLst/>
          </a:prstGeom>
          <a:solidFill>
            <a:srgbClr val="FFFFFF"/>
          </a:solidFill>
          <a:ln w="12700">
            <a:solidFill>
              <a:srgbClr val="CBD5E1"/>
            </a:solidFill>
            <a:prstDash val="solid"/>
          </a:ln>
          <a:effectLst>
            <a:outerShdw sx="100000" sy="100000" kx="0" ky="0" algn="bl" rotWithShape="0" blurRad="76200" dist="25400" dir="8100000">
              <a:srgbClr val="000000">
                <a:alpha val="8000"/>
              </a:srgbClr>
            </a:outerShdw>
          </a:effectLst>
        </p:spPr>
      </p:sp>
      <p:sp>
        <p:nvSpPr>
          <p:cNvPr id="28" name="Shape 26"/>
          <p:cNvSpPr/>
          <p:nvPr/>
        </p:nvSpPr>
        <p:spPr>
          <a:xfrm>
            <a:off x="6217920" y="1234440"/>
            <a:ext cx="2743200" cy="411480"/>
          </a:xfrm>
          <a:prstGeom prst="rect">
            <a:avLst/>
          </a:prstGeom>
          <a:solidFill>
            <a:srgbClr val="16A34A"/>
          </a:solidFill>
          <a:ln w="12700">
            <a:solidFill>
              <a:srgbClr val="16A34A"/>
            </a:solidFill>
            <a:prstDash val="solid"/>
          </a:ln>
        </p:spPr>
      </p:sp>
      <p:sp>
        <p:nvSpPr>
          <p:cNvPr id="29" name="Text 27"/>
          <p:cNvSpPr/>
          <p:nvPr/>
        </p:nvSpPr>
        <p:spPr>
          <a:xfrm>
            <a:off x="6309360" y="1234440"/>
            <a:ext cx="2560320" cy="411480"/>
          </a:xfrm>
          <a:prstGeom prst="rect">
            <a:avLst/>
          </a:prstGeom>
          <a:noFill/>
          <a:ln/>
        </p:spPr>
        <p:txBody>
          <a:bodyPr wrap="square" lIns="0" tIns="0" rIns="0" bIns="0" rtlCol="0" anchor="ctr"/>
          <a:lstStyle/>
          <a:p>
            <a:pPr indent="0" marL="0">
              <a:buNone/>
            </a:pPr>
            <a:r>
              <a:rPr lang="en-US" sz="1100" b="1" dirty="0">
                <a:solidFill>
                  <a:srgbClr val="FFFFFF"/>
                </a:solidFill>
              </a:rPr>
              <a:t>Profile C  ·  B2B Service Firm</a:t>
            </a:r>
            <a:endParaRPr lang="en-US" sz="1100" dirty="0"/>
          </a:p>
        </p:txBody>
      </p:sp>
      <p:sp>
        <p:nvSpPr>
          <p:cNvPr id="30" name="Text 28"/>
          <p:cNvSpPr/>
          <p:nvPr/>
        </p:nvSpPr>
        <p:spPr>
          <a:xfrm>
            <a:off x="6355080" y="1755648"/>
            <a:ext cx="777240" cy="256032"/>
          </a:xfrm>
          <a:prstGeom prst="rect">
            <a:avLst/>
          </a:prstGeom>
          <a:noFill/>
          <a:ln/>
        </p:spPr>
        <p:txBody>
          <a:bodyPr wrap="square" lIns="0" tIns="0" rIns="0" bIns="0" rtlCol="0" anchor="ctr"/>
          <a:lstStyle/>
          <a:p>
            <a:pPr indent="0" marL="0">
              <a:buNone/>
            </a:pPr>
            <a:r>
              <a:rPr lang="en-US" sz="800" b="1" spc="100" kern="0" dirty="0">
                <a:solidFill>
                  <a:srgbClr val="16A34A"/>
                </a:solidFill>
              </a:rPr>
              <a:t>WTP</a:t>
            </a:r>
            <a:endParaRPr lang="en-US" sz="800" dirty="0"/>
          </a:p>
        </p:txBody>
      </p:sp>
      <p:sp>
        <p:nvSpPr>
          <p:cNvPr id="31" name="Text 29"/>
          <p:cNvSpPr/>
          <p:nvPr/>
        </p:nvSpPr>
        <p:spPr>
          <a:xfrm>
            <a:off x="7178040" y="1755648"/>
            <a:ext cx="1645920" cy="256032"/>
          </a:xfrm>
          <a:prstGeom prst="rect">
            <a:avLst/>
          </a:prstGeom>
          <a:noFill/>
          <a:ln/>
        </p:spPr>
        <p:txBody>
          <a:bodyPr wrap="square" lIns="0" tIns="0" rIns="0" bIns="0" rtlCol="0" anchor="ctr"/>
          <a:lstStyle/>
          <a:p>
            <a:pPr indent="0" marL="0">
              <a:buNone/>
            </a:pPr>
            <a:r>
              <a:rPr lang="en-US" sz="1000" dirty="0">
                <a:solidFill>
                  <a:srgbClr val="475569"/>
                </a:solidFill>
              </a:rPr>
              <a:t>$199–499/mo</a:t>
            </a:r>
            <a:endParaRPr lang="en-US" sz="1000" dirty="0"/>
          </a:p>
        </p:txBody>
      </p:sp>
      <p:sp>
        <p:nvSpPr>
          <p:cNvPr id="32" name="Text 30"/>
          <p:cNvSpPr/>
          <p:nvPr/>
        </p:nvSpPr>
        <p:spPr>
          <a:xfrm>
            <a:off x="6355080" y="2103120"/>
            <a:ext cx="777240" cy="256032"/>
          </a:xfrm>
          <a:prstGeom prst="rect">
            <a:avLst/>
          </a:prstGeom>
          <a:noFill/>
          <a:ln/>
        </p:spPr>
        <p:txBody>
          <a:bodyPr wrap="square" lIns="0" tIns="0" rIns="0" bIns="0" rtlCol="0" anchor="ctr"/>
          <a:lstStyle/>
          <a:p>
            <a:pPr indent="0" marL="0">
              <a:buNone/>
            </a:pPr>
            <a:r>
              <a:rPr lang="en-US" sz="800" b="1" spc="100" kern="0" dirty="0">
                <a:solidFill>
                  <a:srgbClr val="16A34A"/>
                </a:solidFill>
              </a:rPr>
              <a:t>CORE PAIN</a:t>
            </a:r>
            <a:endParaRPr lang="en-US" sz="800" dirty="0"/>
          </a:p>
        </p:txBody>
      </p:sp>
      <p:sp>
        <p:nvSpPr>
          <p:cNvPr id="33" name="Text 31"/>
          <p:cNvSpPr/>
          <p:nvPr/>
        </p:nvSpPr>
        <p:spPr>
          <a:xfrm>
            <a:off x="7178040" y="2103120"/>
            <a:ext cx="1645920" cy="256032"/>
          </a:xfrm>
          <a:prstGeom prst="rect">
            <a:avLst/>
          </a:prstGeom>
          <a:noFill/>
          <a:ln/>
        </p:spPr>
        <p:txBody>
          <a:bodyPr wrap="square" lIns="0" tIns="0" rIns="0" bIns="0" rtlCol="0" anchor="ctr"/>
          <a:lstStyle/>
          <a:p>
            <a:pPr indent="0" marL="0">
              <a:buNone/>
            </a:pPr>
            <a:r>
              <a:rPr lang="en-US" sz="1000" dirty="0">
                <a:solidFill>
                  <a:srgbClr val="475569"/>
                </a:solidFill>
              </a:rPr>
              <a:t>Rainmaker-dependent, no referral system</a:t>
            </a:r>
            <a:endParaRPr lang="en-US" sz="1000" dirty="0"/>
          </a:p>
        </p:txBody>
      </p:sp>
      <p:sp>
        <p:nvSpPr>
          <p:cNvPr id="34" name="Text 32"/>
          <p:cNvSpPr/>
          <p:nvPr/>
        </p:nvSpPr>
        <p:spPr>
          <a:xfrm>
            <a:off x="6355080" y="2450592"/>
            <a:ext cx="777240" cy="256032"/>
          </a:xfrm>
          <a:prstGeom prst="rect">
            <a:avLst/>
          </a:prstGeom>
          <a:noFill/>
          <a:ln/>
        </p:spPr>
        <p:txBody>
          <a:bodyPr wrap="square" lIns="0" tIns="0" rIns="0" bIns="0" rtlCol="0" anchor="ctr"/>
          <a:lstStyle/>
          <a:p>
            <a:pPr indent="0" marL="0">
              <a:buNone/>
            </a:pPr>
            <a:r>
              <a:rPr lang="en-US" sz="800" b="1" spc="100" kern="0" dirty="0">
                <a:solidFill>
                  <a:srgbClr val="16A34A"/>
                </a:solidFill>
              </a:rPr>
              <a:t>TAM SIGNAL</a:t>
            </a:r>
            <a:endParaRPr lang="en-US" sz="800" dirty="0"/>
          </a:p>
        </p:txBody>
      </p:sp>
      <p:sp>
        <p:nvSpPr>
          <p:cNvPr id="35" name="Text 33"/>
          <p:cNvSpPr/>
          <p:nvPr/>
        </p:nvSpPr>
        <p:spPr>
          <a:xfrm>
            <a:off x="7178040" y="2450592"/>
            <a:ext cx="1645920" cy="256032"/>
          </a:xfrm>
          <a:prstGeom prst="rect">
            <a:avLst/>
          </a:prstGeom>
          <a:noFill/>
          <a:ln/>
        </p:spPr>
        <p:txBody>
          <a:bodyPr wrap="square" lIns="0" tIns="0" rIns="0" bIns="0" rtlCol="0" anchor="ctr"/>
          <a:lstStyle/>
          <a:p>
            <a:pPr indent="0" marL="0">
              <a:buNone/>
            </a:pPr>
            <a:r>
              <a:rPr lang="en-US" sz="1000" dirty="0">
                <a:solidFill>
                  <a:srgbClr val="475569"/>
                </a:solidFill>
              </a:rPr>
              <a:t>500K+ US firms</a:t>
            </a:r>
            <a:endParaRPr lang="en-US" sz="1000" dirty="0"/>
          </a:p>
        </p:txBody>
      </p:sp>
      <p:sp>
        <p:nvSpPr>
          <p:cNvPr id="36" name="Shape 34"/>
          <p:cNvSpPr/>
          <p:nvPr/>
        </p:nvSpPr>
        <p:spPr>
          <a:xfrm>
            <a:off x="6355080" y="2834640"/>
            <a:ext cx="2468880" cy="27432"/>
          </a:xfrm>
          <a:prstGeom prst="rect">
            <a:avLst/>
          </a:prstGeom>
          <a:solidFill>
            <a:srgbClr val="CBD5E1"/>
          </a:solidFill>
          <a:ln w="12700">
            <a:solidFill>
              <a:srgbClr val="CBD5E1"/>
            </a:solidFill>
            <a:prstDash val="solid"/>
          </a:ln>
        </p:spPr>
      </p:sp>
      <p:sp>
        <p:nvSpPr>
          <p:cNvPr id="37" name="Text 35"/>
          <p:cNvSpPr/>
          <p:nvPr/>
        </p:nvSpPr>
        <p:spPr>
          <a:xfrm>
            <a:off x="6355080" y="2944368"/>
            <a:ext cx="2468880" cy="777240"/>
          </a:xfrm>
          <a:prstGeom prst="rect">
            <a:avLst/>
          </a:prstGeom>
          <a:noFill/>
          <a:ln/>
        </p:spPr>
        <p:txBody>
          <a:bodyPr wrap="square" lIns="0" tIns="0" rIns="0" bIns="0" rtlCol="0" anchor="ctr"/>
          <a:lstStyle/>
          <a:p>
            <a:pPr indent="0" marL="0">
              <a:buNone/>
            </a:pPr>
            <a:r>
              <a:rPr lang="en-US" sz="1000" i="1" dirty="0">
                <a:solidFill>
                  <a:srgbClr val="475569"/>
                </a:solidFill>
              </a:rPr>
              <a:t>Largest TAM. Referral OS for professional services. 3–5x revenue/seat.</a:t>
            </a:r>
            <a:endParaRPr lang="en-US" sz="1000" dirty="0"/>
          </a:p>
        </p:txBody>
      </p:sp>
      <p:sp>
        <p:nvSpPr>
          <p:cNvPr id="38" name="Shape 36"/>
          <p:cNvSpPr/>
          <p:nvPr/>
        </p:nvSpPr>
        <p:spPr>
          <a:xfrm>
            <a:off x="457200" y="4754880"/>
            <a:ext cx="8412480" cy="201168"/>
          </a:xfrm>
          <a:prstGeom prst="rect">
            <a:avLst/>
          </a:prstGeom>
          <a:solidFill>
            <a:srgbClr val="1B6CA8"/>
          </a:solidFill>
          <a:ln w="12700">
            <a:solidFill>
              <a:srgbClr val="1B6CA8"/>
            </a:solidFill>
            <a:prstDash val="solid"/>
          </a:ln>
        </p:spPr>
      </p:sp>
      <p:sp>
        <p:nvSpPr>
          <p:cNvPr id="39" name="Text 37"/>
          <p:cNvSpPr/>
          <p:nvPr/>
        </p:nvSpPr>
        <p:spPr>
          <a:xfrm>
            <a:off x="548640" y="4754880"/>
            <a:ext cx="8229600" cy="201168"/>
          </a:xfrm>
          <a:prstGeom prst="rect">
            <a:avLst/>
          </a:prstGeom>
          <a:noFill/>
          <a:ln/>
        </p:spPr>
        <p:txBody>
          <a:bodyPr wrap="square" lIns="0" tIns="0" rIns="0" bIns="0" rtlCol="0" anchor="ctr"/>
          <a:lstStyle/>
          <a:p>
            <a:pPr indent="0" marL="0">
              <a:buNone/>
            </a:pPr>
            <a:r>
              <a:rPr lang="en-US" sz="850" dirty="0">
                <a:solidFill>
                  <a:srgbClr val="FFFFFF"/>
                </a:solidFill>
              </a:rPr>
              <a:t>★  Profile B (Private Lenders) is the recommended beachhead — highest willingness to pay, supply-side engine for the whole graph.</a:t>
            </a:r>
            <a:endParaRPr lang="en-US" sz="850" dirty="0"/>
          </a:p>
        </p:txBody>
      </p:sp>
      <p:sp>
        <p:nvSpPr>
          <p:cNvPr id="40" name="Text 3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6 / 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THE SOLUTION</a:t>
            </a:r>
            <a:endParaRPr lang="en-US" sz="8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FFFFFF"/>
                </a:solidFill>
              </a:rPr>
              <a:t>From need to introduction in minutes, not days.</a:t>
            </a:r>
            <a:endParaRPr lang="en-US" sz="2800" dirty="0"/>
          </a:p>
        </p:txBody>
      </p:sp>
      <p:sp>
        <p:nvSpPr>
          <p:cNvPr id="5" name="Shape 3"/>
          <p:cNvSpPr/>
          <p:nvPr/>
        </p:nvSpPr>
        <p:spPr>
          <a:xfrm>
            <a:off x="320040" y="1234440"/>
            <a:ext cx="2011680" cy="3566160"/>
          </a:xfrm>
          <a:prstGeom prst="rect">
            <a:avLst/>
          </a:prstGeom>
          <a:solidFill>
            <a:srgbClr val="132237"/>
          </a:solidFill>
          <a:ln w="12700">
            <a:solidFill>
              <a:srgbClr val="1E3A5A"/>
            </a:solidFill>
            <a:prstDash val="solid"/>
          </a:ln>
        </p:spPr>
      </p:sp>
      <p:sp>
        <p:nvSpPr>
          <p:cNvPr id="6" name="Shape 4"/>
          <p:cNvSpPr/>
          <p:nvPr/>
        </p:nvSpPr>
        <p:spPr>
          <a:xfrm>
            <a:off x="1005840" y="1371600"/>
            <a:ext cx="640080" cy="640080"/>
          </a:xfrm>
          <a:prstGeom prst="oval">
            <a:avLst/>
          </a:prstGeom>
          <a:solidFill>
            <a:srgbClr val="1B6CA8"/>
          </a:solidFill>
          <a:ln w="12700">
            <a:solidFill>
              <a:srgbClr val="1B6CA8"/>
            </a:solidFill>
            <a:prstDash val="solid"/>
          </a:ln>
        </p:spPr>
      </p:sp>
      <p:sp>
        <p:nvSpPr>
          <p:cNvPr id="7" name="Text 5"/>
          <p:cNvSpPr/>
          <p:nvPr/>
        </p:nvSpPr>
        <p:spPr>
          <a:xfrm>
            <a:off x="1005840"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p:nvPr/>
        </p:nvSpPr>
        <p:spPr>
          <a:xfrm>
            <a:off x="411480" y="2148840"/>
            <a:ext cx="1828800" cy="411480"/>
          </a:xfrm>
          <a:prstGeom prst="rect">
            <a:avLst/>
          </a:prstGeom>
          <a:noFill/>
          <a:ln/>
        </p:spPr>
        <p:txBody>
          <a:bodyPr wrap="square" lIns="0" tIns="0" rIns="0" bIns="0" rtlCol="0" anchor="ctr"/>
          <a:lstStyle/>
          <a:p>
            <a:pPr algn="ctr" indent="0" marL="0">
              <a:buNone/>
            </a:pPr>
            <a:r>
              <a:rPr lang="en-US" sz="1300" b="1" dirty="0">
                <a:solidFill>
                  <a:srgbClr val="E8A020"/>
                </a:solidFill>
              </a:rPr>
              <a:t>Join &amp; Build</a:t>
            </a:r>
            <a:endParaRPr lang="en-US" sz="1300" dirty="0"/>
          </a:p>
        </p:txBody>
      </p:sp>
      <p:sp>
        <p:nvSpPr>
          <p:cNvPr id="9" name="Text 7"/>
          <p:cNvSpPr/>
          <p:nvPr/>
        </p:nvSpPr>
        <p:spPr>
          <a:xfrm>
            <a:off x="429768" y="2606040"/>
            <a:ext cx="1792224" cy="2011680"/>
          </a:xfrm>
          <a:prstGeom prst="rect">
            <a:avLst/>
          </a:prstGeom>
          <a:noFill/>
          <a:ln/>
        </p:spPr>
        <p:txBody>
          <a:bodyPr wrap="square" lIns="0" tIns="0" rIns="0" bIns="0" rtlCol="0" anchor="ctr"/>
          <a:lstStyle/>
          <a:p>
            <a:pPr indent="0" marL="0">
              <a:buNone/>
            </a:pPr>
            <a:r>
              <a:rPr lang="en-US" sz="1050" dirty="0">
                <a:solidFill>
                  <a:srgbClr val="A8BDD0"/>
                </a:solidFill>
              </a:rPr>
              <a:t>Invite-only. Import phone contacts. Structured profile tags: role, deal size, location, what you need, what you offer.</a:t>
            </a:r>
            <a:endParaRPr lang="en-US" sz="1050" dirty="0"/>
          </a:p>
        </p:txBody>
      </p:sp>
      <p:sp>
        <p:nvSpPr>
          <p:cNvPr id="10" name="Shape 8"/>
          <p:cNvSpPr/>
          <p:nvPr/>
        </p:nvSpPr>
        <p:spPr>
          <a:xfrm>
            <a:off x="2496312" y="1234440"/>
            <a:ext cx="2011680" cy="3566160"/>
          </a:xfrm>
          <a:prstGeom prst="rect">
            <a:avLst/>
          </a:prstGeom>
          <a:solidFill>
            <a:srgbClr val="132237"/>
          </a:solidFill>
          <a:ln w="12700">
            <a:solidFill>
              <a:srgbClr val="1E3A5A"/>
            </a:solidFill>
            <a:prstDash val="solid"/>
          </a:ln>
        </p:spPr>
      </p:sp>
      <p:sp>
        <p:nvSpPr>
          <p:cNvPr id="11" name="Shape 9"/>
          <p:cNvSpPr/>
          <p:nvPr/>
        </p:nvSpPr>
        <p:spPr>
          <a:xfrm>
            <a:off x="3182112" y="1371600"/>
            <a:ext cx="640080" cy="640080"/>
          </a:xfrm>
          <a:prstGeom prst="oval">
            <a:avLst/>
          </a:prstGeom>
          <a:solidFill>
            <a:srgbClr val="1B6CA8"/>
          </a:solidFill>
          <a:ln w="12700">
            <a:solidFill>
              <a:srgbClr val="1B6CA8"/>
            </a:solidFill>
            <a:prstDash val="solid"/>
          </a:ln>
        </p:spPr>
      </p:sp>
      <p:sp>
        <p:nvSpPr>
          <p:cNvPr id="12" name="Text 10"/>
          <p:cNvSpPr/>
          <p:nvPr/>
        </p:nvSpPr>
        <p:spPr>
          <a:xfrm>
            <a:off x="3182112"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p:nvPr/>
        </p:nvSpPr>
        <p:spPr>
          <a:xfrm>
            <a:off x="2587752" y="2148840"/>
            <a:ext cx="1828800" cy="411480"/>
          </a:xfrm>
          <a:prstGeom prst="rect">
            <a:avLst/>
          </a:prstGeom>
          <a:noFill/>
          <a:ln/>
        </p:spPr>
        <p:txBody>
          <a:bodyPr wrap="square" lIns="0" tIns="0" rIns="0" bIns="0" rtlCol="0" anchor="ctr"/>
          <a:lstStyle/>
          <a:p>
            <a:pPr algn="ctr" indent="0" marL="0">
              <a:buNone/>
            </a:pPr>
            <a:r>
              <a:rPr lang="en-US" sz="1300" b="1" dirty="0">
                <a:solidFill>
                  <a:srgbClr val="E8A020"/>
                </a:solidFill>
              </a:rPr>
              <a:t>Search in English</a:t>
            </a:r>
            <a:endParaRPr lang="en-US" sz="1300" dirty="0"/>
          </a:p>
        </p:txBody>
      </p:sp>
      <p:sp>
        <p:nvSpPr>
          <p:cNvPr id="14" name="Text 12"/>
          <p:cNvSpPr/>
          <p:nvPr/>
        </p:nvSpPr>
        <p:spPr>
          <a:xfrm>
            <a:off x="2606040" y="2606040"/>
            <a:ext cx="1792224" cy="2011680"/>
          </a:xfrm>
          <a:prstGeom prst="rect">
            <a:avLst/>
          </a:prstGeom>
          <a:noFill/>
          <a:ln/>
        </p:spPr>
        <p:txBody>
          <a:bodyPr wrap="square" lIns="0" tIns="0" rIns="0" bIns="0" rtlCol="0" anchor="ctr"/>
          <a:lstStyle/>
          <a:p>
            <a:pPr indent="0" marL="0">
              <a:buNone/>
            </a:pPr>
            <a:r>
              <a:rPr lang="en-US" sz="1050" dirty="0">
                <a:solidFill>
                  <a:srgbClr val="A8BDD0"/>
                </a:solidFill>
              </a:rPr>
              <a:t>"I need a private lender in Texas, $200K, 30 days." AI parses intent, searches 3-degree trust graph, ranks by warmth.</a:t>
            </a:r>
            <a:endParaRPr lang="en-US" sz="1050" dirty="0"/>
          </a:p>
        </p:txBody>
      </p:sp>
      <p:sp>
        <p:nvSpPr>
          <p:cNvPr id="15" name="Shape 13"/>
          <p:cNvSpPr/>
          <p:nvPr/>
        </p:nvSpPr>
        <p:spPr>
          <a:xfrm>
            <a:off x="4672584" y="1234440"/>
            <a:ext cx="2011680" cy="3566160"/>
          </a:xfrm>
          <a:prstGeom prst="rect">
            <a:avLst/>
          </a:prstGeom>
          <a:solidFill>
            <a:srgbClr val="132237"/>
          </a:solidFill>
          <a:ln w="12700">
            <a:solidFill>
              <a:srgbClr val="1E3A5A"/>
            </a:solidFill>
            <a:prstDash val="solid"/>
          </a:ln>
        </p:spPr>
      </p:sp>
      <p:sp>
        <p:nvSpPr>
          <p:cNvPr id="16" name="Shape 14"/>
          <p:cNvSpPr/>
          <p:nvPr/>
        </p:nvSpPr>
        <p:spPr>
          <a:xfrm>
            <a:off x="5358384" y="1371600"/>
            <a:ext cx="640080" cy="640080"/>
          </a:xfrm>
          <a:prstGeom prst="oval">
            <a:avLst/>
          </a:prstGeom>
          <a:solidFill>
            <a:srgbClr val="1B6CA8"/>
          </a:solidFill>
          <a:ln w="12700">
            <a:solidFill>
              <a:srgbClr val="1B6CA8"/>
            </a:solidFill>
            <a:prstDash val="solid"/>
          </a:ln>
        </p:spPr>
      </p:sp>
      <p:sp>
        <p:nvSpPr>
          <p:cNvPr id="17" name="Text 15"/>
          <p:cNvSpPr/>
          <p:nvPr/>
        </p:nvSpPr>
        <p:spPr>
          <a:xfrm>
            <a:off x="5358384"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6"/>
          <p:cNvSpPr/>
          <p:nvPr/>
        </p:nvSpPr>
        <p:spPr>
          <a:xfrm>
            <a:off x="4764024" y="2148840"/>
            <a:ext cx="1828800" cy="411480"/>
          </a:xfrm>
          <a:prstGeom prst="rect">
            <a:avLst/>
          </a:prstGeom>
          <a:noFill/>
          <a:ln/>
        </p:spPr>
        <p:txBody>
          <a:bodyPr wrap="square" lIns="0" tIns="0" rIns="0" bIns="0" rtlCol="0" anchor="ctr"/>
          <a:lstStyle/>
          <a:p>
            <a:pPr algn="ctr" indent="0" marL="0">
              <a:buNone/>
            </a:pPr>
            <a:r>
              <a:rPr lang="en-US" sz="1300" b="1" dirty="0">
                <a:solidFill>
                  <a:srgbClr val="E8A020"/>
                </a:solidFill>
              </a:rPr>
              <a:t>One-Tap Intro</a:t>
            </a:r>
            <a:endParaRPr lang="en-US" sz="1300" dirty="0"/>
          </a:p>
        </p:txBody>
      </p:sp>
      <p:sp>
        <p:nvSpPr>
          <p:cNvPr id="19" name="Text 17"/>
          <p:cNvSpPr/>
          <p:nvPr/>
        </p:nvSpPr>
        <p:spPr>
          <a:xfrm>
            <a:off x="4782312" y="2606040"/>
            <a:ext cx="1792224" cy="2011680"/>
          </a:xfrm>
          <a:prstGeom prst="rect">
            <a:avLst/>
          </a:prstGeom>
          <a:noFill/>
          <a:ln/>
        </p:spPr>
        <p:txBody>
          <a:bodyPr wrap="square" lIns="0" tIns="0" rIns="0" bIns="0" rtlCol="0" anchor="ctr"/>
          <a:lstStyle/>
          <a:p>
            <a:pPr indent="0" marL="0">
              <a:buNone/>
            </a:pPr>
            <a:r>
              <a:rPr lang="en-US" sz="1050" dirty="0">
                <a:solidFill>
                  <a:srgbClr val="A8BDD0"/>
                </a:solidFill>
              </a:rPr>
              <a:t>Push to intermediary: "Your contact needs a lender. Dave matches. Introduce them?" Mike taps yes. Dave gets the context. Done.</a:t>
            </a:r>
            <a:endParaRPr lang="en-US" sz="1050" dirty="0"/>
          </a:p>
        </p:txBody>
      </p:sp>
      <p:sp>
        <p:nvSpPr>
          <p:cNvPr id="20" name="Shape 18"/>
          <p:cNvSpPr/>
          <p:nvPr/>
        </p:nvSpPr>
        <p:spPr>
          <a:xfrm>
            <a:off x="6848856" y="1234440"/>
            <a:ext cx="2011680" cy="3566160"/>
          </a:xfrm>
          <a:prstGeom prst="rect">
            <a:avLst/>
          </a:prstGeom>
          <a:solidFill>
            <a:srgbClr val="132237"/>
          </a:solidFill>
          <a:ln w="12700">
            <a:solidFill>
              <a:srgbClr val="1E3A5A"/>
            </a:solidFill>
            <a:prstDash val="solid"/>
          </a:ln>
        </p:spPr>
      </p:sp>
      <p:sp>
        <p:nvSpPr>
          <p:cNvPr id="21" name="Shape 19"/>
          <p:cNvSpPr/>
          <p:nvPr/>
        </p:nvSpPr>
        <p:spPr>
          <a:xfrm>
            <a:off x="7534656" y="1371600"/>
            <a:ext cx="640080" cy="640080"/>
          </a:xfrm>
          <a:prstGeom prst="oval">
            <a:avLst/>
          </a:prstGeom>
          <a:solidFill>
            <a:srgbClr val="1B6CA8"/>
          </a:solidFill>
          <a:ln w="12700">
            <a:solidFill>
              <a:srgbClr val="1B6CA8"/>
            </a:solidFill>
            <a:prstDash val="solid"/>
          </a:ln>
        </p:spPr>
      </p:sp>
      <p:sp>
        <p:nvSpPr>
          <p:cNvPr id="22" name="Text 20"/>
          <p:cNvSpPr/>
          <p:nvPr/>
        </p:nvSpPr>
        <p:spPr>
          <a:xfrm>
            <a:off x="7534656"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1"/>
          <p:cNvSpPr/>
          <p:nvPr/>
        </p:nvSpPr>
        <p:spPr>
          <a:xfrm>
            <a:off x="6940296" y="2148840"/>
            <a:ext cx="1828800" cy="411480"/>
          </a:xfrm>
          <a:prstGeom prst="rect">
            <a:avLst/>
          </a:prstGeom>
          <a:noFill/>
          <a:ln/>
        </p:spPr>
        <p:txBody>
          <a:bodyPr wrap="square" lIns="0" tIns="0" rIns="0" bIns="0" rtlCol="0" anchor="ctr"/>
          <a:lstStyle/>
          <a:p>
            <a:pPr algn="ctr" indent="0" marL="0">
              <a:buNone/>
            </a:pPr>
            <a:r>
              <a:rPr lang="en-US" sz="1300" b="1" dirty="0">
                <a:solidFill>
                  <a:srgbClr val="E8A020"/>
                </a:solidFill>
              </a:rPr>
              <a:t>Reputation Builds</a:t>
            </a:r>
            <a:endParaRPr lang="en-US" sz="1300" dirty="0"/>
          </a:p>
        </p:txBody>
      </p:sp>
      <p:sp>
        <p:nvSpPr>
          <p:cNvPr id="24" name="Text 22"/>
          <p:cNvSpPr/>
          <p:nvPr/>
        </p:nvSpPr>
        <p:spPr>
          <a:xfrm>
            <a:off x="6958584" y="2606040"/>
            <a:ext cx="1792224" cy="2011680"/>
          </a:xfrm>
          <a:prstGeom prst="rect">
            <a:avLst/>
          </a:prstGeom>
          <a:noFill/>
          <a:ln/>
        </p:spPr>
        <p:txBody>
          <a:bodyPr wrap="square" lIns="0" tIns="0" rIns="0" bIns="0" rtlCol="0" anchor="ctr"/>
          <a:lstStyle/>
          <a:p>
            <a:pPr indent="0" marL="0">
              <a:buNone/>
            </a:pPr>
            <a:r>
              <a:rPr lang="en-US" sz="1050" dirty="0">
                <a:solidFill>
                  <a:srgbClr val="A8BDD0"/>
                </a:solidFill>
              </a:rPr>
              <a:t>Both sides rate the connection. Great connectors become high-value nodes. Their future intros get prioritized automatically.</a:t>
            </a:r>
            <a:endParaRPr lang="en-US" sz="1050" dirty="0"/>
          </a:p>
        </p:txBody>
      </p:sp>
      <p:sp>
        <p:nvSpPr>
          <p:cNvPr id="25" name="Text 2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7 / 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5 — THE WEAPON</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D1B2A"/>
                </a:solidFill>
              </a:rPr>
              <a:t>Every row where competitors score zero is a moat.</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412480" cy="914400"/>
        </p:xfrm>
        <a:graphic>
          <a:graphicData uri="http://schemas.openxmlformats.org/drawingml/2006/table">
            <a:tbl>
              <a:tblPr/>
              <a:tblGrid>
                <a:gridCol w="2286000"/>
                <a:gridCol w="1188720"/>
                <a:gridCol w="1188720"/>
                <a:gridCol w="1325880"/>
                <a:gridCol w="914400"/>
                <a:gridCol w="1325880"/>
              </a:tblGrid>
              <a:tr h="0">
                <a:tc>
                  <a:txBody>
                    <a:bodyPr/>
                    <a:lstStyle/>
                    <a:p>
                      <a:pPr algn="ctr" indent="0" marL="0">
                        <a:buNone/>
                      </a:pPr>
                      <a:r>
                        <a:rPr lang="en-US" sz="1000" b="1" dirty="0">
                          <a:solidFill>
                            <a:srgbClr val="FFFFFF"/>
                          </a:solidFill>
                        </a:rPr>
                        <a:t>Feature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1000" b="1" dirty="0">
                          <a:solidFill>
                            <a:srgbClr val="FFFFFF"/>
                          </a:solidFill>
                        </a:rPr>
                        <a:t>LinkedIn Nav</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1000" b="1" dirty="0">
                          <a:solidFill>
                            <a:srgbClr val="FFFFFF"/>
                          </a:solidFill>
                        </a:rPr>
                        <a:t>The Swarm</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1000" b="1" dirty="0">
                          <a:solidFill>
                            <a:srgbClr val="FFFFFF"/>
                          </a:solidFill>
                        </a:rPr>
                        <a:t>WarmIntro.net</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1000" b="1" dirty="0">
                          <a:solidFill>
                            <a:srgbClr val="FFFFFF"/>
                          </a:solidFill>
                        </a:rPr>
                        <a:t>Clay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1000" b="1" dirty="0">
                          <a:solidFill>
                            <a:srgbClr val="FFFFFF"/>
                          </a:solidFill>
                        </a:rPr>
                        <a:t>WarmPath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B6CA8"/>
                    </a:solidFill>
                  </a:tcPr>
                </a:tc>
              </a:tr>
              <a:tr h="0">
                <a:tc>
                  <a:txBody>
                    <a:bodyPr/>
                    <a:lstStyle/>
                    <a:p>
                      <a:pPr algn="ctr" indent="0" marL="0">
                        <a:buNone/>
                      </a:pPr>
                      <a:r>
                        <a:rPr lang="en-US" sz="1050" dirty="0">
                          <a:solidFill>
                            <a:srgbClr val="16A34A"/>
                          </a:solidFill>
                        </a:rPr>
                        <a:t>Consumer mobile app</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Real trust graph (contacts)</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AI natural language search</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dirty="0">
                          <a:solidFill>
                            <a:srgbClr val="16A34A"/>
                          </a:solidFill>
                        </a:rPr>
                        <a:t>Partial</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Auto-drafted intro messages</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Double opt-in intro flow</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dirty="0">
                          <a:solidFill>
                            <a:srgbClr val="16A34A"/>
                          </a:solidFill>
                        </a:rPr>
                        <a:t>Partial</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Reputation / trust score</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Network gap detection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r h="0">
                <a:tc>
                  <a:txBody>
                    <a:bodyPr/>
                    <a:lstStyle/>
                    <a:p>
                      <a:pPr algn="ctr" indent="0" marL="0">
                        <a:buNone/>
                      </a:pPr>
                      <a:r>
                        <a:rPr lang="en-US" sz="1050" dirty="0">
                          <a:solidFill>
                            <a:srgbClr val="16A34A"/>
                          </a:solidFill>
                        </a:rPr>
                        <a:t>Real estate deal-makers</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dirty="0">
                          <a:solidFill>
                            <a:srgbClr val="16A34A"/>
                          </a:solidFill>
                        </a:rPr>
                        <a:t>Partial</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0FFF4"/>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DC2626"/>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FEF2F2"/>
                    </a:solidFill>
                  </a:tcPr>
                </a:tc>
                <a:tc>
                  <a:txBody>
                    <a:bodyPr/>
                    <a:lstStyle/>
                    <a:p>
                      <a:pPr algn="ctr" indent="0" marL="0">
                        <a:buNone/>
                      </a:pPr>
                      <a:r>
                        <a:rPr lang="en-US" sz="1050" b="1" dirty="0">
                          <a:solidFill>
                            <a:srgbClr val="16A34A"/>
                          </a:solidFill>
                        </a:rPr>
                        <a: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bl>
          </a:graphicData>
        </a:graphic>
      </p:graphicFrame>
      <p:sp>
        <p:nvSpPr>
          <p:cNvPr id="6" name="Text 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8 / 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5 — TECHNICAL ARCHITECTURE</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rPr>
              <a:t>Built on the stack your team already ships.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412480" cy="914400"/>
        </p:xfrm>
        <a:graphic>
          <a:graphicData uri="http://schemas.openxmlformats.org/drawingml/2006/table">
            <a:tbl>
              <a:tblPr/>
              <a:tblGrid>
                <a:gridCol w="1645920"/>
                <a:gridCol w="2743200"/>
                <a:gridCol w="4023360"/>
              </a:tblGrid>
              <a:tr h="0">
                <a:tc>
                  <a:txBody>
                    <a:bodyPr/>
                    <a:lstStyle/>
                    <a:p>
                      <a:pPr indent="0" marL="0">
                        <a:buNone/>
                      </a:pPr>
                      <a:r>
                        <a:rPr lang="en-US" sz="1000" b="1" dirty="0">
                          <a:solidFill>
                            <a:srgbClr val="FFFFFF"/>
                          </a:solidFill>
                        </a:rPr>
                        <a:t>Layer</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B6CA8"/>
                    </a:solidFill>
                  </a:tcPr>
                </a:tc>
                <a:tc>
                  <a:txBody>
                    <a:bodyPr/>
                    <a:lstStyle/>
                    <a:p>
                      <a:pPr indent="0" marL="0">
                        <a:buNone/>
                      </a:pPr>
                      <a:r>
                        <a:rPr lang="en-US" sz="1000" b="1" dirty="0">
                          <a:solidFill>
                            <a:srgbClr val="FFFFFF"/>
                          </a:solidFill>
                        </a:rPr>
                        <a:t>Technology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B6CA8"/>
                    </a:solidFill>
                  </a:tcPr>
                </a:tc>
                <a:tc>
                  <a:txBody>
                    <a:bodyPr/>
                    <a:lstStyle/>
                    <a:p>
                      <a:pPr indent="0" marL="0">
                        <a:buNone/>
                      </a:pPr>
                      <a:r>
                        <a:rPr lang="en-US" sz="1000" b="1" dirty="0">
                          <a:solidFill>
                            <a:srgbClr val="FFFFFF"/>
                          </a:solidFill>
                        </a:rPr>
                        <a:t>Why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B6CA8"/>
                    </a:solidFill>
                  </a:tcPr>
                </a:tc>
              </a:tr>
              <a:tr h="0">
                <a:tc>
                  <a:txBody>
                    <a:bodyPr/>
                    <a:lstStyle/>
                    <a:p>
                      <a:pPr indent="0" marL="0">
                        <a:buNone/>
                      </a:pPr>
                      <a:r>
                        <a:rPr lang="en-US" sz="1000" b="1" dirty="0">
                          <a:solidFill>
                            <a:srgbClr val="E8A020"/>
                          </a:solidFill>
                        </a:rPr>
                        <a:t>Mobile App</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dirty="0">
                          <a:solidFill>
                            <a:srgbClr val="FFFFFF"/>
                          </a:solidFill>
                        </a:rPr>
                        <a:t>React Native (Expo)</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dirty="0">
                          <a:solidFill>
                            <a:srgbClr val="A8BDD0"/>
                          </a:solidFill>
                        </a:rPr>
                        <a:t>Cross-platform, fast iteration, team expertise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E8A020"/>
                          </a:solidFill>
                        </a:rPr>
                        <a:t>Backend / Auth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1000" dirty="0">
                          <a:solidFill>
                            <a:srgbClr val="FFFFFF"/>
                          </a:solidFill>
                        </a:rPr>
                        <a:t>Supabase (Postgres + Edge Functions)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1000" dirty="0">
                          <a:solidFill>
                            <a:srgbClr val="A8BDD0"/>
                          </a:solidFill>
                        </a:rPr>
                        <a:t>Row-level security, rapid dev, real-time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r h="0">
                <a:tc>
                  <a:txBody>
                    <a:bodyPr/>
                    <a:lstStyle/>
                    <a:p>
                      <a:pPr indent="0" marL="0">
                        <a:buNone/>
                      </a:pPr>
                      <a:r>
                        <a:rPr lang="en-US" sz="1000" b="1" dirty="0">
                          <a:solidFill>
                            <a:srgbClr val="E8A020"/>
                          </a:solidFill>
                        </a:rPr>
                        <a:t>Graph Engine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dirty="0">
                          <a:solidFill>
                            <a:srgbClr val="FFFFFF"/>
                          </a:solidFill>
                        </a:rPr>
                        <a:t>Neo4j or Supabase recursive CTEs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dirty="0">
                          <a:solidFill>
                            <a:srgbClr val="A8BDD0"/>
                          </a:solidFill>
                        </a:rPr>
                        <a:t>Trust-path traversal at 100K+ nodes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E8A020"/>
                          </a:solidFill>
                        </a:rPr>
                        <a:t>AI Agent</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1000" dirty="0">
                          <a:solidFill>
                            <a:srgbClr val="FFFFFF"/>
                          </a:solidFill>
                        </a:rPr>
                        <a:t>Claude API (Anthropic)</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1000" dirty="0">
                          <a:solidFill>
                            <a:srgbClr val="A8BDD0"/>
                          </a:solidFill>
                        </a:rPr>
                        <a:t>Natural language search, contextual intro drafting</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r h="0">
                <a:tc>
                  <a:txBody>
                    <a:bodyPr/>
                    <a:lstStyle/>
                    <a:p>
                      <a:pPr indent="0" marL="0">
                        <a:buNone/>
                      </a:pPr>
                      <a:r>
                        <a:rPr lang="en-US" sz="1000" b="1" dirty="0">
                          <a:solidFill>
                            <a:srgbClr val="E8A020"/>
                          </a:solidFill>
                        </a:rPr>
                        <a:t>Notifications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dirty="0">
                          <a:solidFill>
                            <a:srgbClr val="FFFFFF"/>
                          </a:solidFill>
                        </a:rPr>
                        <a:t>Expo Push + FCM/APNs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dirty="0">
                          <a:solidFill>
                            <a:srgbClr val="A8BDD0"/>
                          </a:solidFill>
                        </a:rPr>
                        <a:t>Real-time double opt-in flow</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E8A020"/>
                          </a:solidFill>
                        </a:rPr>
                        <a:t>Contact Import</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1000" dirty="0">
                          <a:solidFill>
                            <a:srgbClr val="FFFFFF"/>
                          </a:solidFill>
                        </a:rPr>
                        <a:t>Native Phone Contacts (hashed)</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1000" dirty="0">
                          <a:solidFill>
                            <a:srgbClr val="A8BDD0"/>
                          </a:solidFill>
                        </a:rPr>
                        <a:t>Signal/WhatsApp privacy model — raw numbers never stored</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bl>
          </a:graphicData>
        </a:graphic>
      </p:graphicFrame>
      <p:sp>
        <p:nvSpPr>
          <p:cNvPr id="6" name="Text 3"/>
          <p:cNvSpPr/>
          <p:nvPr/>
        </p:nvSpPr>
        <p:spPr>
          <a:xfrm>
            <a:off x="457200" y="4434840"/>
            <a:ext cx="8412480" cy="457200"/>
          </a:xfrm>
          <a:prstGeom prst="rect">
            <a:avLst/>
          </a:prstGeom>
          <a:noFill/>
          <a:ln/>
        </p:spPr>
        <p:txBody>
          <a:bodyPr wrap="square" lIns="0" tIns="0" rIns="0" bIns="0" rtlCol="0" anchor="ctr"/>
          <a:lstStyle/>
          <a:p>
            <a:pPr indent="0" marL="0">
              <a:buNone/>
            </a:pPr>
            <a:r>
              <a:rPr lang="en-US" sz="1100" i="1" dirty="0">
                <a:solidFill>
                  <a:srgbClr val="88A0B8"/>
                </a:solidFill>
              </a:rPr>
              <a:t>The core technical insight: graph traversal at scale (Dijkstra / BFS with trust-weighted edges) finds the warmest intro path — not just the shortest.</a:t>
            </a:r>
            <a:endParaRPr lang="en-US" sz="1100" dirty="0"/>
          </a:p>
        </p:txBody>
      </p:sp>
      <p:sp>
        <p:nvSpPr>
          <p:cNvPr id="7" name="Text 4"/>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9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4 — THE GROWTH ENGINE</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0D1B2A"/>
                </a:solidFill>
              </a:rPr>
              <a:t>The flywheel nobody else can replicate.</a:t>
            </a:r>
            <a:endParaRPr lang="en-US" sz="2800" dirty="0"/>
          </a:p>
        </p:txBody>
      </p:sp>
      <p:sp>
        <p:nvSpPr>
          <p:cNvPr id="5" name="Shape 3"/>
          <p:cNvSpPr/>
          <p:nvPr/>
        </p:nvSpPr>
        <p:spPr>
          <a:xfrm>
            <a:off x="457200" y="1097280"/>
            <a:ext cx="5212080" cy="1097280"/>
          </a:xfrm>
          <a:prstGeom prst="rect">
            <a:avLst/>
          </a:prstGeom>
          <a:solidFill>
            <a:srgbClr val="0D1B2A"/>
          </a:solidFill>
          <a:ln w="12700">
            <a:solidFill>
              <a:srgbClr val="0D1B2A"/>
            </a:solidFill>
            <a:prstDash val="solid"/>
          </a:ln>
        </p:spPr>
      </p:sp>
      <p:sp>
        <p:nvSpPr>
          <p:cNvPr id="6" name="Text 4"/>
          <p:cNvSpPr/>
          <p:nvPr/>
        </p:nvSpPr>
        <p:spPr>
          <a:xfrm>
            <a:off x="594360" y="1143000"/>
            <a:ext cx="4937760" cy="320040"/>
          </a:xfrm>
          <a:prstGeom prst="rect">
            <a:avLst/>
          </a:prstGeom>
          <a:noFill/>
          <a:ln/>
        </p:spPr>
        <p:txBody>
          <a:bodyPr wrap="square" lIns="0" tIns="0" rIns="0" bIns="0" rtlCol="0" anchor="ctr"/>
          <a:lstStyle/>
          <a:p>
            <a:pPr indent="0" marL="0">
              <a:buNone/>
            </a:pPr>
            <a:r>
              <a:rPr lang="en-US" sz="1300" b="1" dirty="0">
                <a:solidFill>
                  <a:srgbClr val="E8A020"/>
                </a:solidFill>
              </a:rPr>
              <a:t>The Flywheel</a:t>
            </a:r>
            <a:endParaRPr lang="en-US" sz="1300" dirty="0"/>
          </a:p>
        </p:txBody>
      </p:sp>
      <p:sp>
        <p:nvSpPr>
          <p:cNvPr id="7" name="Text 5"/>
          <p:cNvSpPr/>
          <p:nvPr/>
        </p:nvSpPr>
        <p:spPr>
          <a:xfrm>
            <a:off x="594360" y="1463040"/>
            <a:ext cx="4937760" cy="594360"/>
          </a:xfrm>
          <a:prstGeom prst="rect">
            <a:avLst/>
          </a:prstGeom>
          <a:noFill/>
          <a:ln/>
        </p:spPr>
        <p:txBody>
          <a:bodyPr wrap="square" lIns="0" tIns="0" rIns="0" bIns="0" rtlCol="0" anchor="ctr"/>
          <a:lstStyle/>
          <a:p>
            <a:pPr indent="0" marL="0">
              <a:buNone/>
            </a:pPr>
            <a:r>
              <a:rPr lang="en-US" sz="1100" dirty="0">
                <a:solidFill>
                  <a:srgbClr val="CBD5E1"/>
                </a:solidFill>
              </a:rPr>
              <a:t>More lenders → better borrower matches → more deals closed → more flippers join → more lenders join → CAC drops every month.</a:t>
            </a:r>
            <a:endParaRPr lang="en-US" sz="1100" dirty="0"/>
          </a:p>
        </p:txBody>
      </p:sp>
      <p:sp>
        <p:nvSpPr>
          <p:cNvPr id="8" name="Shape 6"/>
          <p:cNvSpPr/>
          <p:nvPr/>
        </p:nvSpPr>
        <p:spPr>
          <a:xfrm>
            <a:off x="457200" y="2377440"/>
            <a:ext cx="4114800" cy="11430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457200" y="2377440"/>
            <a:ext cx="4114800" cy="36576"/>
          </a:xfrm>
          <a:prstGeom prst="rect">
            <a:avLst/>
          </a:prstGeom>
          <a:solidFill>
            <a:srgbClr val="1B6CA8"/>
          </a:solidFill>
          <a:ln w="12700">
            <a:solidFill>
              <a:srgbClr val="1B6CA8"/>
            </a:solidFill>
            <a:prstDash val="solid"/>
          </a:ln>
        </p:spPr>
      </p:sp>
      <p:sp>
        <p:nvSpPr>
          <p:cNvPr id="10" name="Text 8"/>
          <p:cNvSpPr/>
          <p:nvPr/>
        </p:nvSpPr>
        <p:spPr>
          <a:xfrm>
            <a:off x="594360" y="2468880"/>
            <a:ext cx="3840480" cy="320040"/>
          </a:xfrm>
          <a:prstGeom prst="rect">
            <a:avLst/>
          </a:prstGeom>
          <a:noFill/>
          <a:ln/>
        </p:spPr>
        <p:txBody>
          <a:bodyPr wrap="square" lIns="0" tIns="0" rIns="0" bIns="0" rtlCol="0" anchor="ctr"/>
          <a:lstStyle/>
          <a:p>
            <a:pPr indent="0" marL="0">
              <a:buNone/>
            </a:pPr>
            <a:r>
              <a:rPr lang="en-US" sz="1200" b="1" dirty="0">
                <a:solidFill>
                  <a:srgbClr val="0D1B2A"/>
                </a:solidFill>
              </a:rPr>
              <a:t>Unfair Advantage</a:t>
            </a:r>
            <a:endParaRPr lang="en-US" sz="1200" dirty="0"/>
          </a:p>
        </p:txBody>
      </p:sp>
      <p:sp>
        <p:nvSpPr>
          <p:cNvPr id="11" name="Text 9"/>
          <p:cNvSpPr/>
          <p:nvPr/>
        </p:nvSpPr>
        <p:spPr>
          <a:xfrm>
            <a:off x="594360" y="2816352"/>
            <a:ext cx="3840480" cy="658368"/>
          </a:xfrm>
          <a:prstGeom prst="rect">
            <a:avLst/>
          </a:prstGeom>
          <a:noFill/>
          <a:ln/>
        </p:spPr>
        <p:txBody>
          <a:bodyPr wrap="square" lIns="0" tIns="0" rIns="0" bIns="0" rtlCol="0" anchor="ctr"/>
          <a:lstStyle/>
          <a:p>
            <a:pPr indent="0" marL="0">
              <a:buNone/>
            </a:pPr>
            <a:r>
              <a:rPr lang="en-US" sz="1050" dirty="0">
                <a:solidFill>
                  <a:srgbClr val="475569"/>
                </a:solidFill>
              </a:rPr>
              <a:t>Invite-only phone-contact graph. You cannot buy your way into this network. It must be grown node by node from real relationships. Competitors start from zero.</a:t>
            </a:r>
            <a:endParaRPr lang="en-US" sz="1050" dirty="0"/>
          </a:p>
        </p:txBody>
      </p:sp>
      <p:sp>
        <p:nvSpPr>
          <p:cNvPr id="12" name="Shape 10"/>
          <p:cNvSpPr/>
          <p:nvPr/>
        </p:nvSpPr>
        <p:spPr>
          <a:xfrm>
            <a:off x="4846320" y="2377440"/>
            <a:ext cx="4114800" cy="11430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3" name="Shape 11"/>
          <p:cNvSpPr/>
          <p:nvPr/>
        </p:nvSpPr>
        <p:spPr>
          <a:xfrm>
            <a:off x="4846320" y="2377440"/>
            <a:ext cx="4114800" cy="36576"/>
          </a:xfrm>
          <a:prstGeom prst="rect">
            <a:avLst/>
          </a:prstGeom>
          <a:solidFill>
            <a:srgbClr val="1B6CA8"/>
          </a:solidFill>
          <a:ln w="12700">
            <a:solidFill>
              <a:srgbClr val="1B6CA8"/>
            </a:solidFill>
            <a:prstDash val="solid"/>
          </a:ln>
        </p:spPr>
      </p:sp>
      <p:sp>
        <p:nvSpPr>
          <p:cNvPr id="14" name="Text 12"/>
          <p:cNvSpPr/>
          <p:nvPr/>
        </p:nvSpPr>
        <p:spPr>
          <a:xfrm>
            <a:off x="4983480" y="2468880"/>
            <a:ext cx="3840480" cy="320040"/>
          </a:xfrm>
          <a:prstGeom prst="rect">
            <a:avLst/>
          </a:prstGeom>
          <a:noFill/>
          <a:ln/>
        </p:spPr>
        <p:txBody>
          <a:bodyPr wrap="square" lIns="0" tIns="0" rIns="0" bIns="0" rtlCol="0" anchor="ctr"/>
          <a:lstStyle/>
          <a:p>
            <a:pPr indent="0" marL="0">
              <a:buNone/>
            </a:pPr>
            <a:r>
              <a:rPr lang="en-US" sz="1200" b="1" dirty="0">
                <a:solidFill>
                  <a:srgbClr val="0D1B2A"/>
                </a:solidFill>
              </a:rPr>
              <a:t>Supply-First (Like Airbnb)</a:t>
            </a:r>
            <a:endParaRPr lang="en-US" sz="1200" dirty="0"/>
          </a:p>
        </p:txBody>
      </p:sp>
      <p:sp>
        <p:nvSpPr>
          <p:cNvPr id="15" name="Text 13"/>
          <p:cNvSpPr/>
          <p:nvPr/>
        </p:nvSpPr>
        <p:spPr>
          <a:xfrm>
            <a:off x="4983480" y="2816352"/>
            <a:ext cx="3840480" cy="658368"/>
          </a:xfrm>
          <a:prstGeom prst="rect">
            <a:avLst/>
          </a:prstGeom>
          <a:noFill/>
          <a:ln/>
        </p:spPr>
        <p:txBody>
          <a:bodyPr wrap="square" lIns="0" tIns="0" rIns="0" bIns="0" rtlCol="0" anchor="ctr"/>
          <a:lstStyle/>
          <a:p>
            <a:pPr indent="0" marL="0">
              <a:buNone/>
            </a:pPr>
            <a:r>
              <a:rPr lang="en-US" sz="1050" dirty="0">
                <a:solidFill>
                  <a:srgbClr val="475569"/>
                </a:solidFill>
              </a:rPr>
              <a:t>Onboard lenders first. One lender with $5M deployed = 25–40 potential borrower matches. Supply makes demand inevitable.</a:t>
            </a:r>
            <a:endParaRPr lang="en-US" sz="1050" dirty="0"/>
          </a:p>
        </p:txBody>
      </p:sp>
      <p:sp>
        <p:nvSpPr>
          <p:cNvPr id="16" name="Shape 14"/>
          <p:cNvSpPr/>
          <p:nvPr/>
        </p:nvSpPr>
        <p:spPr>
          <a:xfrm>
            <a:off x="457200" y="3703320"/>
            <a:ext cx="4114800" cy="11430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457200" y="3703320"/>
            <a:ext cx="4114800" cy="36576"/>
          </a:xfrm>
          <a:prstGeom prst="rect">
            <a:avLst/>
          </a:prstGeom>
          <a:solidFill>
            <a:srgbClr val="1B6CA8"/>
          </a:solidFill>
          <a:ln w="12700">
            <a:solidFill>
              <a:srgbClr val="1B6CA8"/>
            </a:solidFill>
            <a:prstDash val="solid"/>
          </a:ln>
        </p:spPr>
      </p:sp>
      <p:sp>
        <p:nvSpPr>
          <p:cNvPr id="18" name="Text 16"/>
          <p:cNvSpPr/>
          <p:nvPr/>
        </p:nvSpPr>
        <p:spPr>
          <a:xfrm>
            <a:off x="594360" y="3794760"/>
            <a:ext cx="3840480" cy="320040"/>
          </a:xfrm>
          <a:prstGeom prst="rect">
            <a:avLst/>
          </a:prstGeom>
          <a:noFill/>
          <a:ln/>
        </p:spPr>
        <p:txBody>
          <a:bodyPr wrap="square" lIns="0" tIns="0" rIns="0" bIns="0" rtlCol="0" anchor="ctr"/>
          <a:lstStyle/>
          <a:p>
            <a:pPr indent="0" marL="0">
              <a:buNone/>
            </a:pPr>
            <a:r>
              <a:rPr lang="en-US" sz="1200" b="1" dirty="0">
                <a:solidFill>
                  <a:srgbClr val="0D1B2A"/>
                </a:solidFill>
              </a:rPr>
              <a:t>Acquisition: Zero Cold Outreach</a:t>
            </a:r>
            <a:endParaRPr lang="en-US" sz="1200" dirty="0"/>
          </a:p>
        </p:txBody>
      </p:sp>
      <p:sp>
        <p:nvSpPr>
          <p:cNvPr id="19" name="Text 17"/>
          <p:cNvSpPr/>
          <p:nvPr/>
        </p:nvSpPr>
        <p:spPr>
          <a:xfrm>
            <a:off x="594360" y="4142232"/>
            <a:ext cx="3840480" cy="658368"/>
          </a:xfrm>
          <a:prstGeom prst="rect">
            <a:avLst/>
          </a:prstGeom>
          <a:noFill/>
          <a:ln/>
        </p:spPr>
        <p:txBody>
          <a:bodyPr wrap="square" lIns="0" tIns="0" rIns="0" bIns="0" rtlCol="0" anchor="ctr"/>
          <a:lstStyle/>
          <a:p>
            <a:pPr indent="0" marL="0">
              <a:buNone/>
            </a:pPr>
            <a:r>
              <a:rPr lang="en-US" sz="1050" dirty="0">
                <a:solidFill>
                  <a:srgbClr val="475569"/>
                </a:solidFill>
              </a:rPr>
              <a:t>Founder's existing network seeds 500–1,000 users. Each user invites 10–20 contacts. Network gap detection drives organic invite loops.</a:t>
            </a:r>
            <a:endParaRPr lang="en-US" sz="1050" dirty="0"/>
          </a:p>
        </p:txBody>
      </p:sp>
      <p:sp>
        <p:nvSpPr>
          <p:cNvPr id="20" name="Shape 18"/>
          <p:cNvSpPr/>
          <p:nvPr/>
        </p:nvSpPr>
        <p:spPr>
          <a:xfrm>
            <a:off x="4846320" y="3703320"/>
            <a:ext cx="4114800" cy="11430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21" name="Shape 19"/>
          <p:cNvSpPr/>
          <p:nvPr/>
        </p:nvSpPr>
        <p:spPr>
          <a:xfrm>
            <a:off x="4846320" y="3703320"/>
            <a:ext cx="4114800" cy="36576"/>
          </a:xfrm>
          <a:prstGeom prst="rect">
            <a:avLst/>
          </a:prstGeom>
          <a:solidFill>
            <a:srgbClr val="1B6CA8"/>
          </a:solidFill>
          <a:ln w="12700">
            <a:solidFill>
              <a:srgbClr val="1B6CA8"/>
            </a:solidFill>
            <a:prstDash val="solid"/>
          </a:ln>
        </p:spPr>
      </p:sp>
      <p:sp>
        <p:nvSpPr>
          <p:cNvPr id="22" name="Text 20"/>
          <p:cNvSpPr/>
          <p:nvPr/>
        </p:nvSpPr>
        <p:spPr>
          <a:xfrm>
            <a:off x="4983480" y="3794760"/>
            <a:ext cx="3840480" cy="320040"/>
          </a:xfrm>
          <a:prstGeom prst="rect">
            <a:avLst/>
          </a:prstGeom>
          <a:noFill/>
          <a:ln/>
        </p:spPr>
        <p:txBody>
          <a:bodyPr wrap="square" lIns="0" tIns="0" rIns="0" bIns="0" rtlCol="0" anchor="ctr"/>
          <a:lstStyle/>
          <a:p>
            <a:pPr indent="0" marL="0">
              <a:buNone/>
            </a:pPr>
            <a:r>
              <a:rPr lang="en-US" sz="1200" b="1" dirty="0">
                <a:solidFill>
                  <a:srgbClr val="0D1B2A"/>
                </a:solidFill>
              </a:rPr>
              <a:t>The Moat at Month 12</a:t>
            </a:r>
            <a:endParaRPr lang="en-US" sz="1200" dirty="0"/>
          </a:p>
        </p:txBody>
      </p:sp>
      <p:sp>
        <p:nvSpPr>
          <p:cNvPr id="23" name="Text 21"/>
          <p:cNvSpPr/>
          <p:nvPr/>
        </p:nvSpPr>
        <p:spPr>
          <a:xfrm>
            <a:off x="4983480" y="4142232"/>
            <a:ext cx="3840480" cy="658368"/>
          </a:xfrm>
          <a:prstGeom prst="rect">
            <a:avLst/>
          </a:prstGeom>
          <a:noFill/>
          <a:ln/>
        </p:spPr>
        <p:txBody>
          <a:bodyPr wrap="square" lIns="0" tIns="0" rIns="0" bIns="0" rtlCol="0" anchor="ctr"/>
          <a:lstStyle/>
          <a:p>
            <a:pPr indent="0" marL="0">
              <a:buNone/>
            </a:pPr>
            <a:r>
              <a:rPr lang="en-US" sz="1050" dirty="0">
                <a:solidFill>
                  <a:srgbClr val="475569"/>
                </a:solidFill>
              </a:rPr>
              <a:t>100K trust-weighted relationships + reputation scores + anonymized deal outcome data. Impossible to reconstruct. Every new user deepens it.</a:t>
            </a:r>
            <a:endParaRPr lang="en-US" sz="1050" dirty="0"/>
          </a:p>
        </p:txBody>
      </p:sp>
      <p:sp>
        <p:nvSpPr>
          <p:cNvPr id="24" name="Text 22"/>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10 / 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6 — ROADMAP</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FFFFFF"/>
                </a:solidFill>
              </a:rPr>
              <a:t>Three phases. Each one earns the next.</a:t>
            </a:r>
            <a:endParaRPr lang="en-US" sz="2800" dirty="0"/>
          </a:p>
        </p:txBody>
      </p:sp>
      <p:sp>
        <p:nvSpPr>
          <p:cNvPr id="5" name="Shape 3"/>
          <p:cNvSpPr/>
          <p:nvPr/>
        </p:nvSpPr>
        <p:spPr>
          <a:xfrm>
            <a:off x="365760" y="1143000"/>
            <a:ext cx="2743200" cy="3703320"/>
          </a:xfrm>
          <a:prstGeom prst="rect">
            <a:avLst/>
          </a:prstGeom>
          <a:solidFill>
            <a:srgbClr val="132237"/>
          </a:solidFill>
          <a:ln w="12700">
            <a:solidFill>
              <a:srgbClr val="1E3A5A"/>
            </a:solidFill>
            <a:prstDash val="solid"/>
          </a:ln>
        </p:spPr>
      </p:sp>
      <p:sp>
        <p:nvSpPr>
          <p:cNvPr id="6" name="Shape 4"/>
          <p:cNvSpPr/>
          <p:nvPr/>
        </p:nvSpPr>
        <p:spPr>
          <a:xfrm>
            <a:off x="365760" y="1143000"/>
            <a:ext cx="2743200" cy="457200"/>
          </a:xfrm>
          <a:prstGeom prst="rect">
            <a:avLst/>
          </a:prstGeom>
          <a:solidFill>
            <a:srgbClr val="1B6CA8"/>
          </a:solidFill>
          <a:ln w="12700">
            <a:solidFill>
              <a:srgbClr val="1B6CA8"/>
            </a:solidFill>
            <a:prstDash val="solid"/>
          </a:ln>
        </p:spPr>
      </p:sp>
      <p:sp>
        <p:nvSpPr>
          <p:cNvPr id="7" name="Text 5"/>
          <p:cNvSpPr/>
          <p:nvPr/>
        </p:nvSpPr>
        <p:spPr>
          <a:xfrm>
            <a:off x="457200" y="1143000"/>
            <a:ext cx="2560320" cy="457200"/>
          </a:xfrm>
          <a:prstGeom prst="rect">
            <a:avLst/>
          </a:prstGeom>
          <a:noFill/>
          <a:ln/>
        </p:spPr>
        <p:txBody>
          <a:bodyPr wrap="square" lIns="0" tIns="0" rIns="0" bIns="0" rtlCol="0" anchor="ctr"/>
          <a:lstStyle/>
          <a:p>
            <a:pPr indent="0" marL="0">
              <a:buNone/>
            </a:pPr>
            <a:r>
              <a:rPr lang="en-US" sz="1100" b="1" dirty="0">
                <a:solidFill>
                  <a:srgbClr val="0D1B2A"/>
                </a:solidFill>
              </a:rPr>
              <a:t>Phase 1: Prove the Loop</a:t>
            </a:r>
            <a:endParaRPr lang="en-US" sz="1100" dirty="0"/>
          </a:p>
        </p:txBody>
      </p:sp>
      <p:sp>
        <p:nvSpPr>
          <p:cNvPr id="8" name="Text 6"/>
          <p:cNvSpPr/>
          <p:nvPr/>
        </p:nvSpPr>
        <p:spPr>
          <a:xfrm>
            <a:off x="457200" y="1664208"/>
            <a:ext cx="2560320" cy="256032"/>
          </a:xfrm>
          <a:prstGeom prst="rect">
            <a:avLst/>
          </a:prstGeom>
          <a:noFill/>
          <a:ln/>
        </p:spPr>
        <p:txBody>
          <a:bodyPr wrap="square" lIns="0" tIns="0" rIns="0" bIns="0" rtlCol="0" anchor="ctr"/>
          <a:lstStyle/>
          <a:p>
            <a:pPr indent="0" marL="0">
              <a:buNone/>
            </a:pPr>
            <a:r>
              <a:rPr lang="en-US" sz="950" b="1" dirty="0">
                <a:solidFill>
                  <a:srgbClr val="1B6CA8"/>
                </a:solidFill>
              </a:rPr>
              <a:t>Weeks 1–8</a:t>
            </a:r>
            <a:endParaRPr lang="en-US" sz="950" dirty="0"/>
          </a:p>
        </p:txBody>
      </p:sp>
      <p:sp>
        <p:nvSpPr>
          <p:cNvPr id="9" name="Text 7"/>
          <p:cNvSpPr/>
          <p:nvPr/>
        </p:nvSpPr>
        <p:spPr>
          <a:xfrm>
            <a:off x="457200" y="1965960"/>
            <a:ext cx="2560320" cy="347472"/>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Invite-only auth + phone contact import</a:t>
            </a:r>
            <a:endParaRPr lang="en-US" sz="1000" dirty="0"/>
          </a:p>
        </p:txBody>
      </p:sp>
      <p:sp>
        <p:nvSpPr>
          <p:cNvPr id="10" name="Text 8"/>
          <p:cNvSpPr/>
          <p:nvPr/>
        </p:nvSpPr>
        <p:spPr>
          <a:xfrm>
            <a:off x="457200" y="2331720"/>
            <a:ext cx="2560320" cy="347472"/>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Structured profiles (role, location, deal size)</a:t>
            </a:r>
            <a:endParaRPr lang="en-US" sz="1000" dirty="0"/>
          </a:p>
        </p:txBody>
      </p:sp>
      <p:sp>
        <p:nvSpPr>
          <p:cNvPr id="11" name="Text 9"/>
          <p:cNvSpPr/>
          <p:nvPr/>
        </p:nvSpPr>
        <p:spPr>
          <a:xfrm>
            <a:off x="457200" y="2697480"/>
            <a:ext cx="2560320" cy="347472"/>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Manual intro request flow + push notifications</a:t>
            </a:r>
            <a:endParaRPr lang="en-US" sz="1000" dirty="0"/>
          </a:p>
        </p:txBody>
      </p:sp>
      <p:sp>
        <p:nvSpPr>
          <p:cNvPr id="12" name="Text 10"/>
          <p:cNvSpPr/>
          <p:nvPr/>
        </p:nvSpPr>
        <p:spPr>
          <a:xfrm>
            <a:off x="457200" y="3063240"/>
            <a:ext cx="2560320" cy="347472"/>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Network map visualization</a:t>
            </a:r>
            <a:endParaRPr lang="en-US" sz="1000" dirty="0"/>
          </a:p>
        </p:txBody>
      </p:sp>
      <p:sp>
        <p:nvSpPr>
          <p:cNvPr id="13" name="Shape 11"/>
          <p:cNvSpPr/>
          <p:nvPr/>
        </p:nvSpPr>
        <p:spPr>
          <a:xfrm>
            <a:off x="457200" y="3657600"/>
            <a:ext cx="2560320" cy="27432"/>
          </a:xfrm>
          <a:prstGeom prst="rect">
            <a:avLst/>
          </a:prstGeom>
          <a:solidFill>
            <a:srgbClr val="1B6CA8"/>
          </a:solidFill>
          <a:ln w="12700">
            <a:solidFill>
              <a:srgbClr val="1B6CA8"/>
            </a:solidFill>
            <a:prstDash val="solid"/>
          </a:ln>
        </p:spPr>
      </p:sp>
      <p:sp>
        <p:nvSpPr>
          <p:cNvPr id="14" name="Text 12"/>
          <p:cNvSpPr/>
          <p:nvPr/>
        </p:nvSpPr>
        <p:spPr>
          <a:xfrm>
            <a:off x="457200" y="3749040"/>
            <a:ext cx="2560320" cy="594360"/>
          </a:xfrm>
          <a:prstGeom prst="rect">
            <a:avLst/>
          </a:prstGeom>
          <a:noFill/>
          <a:ln/>
        </p:spPr>
        <p:txBody>
          <a:bodyPr wrap="square" lIns="0" tIns="0" rIns="0" bIns="0" rtlCol="0" anchor="ctr"/>
          <a:lstStyle/>
          <a:p>
            <a:pPr indent="0" marL="0">
              <a:buNone/>
            </a:pPr>
            <a:r>
              <a:rPr lang="en-US" sz="950" i="1" dirty="0">
                <a:solidFill>
                  <a:srgbClr val="1B6CA8"/>
                </a:solidFill>
              </a:rPr>
              <a:t>✓  500–1,000 users · 1 metro · First successful intros</a:t>
            </a:r>
            <a:endParaRPr lang="en-US" sz="950" dirty="0"/>
          </a:p>
        </p:txBody>
      </p:sp>
      <p:sp>
        <p:nvSpPr>
          <p:cNvPr id="15" name="Shape 13"/>
          <p:cNvSpPr/>
          <p:nvPr/>
        </p:nvSpPr>
        <p:spPr>
          <a:xfrm>
            <a:off x="3246120" y="1143000"/>
            <a:ext cx="2743200" cy="3703320"/>
          </a:xfrm>
          <a:prstGeom prst="rect">
            <a:avLst/>
          </a:prstGeom>
          <a:solidFill>
            <a:srgbClr val="132237"/>
          </a:solidFill>
          <a:ln w="12700">
            <a:solidFill>
              <a:srgbClr val="1E3A5A"/>
            </a:solidFill>
            <a:prstDash val="solid"/>
          </a:ln>
        </p:spPr>
      </p:sp>
      <p:sp>
        <p:nvSpPr>
          <p:cNvPr id="16" name="Shape 14"/>
          <p:cNvSpPr/>
          <p:nvPr/>
        </p:nvSpPr>
        <p:spPr>
          <a:xfrm>
            <a:off x="3246120" y="1143000"/>
            <a:ext cx="2743200" cy="457200"/>
          </a:xfrm>
          <a:prstGeom prst="rect">
            <a:avLst/>
          </a:prstGeom>
          <a:solidFill>
            <a:srgbClr val="E8A020"/>
          </a:solidFill>
          <a:ln w="12700">
            <a:solidFill>
              <a:srgbClr val="E8A020"/>
            </a:solidFill>
            <a:prstDash val="solid"/>
          </a:ln>
        </p:spPr>
      </p:sp>
      <p:sp>
        <p:nvSpPr>
          <p:cNvPr id="17" name="Text 15"/>
          <p:cNvSpPr/>
          <p:nvPr/>
        </p:nvSpPr>
        <p:spPr>
          <a:xfrm>
            <a:off x="3337560" y="1143000"/>
            <a:ext cx="2560320" cy="457200"/>
          </a:xfrm>
          <a:prstGeom prst="rect">
            <a:avLst/>
          </a:prstGeom>
          <a:noFill/>
          <a:ln/>
        </p:spPr>
        <p:txBody>
          <a:bodyPr wrap="square" lIns="0" tIns="0" rIns="0" bIns="0" rtlCol="0" anchor="ctr"/>
          <a:lstStyle/>
          <a:p>
            <a:pPr indent="0" marL="0">
              <a:buNone/>
            </a:pPr>
            <a:r>
              <a:rPr lang="en-US" sz="1100" b="1" dirty="0">
                <a:solidFill>
                  <a:srgbClr val="0D1B2A"/>
                </a:solidFill>
              </a:rPr>
              <a:t>Phase 2: Grow the Flywheel</a:t>
            </a:r>
            <a:endParaRPr lang="en-US" sz="1100" dirty="0"/>
          </a:p>
        </p:txBody>
      </p:sp>
      <p:sp>
        <p:nvSpPr>
          <p:cNvPr id="18" name="Text 16"/>
          <p:cNvSpPr/>
          <p:nvPr/>
        </p:nvSpPr>
        <p:spPr>
          <a:xfrm>
            <a:off x="3337560" y="1664208"/>
            <a:ext cx="2560320" cy="256032"/>
          </a:xfrm>
          <a:prstGeom prst="rect">
            <a:avLst/>
          </a:prstGeom>
          <a:noFill/>
          <a:ln/>
        </p:spPr>
        <p:txBody>
          <a:bodyPr wrap="square" lIns="0" tIns="0" rIns="0" bIns="0" rtlCol="0" anchor="ctr"/>
          <a:lstStyle/>
          <a:p>
            <a:pPr indent="0" marL="0">
              <a:buNone/>
            </a:pPr>
            <a:r>
              <a:rPr lang="en-US" sz="950" b="1" dirty="0">
                <a:solidFill>
                  <a:srgbClr val="E8A020"/>
                </a:solidFill>
              </a:rPr>
              <a:t>Weeks 9–14</a:t>
            </a:r>
            <a:endParaRPr lang="en-US" sz="950" dirty="0"/>
          </a:p>
        </p:txBody>
      </p:sp>
      <p:sp>
        <p:nvSpPr>
          <p:cNvPr id="19" name="Text 17"/>
          <p:cNvSpPr/>
          <p:nvPr/>
        </p:nvSpPr>
        <p:spPr>
          <a:xfrm>
            <a:off x="3337560" y="1965960"/>
            <a:ext cx="2560320" cy="347472"/>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AI natural language search agent</a:t>
            </a:r>
            <a:endParaRPr lang="en-US" sz="1000" dirty="0"/>
          </a:p>
        </p:txBody>
      </p:sp>
      <p:sp>
        <p:nvSpPr>
          <p:cNvPr id="20" name="Text 18"/>
          <p:cNvSpPr/>
          <p:nvPr/>
        </p:nvSpPr>
        <p:spPr>
          <a:xfrm>
            <a:off x="3337560" y="2331720"/>
            <a:ext cx="2560320" cy="347472"/>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Trust-path calculation + warmth ranking</a:t>
            </a:r>
            <a:endParaRPr lang="en-US" sz="1000" dirty="0"/>
          </a:p>
        </p:txBody>
      </p:sp>
      <p:sp>
        <p:nvSpPr>
          <p:cNvPr id="21" name="Text 19"/>
          <p:cNvSpPr/>
          <p:nvPr/>
        </p:nvSpPr>
        <p:spPr>
          <a:xfrm>
            <a:off x="3337560" y="2697480"/>
            <a:ext cx="2560320" cy="347472"/>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Auto-drafted intro messages (Claude API)</a:t>
            </a:r>
            <a:endParaRPr lang="en-US" sz="1000" dirty="0"/>
          </a:p>
        </p:txBody>
      </p:sp>
      <p:sp>
        <p:nvSpPr>
          <p:cNvPr id="22" name="Text 20"/>
          <p:cNvSpPr/>
          <p:nvPr/>
        </p:nvSpPr>
        <p:spPr>
          <a:xfrm>
            <a:off x="3337560" y="3063240"/>
            <a:ext cx="2560320" cy="347472"/>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Pro subscription ($39/mo) launch</a:t>
            </a:r>
            <a:endParaRPr lang="en-US" sz="1000" dirty="0"/>
          </a:p>
        </p:txBody>
      </p:sp>
      <p:sp>
        <p:nvSpPr>
          <p:cNvPr id="23" name="Shape 21"/>
          <p:cNvSpPr/>
          <p:nvPr/>
        </p:nvSpPr>
        <p:spPr>
          <a:xfrm>
            <a:off x="3337560" y="3657600"/>
            <a:ext cx="2560320" cy="27432"/>
          </a:xfrm>
          <a:prstGeom prst="rect">
            <a:avLst/>
          </a:prstGeom>
          <a:solidFill>
            <a:srgbClr val="E8A020"/>
          </a:solidFill>
          <a:ln w="12700">
            <a:solidFill>
              <a:srgbClr val="E8A020"/>
            </a:solidFill>
            <a:prstDash val="solid"/>
          </a:ln>
        </p:spPr>
      </p:sp>
      <p:sp>
        <p:nvSpPr>
          <p:cNvPr id="24" name="Text 22"/>
          <p:cNvSpPr/>
          <p:nvPr/>
        </p:nvSpPr>
        <p:spPr>
          <a:xfrm>
            <a:off x="3337560" y="3749040"/>
            <a:ext cx="2560320" cy="594360"/>
          </a:xfrm>
          <a:prstGeom prst="rect">
            <a:avLst/>
          </a:prstGeom>
          <a:noFill/>
          <a:ln/>
        </p:spPr>
        <p:txBody>
          <a:bodyPr wrap="square" lIns="0" tIns="0" rIns="0" bIns="0" rtlCol="0" anchor="ctr"/>
          <a:lstStyle/>
          <a:p>
            <a:pPr indent="0" marL="0">
              <a:buNone/>
            </a:pPr>
            <a:r>
              <a:rPr lang="en-US" sz="950" i="1" dirty="0">
                <a:solidFill>
                  <a:srgbClr val="E8A020"/>
                </a:solidFill>
              </a:rPr>
              <a:t>✓  5,000–10,000 users · 3–5 metros · $30K MRR</a:t>
            </a:r>
            <a:endParaRPr lang="en-US" sz="950" dirty="0"/>
          </a:p>
        </p:txBody>
      </p:sp>
      <p:sp>
        <p:nvSpPr>
          <p:cNvPr id="25" name="Shape 23"/>
          <p:cNvSpPr/>
          <p:nvPr/>
        </p:nvSpPr>
        <p:spPr>
          <a:xfrm>
            <a:off x="6126480" y="1143000"/>
            <a:ext cx="2743200" cy="3703320"/>
          </a:xfrm>
          <a:prstGeom prst="rect">
            <a:avLst/>
          </a:prstGeom>
          <a:solidFill>
            <a:srgbClr val="132237"/>
          </a:solidFill>
          <a:ln w="12700">
            <a:solidFill>
              <a:srgbClr val="1E3A5A"/>
            </a:solidFill>
            <a:prstDash val="solid"/>
          </a:ln>
        </p:spPr>
      </p:sp>
      <p:sp>
        <p:nvSpPr>
          <p:cNvPr id="26" name="Shape 24"/>
          <p:cNvSpPr/>
          <p:nvPr/>
        </p:nvSpPr>
        <p:spPr>
          <a:xfrm>
            <a:off x="6126480" y="1143000"/>
            <a:ext cx="2743200" cy="457200"/>
          </a:xfrm>
          <a:prstGeom prst="rect">
            <a:avLst/>
          </a:prstGeom>
          <a:solidFill>
            <a:srgbClr val="16A34A"/>
          </a:solidFill>
          <a:ln w="12700">
            <a:solidFill>
              <a:srgbClr val="16A34A"/>
            </a:solidFill>
            <a:prstDash val="solid"/>
          </a:ln>
        </p:spPr>
      </p:sp>
      <p:sp>
        <p:nvSpPr>
          <p:cNvPr id="27" name="Text 25"/>
          <p:cNvSpPr/>
          <p:nvPr/>
        </p:nvSpPr>
        <p:spPr>
          <a:xfrm>
            <a:off x="6217920" y="1143000"/>
            <a:ext cx="2560320" cy="457200"/>
          </a:xfrm>
          <a:prstGeom prst="rect">
            <a:avLst/>
          </a:prstGeom>
          <a:noFill/>
          <a:ln/>
        </p:spPr>
        <p:txBody>
          <a:bodyPr wrap="square" lIns="0" tIns="0" rIns="0" bIns="0" rtlCol="0" anchor="ctr"/>
          <a:lstStyle/>
          <a:p>
            <a:pPr indent="0" marL="0">
              <a:buNone/>
            </a:pPr>
            <a:r>
              <a:rPr lang="en-US" sz="1100" b="1" dirty="0">
                <a:solidFill>
                  <a:srgbClr val="0D1B2A"/>
                </a:solidFill>
              </a:rPr>
              <a:t>Phase 3: Own the Category</a:t>
            </a:r>
            <a:endParaRPr lang="en-US" sz="1100" dirty="0"/>
          </a:p>
        </p:txBody>
      </p:sp>
      <p:sp>
        <p:nvSpPr>
          <p:cNvPr id="28" name="Text 26"/>
          <p:cNvSpPr/>
          <p:nvPr/>
        </p:nvSpPr>
        <p:spPr>
          <a:xfrm>
            <a:off x="6217920" y="1664208"/>
            <a:ext cx="2560320" cy="256032"/>
          </a:xfrm>
          <a:prstGeom prst="rect">
            <a:avLst/>
          </a:prstGeom>
          <a:noFill/>
          <a:ln/>
        </p:spPr>
        <p:txBody>
          <a:bodyPr wrap="square" lIns="0" tIns="0" rIns="0" bIns="0" rtlCol="0" anchor="ctr"/>
          <a:lstStyle/>
          <a:p>
            <a:pPr indent="0" marL="0">
              <a:buNone/>
            </a:pPr>
            <a:r>
              <a:rPr lang="en-US" sz="950" b="1" dirty="0">
                <a:solidFill>
                  <a:srgbClr val="16A34A"/>
                </a:solidFill>
              </a:rPr>
              <a:t>Weeks 15–20</a:t>
            </a:r>
            <a:endParaRPr lang="en-US" sz="950" dirty="0"/>
          </a:p>
        </p:txBody>
      </p:sp>
      <p:sp>
        <p:nvSpPr>
          <p:cNvPr id="29" name="Text 27"/>
          <p:cNvSpPr/>
          <p:nvPr/>
        </p:nvSpPr>
        <p:spPr>
          <a:xfrm>
            <a:off x="6217920" y="1965960"/>
            <a:ext cx="2560320" cy="347472"/>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Reputation scoring + trust score</a:t>
            </a:r>
            <a:endParaRPr lang="en-US" sz="1000" dirty="0"/>
          </a:p>
        </p:txBody>
      </p:sp>
      <p:sp>
        <p:nvSpPr>
          <p:cNvPr id="30" name="Text 28"/>
          <p:cNvSpPr/>
          <p:nvPr/>
        </p:nvSpPr>
        <p:spPr>
          <a:xfrm>
            <a:off x="6217920" y="2331720"/>
            <a:ext cx="2560320" cy="347472"/>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Closer tier ($99/mo) + verified profiles</a:t>
            </a:r>
            <a:endParaRPr lang="en-US" sz="1000" dirty="0"/>
          </a:p>
        </p:txBody>
      </p:sp>
      <p:sp>
        <p:nvSpPr>
          <p:cNvPr id="31" name="Text 29"/>
          <p:cNvSpPr/>
          <p:nvPr/>
        </p:nvSpPr>
        <p:spPr>
          <a:xfrm>
            <a:off x="6217920" y="2697480"/>
            <a:ext cx="2560320" cy="347472"/>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Network gap detection + growth loops</a:t>
            </a:r>
            <a:endParaRPr lang="en-US" sz="1000" dirty="0"/>
          </a:p>
        </p:txBody>
      </p:sp>
      <p:sp>
        <p:nvSpPr>
          <p:cNvPr id="32" name="Text 30"/>
          <p:cNvSpPr/>
          <p:nvPr/>
        </p:nvSpPr>
        <p:spPr>
          <a:xfrm>
            <a:off x="6217920" y="3063240"/>
            <a:ext cx="2560320" cy="347472"/>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Lender referral fee revenue stream</a:t>
            </a:r>
            <a:endParaRPr lang="en-US" sz="1000" dirty="0"/>
          </a:p>
        </p:txBody>
      </p:sp>
      <p:sp>
        <p:nvSpPr>
          <p:cNvPr id="33" name="Shape 31"/>
          <p:cNvSpPr/>
          <p:nvPr/>
        </p:nvSpPr>
        <p:spPr>
          <a:xfrm>
            <a:off x="6217920" y="3657600"/>
            <a:ext cx="2560320" cy="27432"/>
          </a:xfrm>
          <a:prstGeom prst="rect">
            <a:avLst/>
          </a:prstGeom>
          <a:solidFill>
            <a:srgbClr val="16A34A"/>
          </a:solidFill>
          <a:ln w="12700">
            <a:solidFill>
              <a:srgbClr val="16A34A"/>
            </a:solidFill>
            <a:prstDash val="solid"/>
          </a:ln>
        </p:spPr>
      </p:sp>
      <p:sp>
        <p:nvSpPr>
          <p:cNvPr id="34" name="Text 32"/>
          <p:cNvSpPr/>
          <p:nvPr/>
        </p:nvSpPr>
        <p:spPr>
          <a:xfrm>
            <a:off x="6217920" y="3749040"/>
            <a:ext cx="2560320" cy="594360"/>
          </a:xfrm>
          <a:prstGeom prst="rect">
            <a:avLst/>
          </a:prstGeom>
          <a:noFill/>
          <a:ln/>
        </p:spPr>
        <p:txBody>
          <a:bodyPr wrap="square" lIns="0" tIns="0" rIns="0" bIns="0" rtlCol="0" anchor="ctr"/>
          <a:lstStyle/>
          <a:p>
            <a:pPr indent="0" marL="0">
              <a:buNone/>
            </a:pPr>
            <a:r>
              <a:rPr lang="en-US" sz="950" i="1" dirty="0">
                <a:solidFill>
                  <a:srgbClr val="16A34A"/>
                </a:solidFill>
              </a:rPr>
              <a:t>✓  10,000+ users · $100K MRR · Series A story ready</a:t>
            </a:r>
            <a:endParaRPr lang="en-US" sz="950" dirty="0"/>
          </a:p>
        </p:txBody>
      </p:sp>
      <p:sp>
        <p:nvSpPr>
          <p:cNvPr id="35" name="Text 3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11 / 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6 — GROWTH TABLE</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0D1B2A"/>
                </a:solidFill>
              </a:rPr>
              <a:t>Month-by-month to $1M ARR.</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412480" cy="914400"/>
        </p:xfrm>
        <a:graphic>
          <a:graphicData uri="http://schemas.openxmlformats.org/drawingml/2006/table">
            <a:tbl>
              <a:tblPr/>
              <a:tblGrid>
                <a:gridCol w="594360"/>
                <a:gridCol w="1325880"/>
                <a:gridCol w="1097280"/>
                <a:gridCol w="1188720"/>
                <a:gridCol w="1280160"/>
                <a:gridCol w="1280160"/>
              </a:tblGrid>
              <a:tr h="0">
                <a:tc>
                  <a:txBody>
                    <a:bodyPr/>
                    <a:lstStyle/>
                    <a:p>
                      <a:pPr algn="ctr" indent="0" marL="0">
                        <a:buNone/>
                      </a:pPr>
                      <a:r>
                        <a:rPr lang="en-US" sz="950" b="1" dirty="0">
                          <a:solidFill>
                            <a:srgbClr val="FFFFFF"/>
                          </a:solidFill>
                        </a:rPr>
                        <a:t>Month</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950" b="1" dirty="0">
                          <a:solidFill>
                            <a:srgbClr val="FFFFFF"/>
                          </a:solidFill>
                        </a:rPr>
                        <a:t>Total Users</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950" b="1" dirty="0">
                          <a:solidFill>
                            <a:srgbClr val="FFFFFF"/>
                          </a:solidFill>
                        </a:rPr>
                        <a:t>Pro Users</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950" b="1" dirty="0">
                          <a:solidFill>
                            <a:srgbClr val="FFFFFF"/>
                          </a:solidFill>
                        </a:rPr>
                        <a:t>Closer Users</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950" b="1" dirty="0">
                          <a:solidFill>
                            <a:srgbClr val="FFFFFF"/>
                          </a:solidFill>
                        </a:rPr>
                        <a:t>MRR</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algn="ctr" indent="0" marL="0">
                        <a:buNone/>
                      </a:pPr>
                      <a:r>
                        <a:rPr lang="en-US" sz="950" b="1" dirty="0">
                          <a:solidFill>
                            <a:srgbClr val="FFFFFF"/>
                          </a:solidFill>
                        </a:rPr>
                        <a:t>ARR Run Rate</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r>
              <a:tr h="0">
                <a:tc>
                  <a:txBody>
                    <a:bodyPr/>
                    <a:lstStyle/>
                    <a:p>
                      <a:pPr algn="ctr" indent="0" marL="0">
                        <a:buNone/>
                      </a:pPr>
                      <a:r>
                        <a:rPr lang="en-US" sz="950" dirty="0">
                          <a:solidFill>
                            <a:srgbClr val="475569"/>
                          </a:solidFill>
                        </a:rPr>
                        <a:t>1</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200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950" dirty="0">
                          <a:solidFill>
                            <a:srgbClr val="475569"/>
                          </a:solidFill>
                        </a:rPr>
                        <a:t>2</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500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$390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$4,680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algn="ctr" indent="0" marL="0">
                        <a:buNone/>
                      </a:pPr>
                      <a:r>
                        <a:rPr lang="en-US" sz="950" dirty="0">
                          <a:solidFill>
                            <a:srgbClr val="475569"/>
                          </a:solidFill>
                        </a:rPr>
                        <a:t>3</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40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5</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$2,060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$24,720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950" dirty="0">
                          <a:solidFill>
                            <a:srgbClr val="475569"/>
                          </a:solidFill>
                        </a:rPr>
                        <a:t>4</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2,000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15</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$5,385</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$64,620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algn="ctr" indent="0" marL="0">
                        <a:buNone/>
                      </a:pPr>
                      <a:r>
                        <a:rPr lang="en-US" sz="950" dirty="0">
                          <a:solidFill>
                            <a:srgbClr val="475569"/>
                          </a:solidFill>
                        </a:rPr>
                        <a:t>5</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4,000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250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40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$13,710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$164,520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950" dirty="0">
                          <a:solidFill>
                            <a:srgbClr val="475569"/>
                          </a:solidFill>
                        </a:rPr>
                        <a:t>6</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6,000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420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70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$23,250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$279,000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algn="ctr" indent="0" marL="0">
                        <a:buNone/>
                      </a:pPr>
                      <a:r>
                        <a:rPr lang="en-US" sz="950" dirty="0">
                          <a:solidFill>
                            <a:srgbClr val="475569"/>
                          </a:solidFill>
                        </a:rPr>
                        <a:t>7</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8,000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600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110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$34,290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$411,480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950" dirty="0">
                          <a:solidFill>
                            <a:srgbClr val="475569"/>
                          </a:solidFill>
                        </a:rPr>
                        <a:t>8</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10,000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800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150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$44,690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$536,280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algn="ctr" indent="0" marL="0">
                        <a:buNone/>
                      </a:pPr>
                      <a:r>
                        <a:rPr lang="en-US" sz="950" dirty="0">
                          <a:solidFill>
                            <a:srgbClr val="475569"/>
                          </a:solidFill>
                        </a:rPr>
                        <a:t>9</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12,000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190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$55,510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$666,120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950" dirty="0">
                          <a:solidFill>
                            <a:srgbClr val="475569"/>
                          </a:solidFill>
                        </a:rPr>
                        <a:t>10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14,000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1,150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220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$63,650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algn="ctr" indent="0" marL="0">
                        <a:buNone/>
                      </a:pPr>
                      <a:r>
                        <a:rPr lang="en-US" sz="950" dirty="0">
                          <a:solidFill>
                            <a:srgbClr val="0D1B2A"/>
                          </a:solidFill>
                        </a:rPr>
                        <a:t>$763,800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algn="ctr" indent="0" marL="0">
                        <a:buNone/>
                      </a:pPr>
                      <a:r>
                        <a:rPr lang="en-US" sz="950" dirty="0">
                          <a:solidFill>
                            <a:srgbClr val="475569"/>
                          </a:solidFill>
                        </a:rPr>
                        <a:t>11</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16,000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1,300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250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$71,790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50" dirty="0">
                          <a:solidFill>
                            <a:srgbClr val="0D1B2A"/>
                          </a:solidFill>
                        </a:rPr>
                        <a:t>$861,480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algn="ctr" indent="0" marL="0">
                        <a:buNone/>
                      </a:pPr>
                      <a:r>
                        <a:rPr lang="en-US" sz="950" b="1" dirty="0">
                          <a:solidFill>
                            <a:srgbClr val="16A34A"/>
                          </a:solidFill>
                        </a:rPr>
                        <a:t>12</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c>
                  <a:txBody>
                    <a:bodyPr/>
                    <a:lstStyle/>
                    <a:p>
                      <a:pPr algn="ctr" indent="0" marL="0">
                        <a:buNone/>
                      </a:pPr>
                      <a:r>
                        <a:rPr lang="en-US" sz="950" b="1" dirty="0">
                          <a:solidFill>
                            <a:srgbClr val="16A34A"/>
                          </a:solidFill>
                        </a:rPr>
                        <a:t>18,000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c>
                  <a:txBody>
                    <a:bodyPr/>
                    <a:lstStyle/>
                    <a:p>
                      <a:pPr algn="ctr" indent="0" marL="0">
                        <a:buNone/>
                      </a:pPr>
                      <a:r>
                        <a:rPr lang="en-US" sz="950" b="1" dirty="0">
                          <a:solidFill>
                            <a:srgbClr val="16A34A"/>
                          </a:solidFill>
                        </a:rPr>
                        <a:t>1,500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c>
                  <a:txBody>
                    <a:bodyPr/>
                    <a:lstStyle/>
                    <a:p>
                      <a:pPr algn="ctr" indent="0" marL="0">
                        <a:buNone/>
                      </a:pPr>
                      <a:r>
                        <a:rPr lang="en-US" sz="950" b="1" dirty="0">
                          <a:solidFill>
                            <a:srgbClr val="16A34A"/>
                          </a:solidFill>
                        </a:rPr>
                        <a:t>300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c>
                  <a:txBody>
                    <a:bodyPr/>
                    <a:lstStyle/>
                    <a:p>
                      <a:pPr algn="ctr" indent="0" marL="0">
                        <a:buNone/>
                      </a:pPr>
                      <a:r>
                        <a:rPr lang="en-US" sz="950" b="1" dirty="0">
                          <a:solidFill>
                            <a:srgbClr val="16A34A"/>
                          </a:solidFill>
                        </a:rPr>
                        <a:t>$83,310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c>
                  <a:txBody>
                    <a:bodyPr/>
                    <a:lstStyle/>
                    <a:p>
                      <a:pPr algn="ctr" indent="0" marL="0">
                        <a:buNone/>
                      </a:pPr>
                      <a:r>
                        <a:rPr lang="en-US" sz="950" b="1" dirty="0">
                          <a:solidFill>
                            <a:srgbClr val="16A34A"/>
                          </a:solidFill>
                        </a:rPr>
                        <a:t>$999,720</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E8F5E9"/>
                    </a:solidFill>
                  </a:tcPr>
                </a:tc>
              </a:tr>
            </a:tbl>
          </a:graphicData>
        </a:graphic>
      </p:graphicFrame>
      <p:sp>
        <p:nvSpPr>
          <p:cNvPr id="6" name="Text 3"/>
          <p:cNvSpPr/>
          <p:nvPr/>
        </p:nvSpPr>
        <p:spPr>
          <a:xfrm>
            <a:off x="457200" y="4663440"/>
            <a:ext cx="8412480" cy="320040"/>
          </a:xfrm>
          <a:prstGeom prst="rect">
            <a:avLst/>
          </a:prstGeom>
          <a:noFill/>
          <a:ln/>
        </p:spPr>
        <p:txBody>
          <a:bodyPr wrap="square" lIns="0" tIns="0" rIns="0" bIns="0" rtlCol="0" anchor="ctr"/>
          <a:lstStyle/>
          <a:p>
            <a:pPr indent="0" marL="0">
              <a:buNone/>
            </a:pPr>
            <a:r>
              <a:rPr lang="en-US" sz="950" i="1" dirty="0">
                <a:solidFill>
                  <a:srgbClr val="475569"/>
                </a:solidFill>
              </a:rPr>
              <a:t>Breakeven: ~Month 5 (assumes $15K/mo operating cost at launch stage)  ·  Conservative: 10% free→Pro conversion, 2% free→Closer</a:t>
            </a:r>
            <a:endParaRPr lang="en-US" sz="950" dirty="0"/>
          </a:p>
        </p:txBody>
      </p:sp>
      <p:sp>
        <p:nvSpPr>
          <p:cNvPr id="7" name="Text 4"/>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12 / 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7 — REVENUE MODEL</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rPr>
              <a:t>Four revenue streams. Subscriptions are the floor.</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412480" cy="914400"/>
        </p:xfrm>
        <a:graphic>
          <a:graphicData uri="http://schemas.openxmlformats.org/drawingml/2006/table">
            <a:tbl>
              <a:tblPr/>
              <a:tblGrid>
                <a:gridCol w="2926080"/>
                <a:gridCol w="1828800"/>
                <a:gridCol w="1645920"/>
                <a:gridCol w="2011680"/>
              </a:tblGrid>
              <a:tr h="0">
                <a:tc>
                  <a:txBody>
                    <a:bodyPr/>
                    <a:lstStyle/>
                    <a:p>
                      <a:pPr indent="0" marL="0">
                        <a:buNone/>
                      </a:pPr>
                      <a:r>
                        <a:rPr lang="en-US" sz="1000" b="1" dirty="0">
                          <a:solidFill>
                            <a:srgbClr val="E8A020"/>
                          </a:solidFill>
                        </a:rPr>
                        <a:t>Revenue Stream</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b="1" dirty="0">
                          <a:solidFill>
                            <a:srgbClr val="E8A020"/>
                          </a:solidFill>
                        </a:rPr>
                        <a:t>Price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b="1" dirty="0">
                          <a:solidFill>
                            <a:srgbClr val="E8A020"/>
                          </a:solidFill>
                        </a:rPr>
                        <a:t>Launches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b="1" dirty="0">
                          <a:solidFill>
                            <a:srgbClr val="E8A020"/>
                          </a:solidFill>
                        </a:rPr>
                        <a:t>% of Revenue at Maturity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FFFFFF"/>
                          </a:solidFill>
                        </a:rPr>
                        <a:t>Pro Subscription</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1B6CA8"/>
                          </a:solidFill>
                        </a:rPr>
                        <a:t>$39/mo</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dirty="0">
                          <a:solidFill>
                            <a:srgbClr val="A8BDD0"/>
                          </a:solidFill>
                        </a:rPr>
                        <a:t>Phase 2</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1B6CA8"/>
                          </a:solidFill>
                        </a:rPr>
                        <a:t>55%</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FFFFFF"/>
                          </a:solidFill>
                        </a:rPr>
                        <a:t>Closer Subscription</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b="1" dirty="0">
                          <a:solidFill>
                            <a:srgbClr val="E8A020"/>
                          </a:solidFill>
                        </a:rPr>
                        <a:t>$99/mo</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dirty="0">
                          <a:solidFill>
                            <a:srgbClr val="A8BDD0"/>
                          </a:solidFill>
                        </a:rPr>
                        <a:t>Phase 3</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b="1" dirty="0">
                          <a:solidFill>
                            <a:srgbClr val="E8A020"/>
                          </a:solidFill>
                        </a:rPr>
                        <a:t>20%</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r h="0">
                <a:tc>
                  <a:txBody>
                    <a:bodyPr/>
                    <a:lstStyle/>
                    <a:p>
                      <a:pPr indent="0" marL="0">
                        <a:buNone/>
                      </a:pPr>
                      <a:r>
                        <a:rPr lang="en-US" sz="1000" b="1" dirty="0">
                          <a:solidFill>
                            <a:srgbClr val="FFFFFF"/>
                          </a:solidFill>
                        </a:rPr>
                        <a:t>Verified Lender Profiles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16A34A"/>
                          </a:solidFill>
                        </a:rPr>
                        <a:t>$99–199/mo</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dirty="0">
                          <a:solidFill>
                            <a:srgbClr val="A8BDD0"/>
                          </a:solidFill>
                        </a:rPr>
                        <a:t>Phase 2</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16A34A"/>
                          </a:solidFill>
                        </a:rPr>
                        <a:t>15%</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FFFFFF"/>
                          </a:solidFill>
                        </a:rPr>
                        <a:t>Lender Referral Fees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b="1" dirty="0">
                          <a:solidFill>
                            <a:srgbClr val="A78BFA"/>
                          </a:solidFill>
                        </a:rPr>
                        <a:t>0.25–0.5% loan amt</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dirty="0">
                          <a:solidFill>
                            <a:srgbClr val="A8BDD0"/>
                          </a:solidFill>
                        </a:rPr>
                        <a:t>Phase 3</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b="1" dirty="0">
                          <a:solidFill>
                            <a:srgbClr val="A78BFA"/>
                          </a:solidFill>
                        </a:rPr>
                        <a:t>10%</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bl>
          </a:graphicData>
        </a:graphic>
      </p:graphicFrame>
      <p:sp>
        <p:nvSpPr>
          <p:cNvPr id="6" name="Shape 3"/>
          <p:cNvSpPr/>
          <p:nvPr/>
        </p:nvSpPr>
        <p:spPr>
          <a:xfrm>
            <a:off x="457200" y="2926080"/>
            <a:ext cx="8412480" cy="1645920"/>
          </a:xfrm>
          <a:prstGeom prst="rect">
            <a:avLst/>
          </a:prstGeom>
          <a:solidFill>
            <a:srgbClr val="132237"/>
          </a:solidFill>
          <a:ln w="12700">
            <a:solidFill>
              <a:srgbClr val="1E3A5A"/>
            </a:solidFill>
            <a:prstDash val="solid"/>
          </a:ln>
        </p:spPr>
      </p:sp>
      <p:sp>
        <p:nvSpPr>
          <p:cNvPr id="7" name="Text 4"/>
          <p:cNvSpPr/>
          <p:nvPr/>
        </p:nvSpPr>
        <p:spPr>
          <a:xfrm>
            <a:off x="640080" y="3017520"/>
            <a:ext cx="8046720" cy="320040"/>
          </a:xfrm>
          <a:prstGeom prst="rect">
            <a:avLst/>
          </a:prstGeom>
          <a:noFill/>
          <a:ln/>
        </p:spPr>
        <p:txBody>
          <a:bodyPr wrap="square" lIns="0" tIns="0" rIns="0" bIns="0" rtlCol="0" anchor="ctr"/>
          <a:lstStyle/>
          <a:p>
            <a:pPr indent="0" marL="0">
              <a:buNone/>
            </a:pPr>
            <a:r>
              <a:rPr lang="en-US" sz="1300" b="1" dirty="0">
                <a:solidFill>
                  <a:srgbClr val="E8A020"/>
                </a:solidFill>
              </a:rPr>
              <a:t>Unit Economics</a:t>
            </a:r>
            <a:endParaRPr lang="en-US" sz="1300" dirty="0"/>
          </a:p>
        </p:txBody>
      </p:sp>
      <p:sp>
        <p:nvSpPr>
          <p:cNvPr id="8" name="Text 5"/>
          <p:cNvSpPr/>
          <p:nvPr/>
        </p:nvSpPr>
        <p:spPr>
          <a:xfrm>
            <a:off x="640080" y="3383280"/>
            <a:ext cx="8046720" cy="256032"/>
          </a:xfrm>
          <a:prstGeom prst="rect">
            <a:avLst/>
          </a:prstGeom>
          <a:noFill/>
          <a:ln/>
        </p:spPr>
        <p:txBody>
          <a:bodyPr wrap="square" lIns="0" tIns="0" rIns="0" bIns="0" rtlCol="0" anchor="ctr"/>
          <a:lstStyle/>
          <a:p>
            <a:pPr indent="0" marL="0">
              <a:buNone/>
            </a:pPr>
            <a:r>
              <a:rPr lang="en-US" sz="1100" dirty="0">
                <a:solidFill>
                  <a:srgbClr val="A8BDD0"/>
                </a:solidFill>
              </a:rPr>
              <a:t>CAC (invite-only, organic): ~$8–15 per user via founder network seeding and invite loops</a:t>
            </a:r>
            <a:endParaRPr lang="en-US" sz="1100" dirty="0"/>
          </a:p>
        </p:txBody>
      </p:sp>
      <p:sp>
        <p:nvSpPr>
          <p:cNvPr id="9" name="Text 6"/>
          <p:cNvSpPr/>
          <p:nvPr/>
        </p:nvSpPr>
        <p:spPr>
          <a:xfrm>
            <a:off x="640080" y="3657600"/>
            <a:ext cx="8046720" cy="256032"/>
          </a:xfrm>
          <a:prstGeom prst="rect">
            <a:avLst/>
          </a:prstGeom>
          <a:noFill/>
          <a:ln/>
        </p:spPr>
        <p:txBody>
          <a:bodyPr wrap="square" lIns="0" tIns="0" rIns="0" bIns="0" rtlCol="0" anchor="ctr"/>
          <a:lstStyle/>
          <a:p>
            <a:pPr indent="0" marL="0">
              <a:buNone/>
            </a:pPr>
            <a:r>
              <a:rPr lang="en-US" sz="1100" b="1" dirty="0">
                <a:solidFill>
                  <a:srgbClr val="FFFFFF"/>
                </a:solidFill>
              </a:rPr>
              <a:t>LTV (Pro, 18-mo avg): $39 × 18 = $702  ·  LTV/CAC = 47–88x</a:t>
            </a:r>
            <a:endParaRPr lang="en-US" sz="1100" dirty="0"/>
          </a:p>
        </p:txBody>
      </p:sp>
      <p:sp>
        <p:nvSpPr>
          <p:cNvPr id="10" name="Text 7"/>
          <p:cNvSpPr/>
          <p:nvPr/>
        </p:nvSpPr>
        <p:spPr>
          <a:xfrm>
            <a:off x="640080" y="3959352"/>
            <a:ext cx="8046720" cy="256032"/>
          </a:xfrm>
          <a:prstGeom prst="rect">
            <a:avLst/>
          </a:prstGeom>
          <a:noFill/>
          <a:ln/>
        </p:spPr>
        <p:txBody>
          <a:bodyPr wrap="square" lIns="0" tIns="0" rIns="0" bIns="0" rtlCol="0" anchor="ctr"/>
          <a:lstStyle/>
          <a:p>
            <a:pPr indent="0" marL="0">
              <a:buNone/>
            </a:pPr>
            <a:r>
              <a:rPr lang="en-US" sz="1100" dirty="0">
                <a:solidFill>
                  <a:srgbClr val="A8BDD0"/>
                </a:solidFill>
              </a:rPr>
              <a:t>Upside case (5% better conversion): Month 12 ARR = ~$1.24M  ·  Difference: $240K ARR on same user base</a:t>
            </a:r>
            <a:endParaRPr lang="en-US" sz="1100" dirty="0"/>
          </a:p>
        </p:txBody>
      </p:sp>
      <p:sp>
        <p:nvSpPr>
          <p:cNvPr id="11" name="Text 8"/>
          <p:cNvSpPr/>
          <p:nvPr/>
        </p:nvSpPr>
        <p:spPr>
          <a:xfrm>
            <a:off x="640080" y="4233672"/>
            <a:ext cx="8046720" cy="256032"/>
          </a:xfrm>
          <a:prstGeom prst="rect">
            <a:avLst/>
          </a:prstGeom>
          <a:noFill/>
          <a:ln/>
        </p:spPr>
        <p:txBody>
          <a:bodyPr wrap="square" lIns="0" tIns="0" rIns="0" bIns="0" rtlCol="0" anchor="ctr"/>
          <a:lstStyle/>
          <a:p>
            <a:pPr indent="0" marL="0">
              <a:buNone/>
            </a:pPr>
            <a:r>
              <a:rPr lang="en-US" sz="1050" i="1" dirty="0">
                <a:solidFill>
                  <a:srgbClr val="1B6CA8"/>
                </a:solidFill>
              </a:rPr>
              <a:t>One extra lender deal per year pays for 10+ years of Pro subscription. The ROI math is impossible to ignore.</a:t>
            </a:r>
            <a:endParaRPr lang="en-US" sz="1050" dirty="0"/>
          </a:p>
        </p:txBody>
      </p:sp>
      <p:sp>
        <p:nvSpPr>
          <p:cNvPr id="12" name="Text 9"/>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13 / 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COMPETITIVE MOAT</a:t>
            </a:r>
            <a:endParaRPr lang="en-US" sz="800" dirty="0"/>
          </a:p>
        </p:txBody>
      </p:sp>
      <p:sp>
        <p:nvSpPr>
          <p:cNvPr id="4" name="Text 2"/>
          <p:cNvSpPr/>
          <p:nvPr/>
        </p:nvSpPr>
        <p:spPr>
          <a:xfrm>
            <a:off x="457200" y="457200"/>
            <a:ext cx="8229600" cy="914400"/>
          </a:xfrm>
          <a:prstGeom prst="rect">
            <a:avLst/>
          </a:prstGeom>
          <a:noFill/>
          <a:ln/>
        </p:spPr>
        <p:txBody>
          <a:bodyPr wrap="square" lIns="0" tIns="0" rIns="0" bIns="0" rtlCol="0" anchor="ctr"/>
          <a:lstStyle/>
          <a:p>
            <a:pPr indent="0" marL="0">
              <a:buNone/>
            </a:pPr>
            <a:r>
              <a:rPr lang="en-US" sz="2600" b="1" dirty="0">
                <a:solidFill>
                  <a:srgbClr val="0D1B2A"/>
                </a:solidFill>
              </a:rPr>
              <a:t>LinkedIn owns the employment graph.</a:t>
            </a:r>
            <a:endParaRPr lang="en-US" sz="2600" dirty="0"/>
          </a:p>
          <a:p>
            <a:pPr indent="0" marL="0">
              <a:buNone/>
            </a:pPr>
            <a:r>
              <a:rPr lang="en-US" sz="2600" b="1" dirty="0">
                <a:solidFill>
                  <a:srgbClr val="0D1B2A"/>
                </a:solidFill>
              </a:rPr>
              <a:t>WarmPath owns the deal-making graph.</a:t>
            </a:r>
            <a:endParaRPr lang="en-US" sz="2600" dirty="0"/>
          </a:p>
        </p:txBody>
      </p:sp>
      <p:sp>
        <p:nvSpPr>
          <p:cNvPr id="5" name="Shape 3"/>
          <p:cNvSpPr/>
          <p:nvPr/>
        </p:nvSpPr>
        <p:spPr>
          <a:xfrm>
            <a:off x="457200" y="1463040"/>
            <a:ext cx="4114800" cy="13716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457200" y="1463040"/>
            <a:ext cx="54864" cy="1371600"/>
          </a:xfrm>
          <a:prstGeom prst="rect">
            <a:avLst/>
          </a:prstGeom>
          <a:solidFill>
            <a:srgbClr val="1B6CA8"/>
          </a:solidFill>
          <a:ln w="12700">
            <a:solidFill>
              <a:srgbClr val="1B6CA8"/>
            </a:solidFill>
            <a:prstDash val="solid"/>
          </a:ln>
        </p:spPr>
      </p:sp>
      <p:sp>
        <p:nvSpPr>
          <p:cNvPr id="7" name="Text 5"/>
          <p:cNvSpPr/>
          <p:nvPr/>
        </p:nvSpPr>
        <p:spPr>
          <a:xfrm>
            <a:off x="640080" y="155448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Network Graph = Structural Moat</a:t>
            </a:r>
            <a:endParaRPr lang="en-US" sz="1200" dirty="0"/>
          </a:p>
        </p:txBody>
      </p:sp>
      <p:sp>
        <p:nvSpPr>
          <p:cNvPr id="8" name="Text 6"/>
          <p:cNvSpPr/>
          <p:nvPr/>
        </p:nvSpPr>
        <p:spPr>
          <a:xfrm>
            <a:off x="640080" y="1938528"/>
            <a:ext cx="3749040" cy="804672"/>
          </a:xfrm>
          <a:prstGeom prst="rect">
            <a:avLst/>
          </a:prstGeom>
          <a:noFill/>
          <a:ln/>
        </p:spPr>
        <p:txBody>
          <a:bodyPr wrap="square" lIns="0" tIns="0" rIns="0" bIns="0" rtlCol="0" anchor="ctr"/>
          <a:lstStyle/>
          <a:p>
            <a:pPr indent="0" marL="0">
              <a:buNone/>
            </a:pPr>
            <a:r>
              <a:rPr lang="en-US" sz="1050" dirty="0">
                <a:solidFill>
                  <a:srgbClr val="475569"/>
                </a:solidFill>
              </a:rPr>
              <a:t>You cannot buy 100K trust-weighted real-world relationships. Engineering spend cannot replicate them. Every new node makes every existing node more valuable — true network effects, not scale advantages.</a:t>
            </a:r>
            <a:endParaRPr lang="en-US" sz="1050" dirty="0"/>
          </a:p>
        </p:txBody>
      </p:sp>
      <p:sp>
        <p:nvSpPr>
          <p:cNvPr id="9" name="Shape 7"/>
          <p:cNvSpPr/>
          <p:nvPr/>
        </p:nvSpPr>
        <p:spPr>
          <a:xfrm>
            <a:off x="4846320" y="1463040"/>
            <a:ext cx="4114800" cy="13716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0" name="Shape 8"/>
          <p:cNvSpPr/>
          <p:nvPr/>
        </p:nvSpPr>
        <p:spPr>
          <a:xfrm>
            <a:off x="4846320" y="1463040"/>
            <a:ext cx="54864" cy="1371600"/>
          </a:xfrm>
          <a:prstGeom prst="rect">
            <a:avLst/>
          </a:prstGeom>
          <a:solidFill>
            <a:srgbClr val="1B6CA8"/>
          </a:solidFill>
          <a:ln w="12700">
            <a:solidFill>
              <a:srgbClr val="1B6CA8"/>
            </a:solidFill>
            <a:prstDash val="solid"/>
          </a:ln>
        </p:spPr>
      </p:sp>
      <p:sp>
        <p:nvSpPr>
          <p:cNvPr id="11" name="Text 9"/>
          <p:cNvSpPr/>
          <p:nvPr/>
        </p:nvSpPr>
        <p:spPr>
          <a:xfrm>
            <a:off x="5029200" y="155448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Invite-Only = Quality Guarantee</a:t>
            </a:r>
            <a:endParaRPr lang="en-US" sz="1200" dirty="0"/>
          </a:p>
        </p:txBody>
      </p:sp>
      <p:sp>
        <p:nvSpPr>
          <p:cNvPr id="12" name="Text 10"/>
          <p:cNvSpPr/>
          <p:nvPr/>
        </p:nvSpPr>
        <p:spPr>
          <a:xfrm>
            <a:off x="5029200" y="1938528"/>
            <a:ext cx="3749040" cy="804672"/>
          </a:xfrm>
          <a:prstGeom prst="rect">
            <a:avLst/>
          </a:prstGeom>
          <a:noFill/>
          <a:ln/>
        </p:spPr>
        <p:txBody>
          <a:bodyPr wrap="square" lIns="0" tIns="0" rIns="0" bIns="0" rtlCol="0" anchor="ctr"/>
          <a:lstStyle/>
          <a:p>
            <a:pPr indent="0" marL="0">
              <a:buNone/>
            </a:pPr>
            <a:r>
              <a:rPr lang="en-US" sz="1050" dirty="0">
                <a:solidFill>
                  <a:srgbClr val="475569"/>
                </a:solidFill>
              </a:rPr>
              <a:t>Open registration floods the trust graph with strangers and destroys the core value proposition. WarmPath's invite-only model is not a growth hack — it is the product architecture.</a:t>
            </a:r>
            <a:endParaRPr lang="en-US" sz="1050" dirty="0"/>
          </a:p>
        </p:txBody>
      </p:sp>
      <p:sp>
        <p:nvSpPr>
          <p:cNvPr id="13" name="Shape 11"/>
          <p:cNvSpPr/>
          <p:nvPr/>
        </p:nvSpPr>
        <p:spPr>
          <a:xfrm>
            <a:off x="457200" y="3017520"/>
            <a:ext cx="4114800" cy="13716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4" name="Shape 12"/>
          <p:cNvSpPr/>
          <p:nvPr/>
        </p:nvSpPr>
        <p:spPr>
          <a:xfrm>
            <a:off x="457200" y="3017520"/>
            <a:ext cx="54864" cy="1371600"/>
          </a:xfrm>
          <a:prstGeom prst="rect">
            <a:avLst/>
          </a:prstGeom>
          <a:solidFill>
            <a:srgbClr val="1B6CA8"/>
          </a:solidFill>
          <a:ln w="12700">
            <a:solidFill>
              <a:srgbClr val="1B6CA8"/>
            </a:solidFill>
            <a:prstDash val="solid"/>
          </a:ln>
        </p:spPr>
      </p:sp>
      <p:sp>
        <p:nvSpPr>
          <p:cNvPr id="15" name="Text 13"/>
          <p:cNvSpPr/>
          <p:nvPr/>
        </p:nvSpPr>
        <p:spPr>
          <a:xfrm>
            <a:off x="640080" y="310896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Reputation Layer = Compounding Data</a:t>
            </a:r>
            <a:endParaRPr lang="en-US" sz="1200" dirty="0"/>
          </a:p>
        </p:txBody>
      </p:sp>
      <p:sp>
        <p:nvSpPr>
          <p:cNvPr id="16" name="Text 14"/>
          <p:cNvSpPr/>
          <p:nvPr/>
        </p:nvSpPr>
        <p:spPr>
          <a:xfrm>
            <a:off x="640080" y="3493008"/>
            <a:ext cx="3749040" cy="804672"/>
          </a:xfrm>
          <a:prstGeom prst="rect">
            <a:avLst/>
          </a:prstGeom>
          <a:noFill/>
          <a:ln/>
        </p:spPr>
        <p:txBody>
          <a:bodyPr wrap="square" lIns="0" tIns="0" rIns="0" bIns="0" rtlCol="0" anchor="ctr"/>
          <a:lstStyle/>
          <a:p>
            <a:pPr indent="0" marL="0">
              <a:buNone/>
            </a:pPr>
            <a:r>
              <a:rPr lang="en-US" sz="1050" dirty="0">
                <a:solidFill>
                  <a:srgbClr val="475569"/>
                </a:solidFill>
              </a:rPr>
              <a:t>Every introduction rated, every deal outcome tracked. After 18 months, WarmPath knows which connectors generate the best deals, which profiles convert, and which trust paths are real vs. nominal. That data is the product.</a:t>
            </a:r>
            <a:endParaRPr lang="en-US" sz="1050" dirty="0"/>
          </a:p>
        </p:txBody>
      </p:sp>
      <p:sp>
        <p:nvSpPr>
          <p:cNvPr id="17" name="Shape 15"/>
          <p:cNvSpPr/>
          <p:nvPr/>
        </p:nvSpPr>
        <p:spPr>
          <a:xfrm>
            <a:off x="4846320" y="3017520"/>
            <a:ext cx="4114800" cy="137160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8" name="Shape 16"/>
          <p:cNvSpPr/>
          <p:nvPr/>
        </p:nvSpPr>
        <p:spPr>
          <a:xfrm>
            <a:off x="4846320" y="3017520"/>
            <a:ext cx="54864" cy="1371600"/>
          </a:xfrm>
          <a:prstGeom prst="rect">
            <a:avLst/>
          </a:prstGeom>
          <a:solidFill>
            <a:srgbClr val="1B6CA8"/>
          </a:solidFill>
          <a:ln w="12700">
            <a:solidFill>
              <a:srgbClr val="1B6CA8"/>
            </a:solidFill>
            <a:prstDash val="solid"/>
          </a:ln>
        </p:spPr>
      </p:sp>
      <p:sp>
        <p:nvSpPr>
          <p:cNvPr id="19" name="Text 17"/>
          <p:cNvSpPr/>
          <p:nvPr/>
        </p:nvSpPr>
        <p:spPr>
          <a:xfrm>
            <a:off x="5029200" y="310896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LinkedIn Won't Build This</a:t>
            </a:r>
            <a:endParaRPr lang="en-US" sz="1200" dirty="0"/>
          </a:p>
        </p:txBody>
      </p:sp>
      <p:sp>
        <p:nvSpPr>
          <p:cNvPr id="20" name="Text 18"/>
          <p:cNvSpPr/>
          <p:nvPr/>
        </p:nvSpPr>
        <p:spPr>
          <a:xfrm>
            <a:off x="5029200" y="3493008"/>
            <a:ext cx="3749040" cy="804672"/>
          </a:xfrm>
          <a:prstGeom prst="rect">
            <a:avLst/>
          </a:prstGeom>
          <a:noFill/>
          <a:ln/>
        </p:spPr>
        <p:txBody>
          <a:bodyPr wrap="square" lIns="0" tIns="0" rIns="0" bIns="0" rtlCol="0" anchor="ctr"/>
          <a:lstStyle/>
          <a:p>
            <a:pPr indent="0" marL="0">
              <a:buNone/>
            </a:pPr>
            <a:r>
              <a:rPr lang="en-US" sz="1050" dirty="0">
                <a:solidFill>
                  <a:srgbClr val="475569"/>
                </a:solidFill>
              </a:rPr>
              <a:t>Sales Navigator generates $2B+/year from cold outreach workflows. Building warm intro routing would cannibalize their own revenue and admit their core product is broken. They are structurally prevented from competing.</a:t>
            </a:r>
            <a:endParaRPr lang="en-US" sz="1050" dirty="0"/>
          </a:p>
        </p:txBody>
      </p:sp>
      <p:sp>
        <p:nvSpPr>
          <p:cNvPr id="21" name="Text 19"/>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14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RISK TRANSPARENCY</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rPr>
              <a:t>We've red-teamed this. Here's what's real.</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412480" cy="914400"/>
        </p:xfrm>
        <a:graphic>
          <a:graphicData uri="http://schemas.openxmlformats.org/drawingml/2006/table">
            <a:tbl>
              <a:tblPr/>
              <a:tblGrid>
                <a:gridCol w="2011680"/>
                <a:gridCol w="822960"/>
                <a:gridCol w="5577840"/>
              </a:tblGrid>
              <a:tr h="0">
                <a:tc>
                  <a:txBody>
                    <a:bodyPr/>
                    <a:lstStyle/>
                    <a:p>
                      <a:pPr indent="0" marL="0">
                        <a:buNone/>
                      </a:pPr>
                      <a:r>
                        <a:rPr lang="en-US" sz="1000" b="1" dirty="0">
                          <a:solidFill>
                            <a:srgbClr val="E8A020"/>
                          </a:solidFill>
                        </a:rPr>
                        <a:t>Risk</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E8A020"/>
                          </a:solidFill>
                        </a:rPr>
                        <a:t>Severity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1000" b="1" dirty="0">
                          <a:solidFill>
                            <a:srgbClr val="E8A020"/>
                          </a:solidFill>
                        </a:rPr>
                        <a:t>Mitigation</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FFFFFF"/>
                          </a:solidFill>
                        </a:rPr>
                        <a:t>Cold Start / Network Density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DC2626"/>
                          </a:solidFill>
                        </a:rPr>
                        <a:t>HIGH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950" dirty="0">
                          <a:solidFill>
                            <a:srgbClr val="A8BDD0"/>
                          </a:solidFill>
                        </a:rPr>
                        <a:t>Hyper-focus on one vertical (lenders) in one metro. Founder seeds from own network. 500 nodes in a single city generates dense-enough graph for real matches within weeks.</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FFFFFF"/>
                          </a:solidFill>
                        </a:rPr>
                        <a:t>Intermediary Won't Tap 'Introduce'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b="1" dirty="0">
                          <a:solidFill>
                            <a:srgbClr val="DC2626"/>
                          </a:solidFill>
                        </a:rPr>
                        <a:t>HIGH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950" dirty="0">
                          <a:solidFill>
                            <a:srgbClr val="A8BDD0"/>
                          </a:solidFill>
                        </a:rPr>
                        <a:t>AI-drafted messages reduce the friction of the ask to near zero. Rate-limiting prevents fatigue. Opt-in preferences let connectors set their own rules.</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r h="0">
                <a:tc>
                  <a:txBody>
                    <a:bodyPr/>
                    <a:lstStyle/>
                    <a:p>
                      <a:pPr indent="0" marL="0">
                        <a:buNone/>
                      </a:pPr>
                      <a:r>
                        <a:rPr lang="en-US" sz="1000" b="1" dirty="0">
                          <a:solidFill>
                            <a:srgbClr val="FFFFFF"/>
                          </a:solidFill>
                        </a:rPr>
                        <a:t>Contact Import Perceived as Creepy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DC2626"/>
                          </a:solidFill>
                        </a:rPr>
                        <a:t>HIGH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950" dirty="0">
                          <a:solidFill>
                            <a:srgbClr val="A8BDD0"/>
                          </a:solidFill>
                        </a:rPr>
                        <a:t>Explicit opt-in only. Contacts hashed, never stored raw. Only shows contacts already on platform. Signal/WhatsApp-identical privacy model — document it publicly.</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r h="0">
                <a:tc>
                  <a:txBody>
                    <a:bodyPr/>
                    <a:lstStyle/>
                    <a:p>
                      <a:pPr indent="0" marL="0">
                        <a:buNone/>
                      </a:pPr>
                      <a:r>
                        <a:rPr lang="en-US" sz="1000" b="1" dirty="0">
                          <a:solidFill>
                            <a:srgbClr val="FFFFFF"/>
                          </a:solidFill>
                        </a:rPr>
                        <a:t>Users Don't Pay $39/month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algn="ctr" indent="0" marL="0">
                        <a:buNone/>
                      </a:pPr>
                      <a:r>
                        <a:rPr lang="en-US" sz="1000" b="1" dirty="0">
                          <a:solidFill>
                            <a:srgbClr val="E8A020"/>
                          </a:solidFill>
                        </a:rPr>
                        <a:t>MED</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c>
                  <a:txBody>
                    <a:bodyPr/>
                    <a:lstStyle/>
                    <a:p>
                      <a:pPr indent="0" marL="0">
                        <a:buNone/>
                      </a:pPr>
                      <a:r>
                        <a:rPr lang="en-US" sz="950" dirty="0">
                          <a:solidFill>
                            <a:srgbClr val="A8BDD0"/>
                          </a:solidFill>
                        </a:rPr>
                        <a:t>Free tier proves value first. Paywall hits at 2 intro requests/month — exactly when the product has demonstrated it works. ROI framing: one deal = 100x annual sub cost.</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F1E30"/>
                    </a:solidFill>
                  </a:tcPr>
                </a:tc>
              </a:tr>
              <a:tr h="0">
                <a:tc>
                  <a:txBody>
                    <a:bodyPr/>
                    <a:lstStyle/>
                    <a:p>
                      <a:pPr indent="0" marL="0">
                        <a:buNone/>
                      </a:pPr>
                      <a:r>
                        <a:rPr lang="en-US" sz="1000" b="1" dirty="0">
                          <a:solidFill>
                            <a:srgbClr val="FFFFFF"/>
                          </a:solidFill>
                        </a:rPr>
                        <a:t>LinkedIn Builds This</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algn="ctr" indent="0" marL="0">
                        <a:buNone/>
                      </a:pPr>
                      <a:r>
                        <a:rPr lang="en-US" sz="1000" b="1" dirty="0">
                          <a:solidFill>
                            <a:srgbClr val="E8A020"/>
                          </a:solidFill>
                        </a:rPr>
                        <a:t>MED</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c>
                  <a:txBody>
                    <a:bodyPr/>
                    <a:lstStyle/>
                    <a:p>
                      <a:pPr indent="0" marL="0">
                        <a:buNone/>
                      </a:pPr>
                      <a:r>
                        <a:rPr lang="en-US" sz="950" dirty="0">
                          <a:solidFill>
                            <a:srgbClr val="A8BDD0"/>
                          </a:solidFill>
                        </a:rPr>
                        <a:t>Would cannibalize their $2B+ Sales Navigator cold-outreach revenue. Structurally prevented. The Swarm had 2 years of runway without LinkedIn responding.</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132237"/>
                    </a:solidFill>
                  </a:tcPr>
                </a:tc>
              </a:tr>
            </a:tbl>
          </a:graphicData>
        </a:graphic>
      </p:graphicFrame>
      <p:sp>
        <p:nvSpPr>
          <p:cNvPr id="6" name="Text 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15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REGULATORY</a:t>
            </a:r>
            <a:endParaRPr lang="en-US" sz="800" dirty="0"/>
          </a:p>
        </p:txBody>
      </p:sp>
      <p:sp>
        <p:nvSpPr>
          <p:cNvPr id="4" name="Text 2"/>
          <p:cNvSpPr/>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D1B2A"/>
                </a:solidFill>
              </a:rPr>
              <a:t>No securities. No broker-dealer. Same category as LinkedIn.</a:t>
            </a:r>
            <a:endParaRPr lang="en-US" sz="2400" dirty="0"/>
          </a:p>
        </p:txBody>
      </p:sp>
      <p:sp>
        <p:nvSpPr>
          <p:cNvPr id="5" name="Shape 3"/>
          <p:cNvSpPr/>
          <p:nvPr/>
        </p:nvSpPr>
        <p:spPr>
          <a:xfrm>
            <a:off x="457200" y="1234440"/>
            <a:ext cx="4114800" cy="13716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457200" y="1234440"/>
            <a:ext cx="54864" cy="1371600"/>
          </a:xfrm>
          <a:prstGeom prst="rect">
            <a:avLst/>
          </a:prstGeom>
          <a:solidFill>
            <a:srgbClr val="16A34A"/>
          </a:solidFill>
          <a:ln w="12700">
            <a:solidFill>
              <a:srgbClr val="16A34A"/>
            </a:solidFill>
            <a:prstDash val="solid"/>
          </a:ln>
        </p:spPr>
      </p:sp>
      <p:sp>
        <p:nvSpPr>
          <p:cNvPr id="7" name="Text 5"/>
          <p:cNvSpPr/>
          <p:nvPr/>
        </p:nvSpPr>
        <p:spPr>
          <a:xfrm>
            <a:off x="640080" y="132588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  Not a Marketplace</a:t>
            </a:r>
            <a:endParaRPr lang="en-US" sz="1200" dirty="0"/>
          </a:p>
        </p:txBody>
      </p:sp>
      <p:sp>
        <p:nvSpPr>
          <p:cNvPr id="8" name="Text 6"/>
          <p:cNvSpPr/>
          <p:nvPr/>
        </p:nvSpPr>
        <p:spPr>
          <a:xfrm>
            <a:off x="640080" y="1709928"/>
            <a:ext cx="3749040" cy="804672"/>
          </a:xfrm>
          <a:prstGeom prst="rect">
            <a:avLst/>
          </a:prstGeom>
          <a:noFill/>
          <a:ln/>
        </p:spPr>
        <p:txBody>
          <a:bodyPr wrap="square" lIns="0" tIns="0" rIns="0" bIns="0" rtlCol="0" anchor="ctr"/>
          <a:lstStyle/>
          <a:p>
            <a:pPr indent="0" marL="0">
              <a:buNone/>
            </a:pPr>
            <a:r>
              <a:rPr lang="en-US" sz="1050" dirty="0">
                <a:solidFill>
                  <a:srgbClr val="475569"/>
                </a:solidFill>
              </a:rPr>
              <a:t>WarmPath does not facilitate transactions, hold money, or execute deals. It makes introductions. No broker-dealer registration required.</a:t>
            </a:r>
            <a:endParaRPr lang="en-US" sz="1050" dirty="0"/>
          </a:p>
        </p:txBody>
      </p:sp>
      <p:sp>
        <p:nvSpPr>
          <p:cNvPr id="9" name="Shape 7"/>
          <p:cNvSpPr/>
          <p:nvPr/>
        </p:nvSpPr>
        <p:spPr>
          <a:xfrm>
            <a:off x="4846320" y="1234440"/>
            <a:ext cx="4114800" cy="13716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0" name="Shape 8"/>
          <p:cNvSpPr/>
          <p:nvPr/>
        </p:nvSpPr>
        <p:spPr>
          <a:xfrm>
            <a:off x="4846320" y="1234440"/>
            <a:ext cx="54864" cy="1371600"/>
          </a:xfrm>
          <a:prstGeom prst="rect">
            <a:avLst/>
          </a:prstGeom>
          <a:solidFill>
            <a:srgbClr val="16A34A"/>
          </a:solidFill>
          <a:ln w="12700">
            <a:solidFill>
              <a:srgbClr val="16A34A"/>
            </a:solidFill>
            <a:prstDash val="solid"/>
          </a:ln>
        </p:spPr>
      </p:sp>
      <p:sp>
        <p:nvSpPr>
          <p:cNvPr id="11" name="Text 9"/>
          <p:cNvSpPr/>
          <p:nvPr/>
        </p:nvSpPr>
        <p:spPr>
          <a:xfrm>
            <a:off x="5029200" y="132588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  Not a Securities Platform</a:t>
            </a:r>
            <a:endParaRPr lang="en-US" sz="1200" dirty="0"/>
          </a:p>
        </p:txBody>
      </p:sp>
      <p:sp>
        <p:nvSpPr>
          <p:cNvPr id="12" name="Text 10"/>
          <p:cNvSpPr/>
          <p:nvPr/>
        </p:nvSpPr>
        <p:spPr>
          <a:xfrm>
            <a:off x="5029200" y="1709928"/>
            <a:ext cx="3749040" cy="804672"/>
          </a:xfrm>
          <a:prstGeom prst="rect">
            <a:avLst/>
          </a:prstGeom>
          <a:noFill/>
          <a:ln/>
        </p:spPr>
        <p:txBody>
          <a:bodyPr wrap="square" lIns="0" tIns="0" rIns="0" bIns="0" rtlCol="0" anchor="ctr"/>
          <a:lstStyle/>
          <a:p>
            <a:pPr indent="0" marL="0">
              <a:buNone/>
            </a:pPr>
            <a:r>
              <a:rPr lang="en-US" sz="1050" dirty="0">
                <a:solidFill>
                  <a:srgbClr val="475569"/>
                </a:solidFill>
              </a:rPr>
              <a:t>No investment instruments are sold, listed, or recommended. Revenue from subscriptions and service-provider profiles — not transaction fees.</a:t>
            </a:r>
            <a:endParaRPr lang="en-US" sz="1050" dirty="0"/>
          </a:p>
        </p:txBody>
      </p:sp>
      <p:sp>
        <p:nvSpPr>
          <p:cNvPr id="13" name="Shape 11"/>
          <p:cNvSpPr/>
          <p:nvPr/>
        </p:nvSpPr>
        <p:spPr>
          <a:xfrm>
            <a:off x="457200" y="2788920"/>
            <a:ext cx="4114800" cy="13716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4" name="Shape 12"/>
          <p:cNvSpPr/>
          <p:nvPr/>
        </p:nvSpPr>
        <p:spPr>
          <a:xfrm>
            <a:off x="457200" y="2788920"/>
            <a:ext cx="54864" cy="1371600"/>
          </a:xfrm>
          <a:prstGeom prst="rect">
            <a:avLst/>
          </a:prstGeom>
          <a:solidFill>
            <a:srgbClr val="16A34A"/>
          </a:solidFill>
          <a:ln w="12700">
            <a:solidFill>
              <a:srgbClr val="16A34A"/>
            </a:solidFill>
            <a:prstDash val="solid"/>
          </a:ln>
        </p:spPr>
      </p:sp>
      <p:sp>
        <p:nvSpPr>
          <p:cNvPr id="15" name="Text 13"/>
          <p:cNvSpPr/>
          <p:nvPr/>
        </p:nvSpPr>
        <p:spPr>
          <a:xfrm>
            <a:off x="640080" y="288036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  Privacy Compliant</a:t>
            </a:r>
            <a:endParaRPr lang="en-US" sz="1200" dirty="0"/>
          </a:p>
        </p:txBody>
      </p:sp>
      <p:sp>
        <p:nvSpPr>
          <p:cNvPr id="16" name="Text 14"/>
          <p:cNvSpPr/>
          <p:nvPr/>
        </p:nvSpPr>
        <p:spPr>
          <a:xfrm>
            <a:off x="640080" y="3264408"/>
            <a:ext cx="3749040" cy="804672"/>
          </a:xfrm>
          <a:prstGeom prst="rect">
            <a:avLst/>
          </a:prstGeom>
          <a:noFill/>
          <a:ln/>
        </p:spPr>
        <p:txBody>
          <a:bodyPr wrap="square" lIns="0" tIns="0" rIns="0" bIns="0" rtlCol="0" anchor="ctr"/>
          <a:lstStyle/>
          <a:p>
            <a:pPr indent="0" marL="0">
              <a:buNone/>
            </a:pPr>
            <a:r>
              <a:rPr lang="en-US" sz="1050" dirty="0">
                <a:solidFill>
                  <a:srgbClr val="475569"/>
                </a:solidFill>
              </a:rPr>
              <a:t>Contacts hashed pre-upload. Raw phone numbers never stored on server. Opt-in data sharing. Standard CCPA/GDPR compliance — identical to Signal, WhatsApp.</a:t>
            </a:r>
            <a:endParaRPr lang="en-US" sz="1050" dirty="0"/>
          </a:p>
        </p:txBody>
      </p:sp>
      <p:sp>
        <p:nvSpPr>
          <p:cNvPr id="17" name="Shape 15"/>
          <p:cNvSpPr/>
          <p:nvPr/>
        </p:nvSpPr>
        <p:spPr>
          <a:xfrm>
            <a:off x="4846320" y="2788920"/>
            <a:ext cx="4114800" cy="137160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6000"/>
              </a:srgbClr>
            </a:outerShdw>
          </a:effectLst>
        </p:spPr>
      </p:sp>
      <p:sp>
        <p:nvSpPr>
          <p:cNvPr id="18" name="Shape 16"/>
          <p:cNvSpPr/>
          <p:nvPr/>
        </p:nvSpPr>
        <p:spPr>
          <a:xfrm>
            <a:off x="4846320" y="2788920"/>
            <a:ext cx="54864" cy="1371600"/>
          </a:xfrm>
          <a:prstGeom prst="rect">
            <a:avLst/>
          </a:prstGeom>
          <a:solidFill>
            <a:srgbClr val="16A34A"/>
          </a:solidFill>
          <a:ln w="12700">
            <a:solidFill>
              <a:srgbClr val="16A34A"/>
            </a:solidFill>
            <a:prstDash val="solid"/>
          </a:ln>
        </p:spPr>
      </p:sp>
      <p:sp>
        <p:nvSpPr>
          <p:cNvPr id="19" name="Text 17"/>
          <p:cNvSpPr/>
          <p:nvPr/>
        </p:nvSpPr>
        <p:spPr>
          <a:xfrm>
            <a:off x="5029200" y="2880360"/>
            <a:ext cx="3749040" cy="347472"/>
          </a:xfrm>
          <a:prstGeom prst="rect">
            <a:avLst/>
          </a:prstGeom>
          <a:noFill/>
          <a:ln/>
        </p:spPr>
        <p:txBody>
          <a:bodyPr wrap="square" lIns="0" tIns="0" rIns="0" bIns="0" rtlCol="0" anchor="ctr"/>
          <a:lstStyle/>
          <a:p>
            <a:pPr indent="0" marL="0">
              <a:buNone/>
            </a:pPr>
            <a:r>
              <a:rPr lang="en-US" sz="1200" b="1" dirty="0">
                <a:solidFill>
                  <a:srgbClr val="0D1B2A"/>
                </a:solidFill>
              </a:rPr>
              <a:t>✓  Same Regulatory Category</a:t>
            </a:r>
            <a:endParaRPr lang="en-US" sz="1200" dirty="0"/>
          </a:p>
        </p:txBody>
      </p:sp>
      <p:sp>
        <p:nvSpPr>
          <p:cNvPr id="20" name="Text 18"/>
          <p:cNvSpPr/>
          <p:nvPr/>
        </p:nvSpPr>
        <p:spPr>
          <a:xfrm>
            <a:off x="5029200" y="3264408"/>
            <a:ext cx="3749040" cy="804672"/>
          </a:xfrm>
          <a:prstGeom prst="rect">
            <a:avLst/>
          </a:prstGeom>
          <a:noFill/>
          <a:ln/>
        </p:spPr>
        <p:txBody>
          <a:bodyPr wrap="square" lIns="0" tIns="0" rIns="0" bIns="0" rtlCol="0" anchor="ctr"/>
          <a:lstStyle/>
          <a:p>
            <a:pPr indent="0" marL="0">
              <a:buNone/>
            </a:pPr>
            <a:r>
              <a:rPr lang="en-US" sz="1050" dirty="0">
                <a:solidFill>
                  <a:srgbClr val="475569"/>
                </a:solidFill>
              </a:rPr>
              <a:t>LinkedIn, Lunchclub, The Swarm — all operate as professional networking platforms. WarmPath is in the same legal bucket with a tighter privacy model.</a:t>
            </a:r>
            <a:endParaRPr lang="en-US" sz="1050" dirty="0"/>
          </a:p>
        </p:txBody>
      </p:sp>
      <p:sp>
        <p:nvSpPr>
          <p:cNvPr id="21" name="Text 19"/>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16 / 24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8 — THE ASK</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FFFFFF"/>
                </a:solidFill>
              </a:rPr>
              <a:t>Three ways to start. One recommended.</a:t>
            </a:r>
            <a:endParaRPr lang="en-US" sz="2800" dirty="0"/>
          </a:p>
        </p:txBody>
      </p:sp>
      <p:sp>
        <p:nvSpPr>
          <p:cNvPr id="5" name="Shape 3"/>
          <p:cNvSpPr/>
          <p:nvPr/>
        </p:nvSpPr>
        <p:spPr>
          <a:xfrm>
            <a:off x="365760" y="1143000"/>
            <a:ext cx="2743200" cy="3749040"/>
          </a:xfrm>
          <a:prstGeom prst="rect">
            <a:avLst/>
          </a:prstGeom>
          <a:solidFill>
            <a:srgbClr val="132237"/>
          </a:solidFill>
          <a:ln w="12700">
            <a:solidFill>
              <a:srgbClr val="1E3A5A"/>
            </a:solidFill>
            <a:prstDash val="solid"/>
          </a:ln>
        </p:spPr>
      </p:sp>
      <p:sp>
        <p:nvSpPr>
          <p:cNvPr id="6" name="Shape 4"/>
          <p:cNvSpPr/>
          <p:nvPr/>
        </p:nvSpPr>
        <p:spPr>
          <a:xfrm>
            <a:off x="365760" y="1143000"/>
            <a:ext cx="2743200" cy="438912"/>
          </a:xfrm>
          <a:prstGeom prst="rect">
            <a:avLst/>
          </a:prstGeom>
          <a:solidFill>
            <a:srgbClr val="1B6CA8"/>
          </a:solidFill>
          <a:ln w="12700">
            <a:solidFill>
              <a:srgbClr val="1B6CA8"/>
            </a:solidFill>
            <a:prstDash val="solid"/>
          </a:ln>
        </p:spPr>
      </p:sp>
      <p:sp>
        <p:nvSpPr>
          <p:cNvPr id="7" name="Text 5"/>
          <p:cNvSpPr/>
          <p:nvPr/>
        </p:nvSpPr>
        <p:spPr>
          <a:xfrm>
            <a:off x="457200" y="1143000"/>
            <a:ext cx="2560320" cy="438912"/>
          </a:xfrm>
          <a:prstGeom prst="rect">
            <a:avLst/>
          </a:prstGeom>
          <a:noFill/>
          <a:ln/>
        </p:spPr>
        <p:txBody>
          <a:bodyPr wrap="square" lIns="0" tIns="0" rIns="0" bIns="0" rtlCol="0" anchor="ctr"/>
          <a:lstStyle/>
          <a:p>
            <a:pPr indent="0" marL="0">
              <a:buNone/>
            </a:pPr>
            <a:r>
              <a:rPr lang="en-US" sz="1100" b="1" dirty="0">
                <a:solidFill>
                  <a:srgbClr val="0D1B2A"/>
                </a:solidFill>
              </a:rPr>
              <a:t>Option A: Validation Sprint</a:t>
            </a:r>
            <a:endParaRPr lang="en-US" sz="1100" dirty="0"/>
          </a:p>
        </p:txBody>
      </p:sp>
      <p:sp>
        <p:nvSpPr>
          <p:cNvPr id="8" name="Text 6"/>
          <p:cNvSpPr/>
          <p:nvPr/>
        </p:nvSpPr>
        <p:spPr>
          <a:xfrm>
            <a:off x="457200" y="1645920"/>
            <a:ext cx="2560320" cy="256032"/>
          </a:xfrm>
          <a:prstGeom prst="rect">
            <a:avLst/>
          </a:prstGeom>
          <a:noFill/>
          <a:ln/>
        </p:spPr>
        <p:txBody>
          <a:bodyPr wrap="square" lIns="0" tIns="0" rIns="0" bIns="0" rtlCol="0" anchor="ctr"/>
          <a:lstStyle/>
          <a:p>
            <a:pPr indent="0" marL="0">
              <a:buNone/>
            </a:pPr>
            <a:r>
              <a:rPr lang="en-US" sz="950" b="1" dirty="0">
                <a:solidFill>
                  <a:srgbClr val="1B6CA8"/>
                </a:solidFill>
              </a:rPr>
              <a:t>2 Weeks</a:t>
            </a:r>
            <a:endParaRPr lang="en-US" sz="950" dirty="0"/>
          </a:p>
        </p:txBody>
      </p:sp>
      <p:sp>
        <p:nvSpPr>
          <p:cNvPr id="9" name="Text 7"/>
          <p:cNvSpPr/>
          <p:nvPr/>
        </p:nvSpPr>
        <p:spPr>
          <a:xfrm>
            <a:off x="457200" y="1938528"/>
            <a:ext cx="2560320" cy="1005840"/>
          </a:xfrm>
          <a:prstGeom prst="rect">
            <a:avLst/>
          </a:prstGeom>
          <a:noFill/>
          <a:ln/>
        </p:spPr>
        <p:txBody>
          <a:bodyPr wrap="square" lIns="0" tIns="0" rIns="0" bIns="0" rtlCol="0" anchor="ctr"/>
          <a:lstStyle/>
          <a:p>
            <a:pPr indent="0" marL="0">
              <a:buNone/>
            </a:pPr>
            <a:r>
              <a:rPr lang="en-US" sz="1000" dirty="0">
                <a:solidFill>
                  <a:srgbClr val="A8BDD0"/>
                </a:solidFill>
              </a:rPr>
              <a:t>Manual process. No code. Founder manually maps network, runs 10 intro requests by hand, measures conversion and user response. Prove the concept before building anything.</a:t>
            </a:r>
            <a:endParaRPr lang="en-US" sz="1000" dirty="0"/>
          </a:p>
        </p:txBody>
      </p:sp>
      <p:sp>
        <p:nvSpPr>
          <p:cNvPr id="10" name="Shape 8"/>
          <p:cNvSpPr/>
          <p:nvPr/>
        </p:nvSpPr>
        <p:spPr>
          <a:xfrm>
            <a:off x="457200" y="3017520"/>
            <a:ext cx="2560320" cy="27432"/>
          </a:xfrm>
          <a:prstGeom prst="rect">
            <a:avLst/>
          </a:prstGeom>
          <a:solidFill>
            <a:srgbClr val="1B6CA8"/>
          </a:solidFill>
          <a:ln w="12700">
            <a:solidFill>
              <a:srgbClr val="1B6CA8"/>
            </a:solidFill>
            <a:prstDash val="solid"/>
          </a:ln>
        </p:spPr>
      </p:sp>
      <p:sp>
        <p:nvSpPr>
          <p:cNvPr id="11" name="Text 9"/>
          <p:cNvSpPr/>
          <p:nvPr/>
        </p:nvSpPr>
        <p:spPr>
          <a:xfrm>
            <a:off x="457200" y="3090672"/>
            <a:ext cx="2560320" cy="274320"/>
          </a:xfrm>
          <a:prstGeom prst="rect">
            <a:avLst/>
          </a:prstGeom>
          <a:noFill/>
          <a:ln/>
        </p:spPr>
        <p:txBody>
          <a:bodyPr wrap="square" lIns="0" tIns="0" rIns="0" bIns="0" rtlCol="0" anchor="ctr"/>
          <a:lstStyle/>
          <a:p>
            <a:pPr indent="0" marL="0">
              <a:buNone/>
            </a:pPr>
            <a:r>
              <a:rPr lang="en-US" sz="950" b="1" dirty="0">
                <a:solidFill>
                  <a:srgbClr val="1B6CA8"/>
                </a:solidFill>
              </a:rPr>
              <a:t>›  </a:t>
            </a:r>
            <a:pPr indent="0" marL="0">
              <a:buNone/>
            </a:pPr>
            <a:r>
              <a:rPr lang="en-US" sz="950" dirty="0">
                <a:solidFill>
                  <a:srgbClr val="A8BDD0"/>
                </a:solidFill>
              </a:rPr>
              <a:t>Network map (manual)</a:t>
            </a:r>
            <a:endParaRPr lang="en-US" sz="950" dirty="0"/>
          </a:p>
        </p:txBody>
      </p:sp>
      <p:sp>
        <p:nvSpPr>
          <p:cNvPr id="12" name="Text 10"/>
          <p:cNvSpPr/>
          <p:nvPr/>
        </p:nvSpPr>
        <p:spPr>
          <a:xfrm>
            <a:off x="457200" y="3383280"/>
            <a:ext cx="2560320" cy="274320"/>
          </a:xfrm>
          <a:prstGeom prst="rect">
            <a:avLst/>
          </a:prstGeom>
          <a:noFill/>
          <a:ln/>
        </p:spPr>
        <p:txBody>
          <a:bodyPr wrap="square" lIns="0" tIns="0" rIns="0" bIns="0" rtlCol="0" anchor="ctr"/>
          <a:lstStyle/>
          <a:p>
            <a:pPr indent="0" marL="0">
              <a:buNone/>
            </a:pPr>
            <a:r>
              <a:rPr lang="en-US" sz="950" b="1" dirty="0">
                <a:solidFill>
                  <a:srgbClr val="1B6CA8"/>
                </a:solidFill>
              </a:rPr>
              <a:t>›  </a:t>
            </a:r>
            <a:pPr indent="0" marL="0">
              <a:buNone/>
            </a:pPr>
            <a:r>
              <a:rPr lang="en-US" sz="950" dirty="0">
                <a:solidFill>
                  <a:srgbClr val="A8BDD0"/>
                </a:solidFill>
              </a:rPr>
              <a:t>10 live intro tests</a:t>
            </a:r>
            <a:endParaRPr lang="en-US" sz="950" dirty="0"/>
          </a:p>
        </p:txBody>
      </p:sp>
      <p:sp>
        <p:nvSpPr>
          <p:cNvPr id="13" name="Text 11"/>
          <p:cNvSpPr/>
          <p:nvPr/>
        </p:nvSpPr>
        <p:spPr>
          <a:xfrm>
            <a:off x="457200" y="3675888"/>
            <a:ext cx="2560320" cy="274320"/>
          </a:xfrm>
          <a:prstGeom prst="rect">
            <a:avLst/>
          </a:prstGeom>
          <a:noFill/>
          <a:ln/>
        </p:spPr>
        <p:txBody>
          <a:bodyPr wrap="square" lIns="0" tIns="0" rIns="0" bIns="0" rtlCol="0" anchor="ctr"/>
          <a:lstStyle/>
          <a:p>
            <a:pPr indent="0" marL="0">
              <a:buNone/>
            </a:pPr>
            <a:r>
              <a:rPr lang="en-US" sz="950" b="1" dirty="0">
                <a:solidFill>
                  <a:srgbClr val="1B6CA8"/>
                </a:solidFill>
              </a:rPr>
              <a:t>›  </a:t>
            </a:r>
            <a:pPr indent="0" marL="0">
              <a:buNone/>
            </a:pPr>
            <a:r>
              <a:rPr lang="en-US" sz="950" dirty="0">
                <a:solidFill>
                  <a:srgbClr val="A8BDD0"/>
                </a:solidFill>
              </a:rPr>
              <a:t>Conversion data + user interviews</a:t>
            </a:r>
            <a:endParaRPr lang="en-US" sz="950" dirty="0"/>
          </a:p>
        </p:txBody>
      </p:sp>
      <p:sp>
        <p:nvSpPr>
          <p:cNvPr id="14" name="Shape 12"/>
          <p:cNvSpPr/>
          <p:nvPr/>
        </p:nvSpPr>
        <p:spPr>
          <a:xfrm>
            <a:off x="3246120" y="1143000"/>
            <a:ext cx="2743200" cy="3749040"/>
          </a:xfrm>
          <a:prstGeom prst="rect">
            <a:avLst/>
          </a:prstGeom>
          <a:solidFill>
            <a:srgbClr val="0A2540"/>
          </a:solidFill>
          <a:ln w="12700">
            <a:solidFill>
              <a:srgbClr val="E8A020"/>
            </a:solidFill>
            <a:prstDash val="solid"/>
          </a:ln>
        </p:spPr>
      </p:sp>
      <p:sp>
        <p:nvSpPr>
          <p:cNvPr id="15" name="Shape 13"/>
          <p:cNvSpPr/>
          <p:nvPr/>
        </p:nvSpPr>
        <p:spPr>
          <a:xfrm>
            <a:off x="3246120" y="1143000"/>
            <a:ext cx="2743200" cy="438912"/>
          </a:xfrm>
          <a:prstGeom prst="rect">
            <a:avLst/>
          </a:prstGeom>
          <a:solidFill>
            <a:srgbClr val="E8A020"/>
          </a:solidFill>
          <a:ln w="12700">
            <a:solidFill>
              <a:srgbClr val="E8A020"/>
            </a:solidFill>
            <a:prstDash val="solid"/>
          </a:ln>
        </p:spPr>
      </p:sp>
      <p:sp>
        <p:nvSpPr>
          <p:cNvPr id="16" name="Text 14"/>
          <p:cNvSpPr/>
          <p:nvPr/>
        </p:nvSpPr>
        <p:spPr>
          <a:xfrm>
            <a:off x="3337560" y="1143000"/>
            <a:ext cx="2560320" cy="438912"/>
          </a:xfrm>
          <a:prstGeom prst="rect">
            <a:avLst/>
          </a:prstGeom>
          <a:noFill/>
          <a:ln/>
        </p:spPr>
        <p:txBody>
          <a:bodyPr wrap="square" lIns="0" tIns="0" rIns="0" bIns="0" rtlCol="0" anchor="ctr"/>
          <a:lstStyle/>
          <a:p>
            <a:pPr indent="0" marL="0">
              <a:buNone/>
            </a:pPr>
            <a:r>
              <a:rPr lang="en-US" sz="1100" b="1" dirty="0">
                <a:solidFill>
                  <a:srgbClr val="0D1B2A"/>
                </a:solidFill>
              </a:rPr>
              <a:t>Option B ★: Sprint 0: Core Engine</a:t>
            </a:r>
            <a:endParaRPr lang="en-US" sz="1100" dirty="0"/>
          </a:p>
        </p:txBody>
      </p:sp>
      <p:sp>
        <p:nvSpPr>
          <p:cNvPr id="17" name="Text 15"/>
          <p:cNvSpPr/>
          <p:nvPr/>
        </p:nvSpPr>
        <p:spPr>
          <a:xfrm>
            <a:off x="3337560" y="1645920"/>
            <a:ext cx="2560320" cy="256032"/>
          </a:xfrm>
          <a:prstGeom prst="rect">
            <a:avLst/>
          </a:prstGeom>
          <a:noFill/>
          <a:ln/>
        </p:spPr>
        <p:txBody>
          <a:bodyPr wrap="square" lIns="0" tIns="0" rIns="0" bIns="0" rtlCol="0" anchor="ctr"/>
          <a:lstStyle/>
          <a:p>
            <a:pPr indent="0" marL="0">
              <a:buNone/>
            </a:pPr>
            <a:r>
              <a:rPr lang="en-US" sz="950" b="1" dirty="0">
                <a:solidFill>
                  <a:srgbClr val="E8A020"/>
                </a:solidFill>
              </a:rPr>
              <a:t>4–6 Weeks</a:t>
            </a:r>
            <a:endParaRPr lang="en-US" sz="950" dirty="0"/>
          </a:p>
        </p:txBody>
      </p:sp>
      <p:sp>
        <p:nvSpPr>
          <p:cNvPr id="18" name="Text 16"/>
          <p:cNvSpPr/>
          <p:nvPr/>
        </p:nvSpPr>
        <p:spPr>
          <a:xfrm>
            <a:off x="3337560" y="1938528"/>
            <a:ext cx="2560320" cy="1005840"/>
          </a:xfrm>
          <a:prstGeom prst="rect">
            <a:avLst/>
          </a:prstGeom>
          <a:noFill/>
          <a:ln/>
        </p:spPr>
        <p:txBody>
          <a:bodyPr wrap="square" lIns="0" tIns="0" rIns="0" bIns="0" rtlCol="0" anchor="ctr"/>
          <a:lstStyle/>
          <a:p>
            <a:pPr indent="0" marL="0">
              <a:buNone/>
            </a:pPr>
            <a:r>
              <a:rPr lang="en-US" sz="1000" dirty="0">
                <a:solidFill>
                  <a:srgbClr val="A8BDD0"/>
                </a:solidFill>
              </a:rPr>
              <a:t>Auth + contact import + structured profiles + manual intro request flow. No AI yet. Real app, real users, real intros. Proves the graph and the opt-in flow before the AI layer.</a:t>
            </a:r>
            <a:endParaRPr lang="en-US" sz="1000" dirty="0"/>
          </a:p>
        </p:txBody>
      </p:sp>
      <p:sp>
        <p:nvSpPr>
          <p:cNvPr id="19" name="Shape 17"/>
          <p:cNvSpPr/>
          <p:nvPr/>
        </p:nvSpPr>
        <p:spPr>
          <a:xfrm>
            <a:off x="3337560" y="3017520"/>
            <a:ext cx="2560320" cy="27432"/>
          </a:xfrm>
          <a:prstGeom prst="rect">
            <a:avLst/>
          </a:prstGeom>
          <a:solidFill>
            <a:srgbClr val="E8A020"/>
          </a:solidFill>
          <a:ln w="12700">
            <a:solidFill>
              <a:srgbClr val="E8A020"/>
            </a:solidFill>
            <a:prstDash val="solid"/>
          </a:ln>
        </p:spPr>
      </p:sp>
      <p:sp>
        <p:nvSpPr>
          <p:cNvPr id="20" name="Text 18"/>
          <p:cNvSpPr/>
          <p:nvPr/>
        </p:nvSpPr>
        <p:spPr>
          <a:xfrm>
            <a:off x="3337560" y="3090672"/>
            <a:ext cx="2560320" cy="274320"/>
          </a:xfrm>
          <a:prstGeom prst="rect">
            <a:avLst/>
          </a:prstGeom>
          <a:noFill/>
          <a:ln/>
        </p:spPr>
        <p:txBody>
          <a:bodyPr wrap="square" lIns="0" tIns="0" rIns="0" bIns="0" rtlCol="0" anchor="ctr"/>
          <a:lstStyle/>
          <a:p>
            <a:pPr indent="0" marL="0">
              <a:buNone/>
            </a:pPr>
            <a:r>
              <a:rPr lang="en-US" sz="950" b="1" dirty="0">
                <a:solidFill>
                  <a:srgbClr val="E8A020"/>
                </a:solidFill>
              </a:rPr>
              <a:t>›  </a:t>
            </a:r>
            <a:pPr indent="0" marL="0">
              <a:buNone/>
            </a:pPr>
            <a:r>
              <a:rPr lang="en-US" sz="950" dirty="0">
                <a:solidFill>
                  <a:srgbClr val="A8BDD0"/>
                </a:solidFill>
              </a:rPr>
              <a:t>Invite-only auth + phone contact import</a:t>
            </a:r>
            <a:endParaRPr lang="en-US" sz="950" dirty="0"/>
          </a:p>
        </p:txBody>
      </p:sp>
      <p:sp>
        <p:nvSpPr>
          <p:cNvPr id="21" name="Text 19"/>
          <p:cNvSpPr/>
          <p:nvPr/>
        </p:nvSpPr>
        <p:spPr>
          <a:xfrm>
            <a:off x="3337560" y="3383280"/>
            <a:ext cx="2560320" cy="274320"/>
          </a:xfrm>
          <a:prstGeom prst="rect">
            <a:avLst/>
          </a:prstGeom>
          <a:noFill/>
          <a:ln/>
        </p:spPr>
        <p:txBody>
          <a:bodyPr wrap="square" lIns="0" tIns="0" rIns="0" bIns="0" rtlCol="0" anchor="ctr"/>
          <a:lstStyle/>
          <a:p>
            <a:pPr indent="0" marL="0">
              <a:buNone/>
            </a:pPr>
            <a:r>
              <a:rPr lang="en-US" sz="950" b="1" dirty="0">
                <a:solidFill>
                  <a:srgbClr val="E8A020"/>
                </a:solidFill>
              </a:rPr>
              <a:t>›  </a:t>
            </a:r>
            <a:pPr indent="0" marL="0">
              <a:buNone/>
            </a:pPr>
            <a:r>
              <a:rPr lang="en-US" sz="950" dirty="0">
                <a:solidFill>
                  <a:srgbClr val="A8BDD0"/>
                </a:solidFill>
              </a:rPr>
              <a:t>Structured profile creation</a:t>
            </a:r>
            <a:endParaRPr lang="en-US" sz="950" dirty="0"/>
          </a:p>
        </p:txBody>
      </p:sp>
      <p:sp>
        <p:nvSpPr>
          <p:cNvPr id="22" name="Text 20"/>
          <p:cNvSpPr/>
          <p:nvPr/>
        </p:nvSpPr>
        <p:spPr>
          <a:xfrm>
            <a:off x="3337560" y="3675888"/>
            <a:ext cx="2560320" cy="274320"/>
          </a:xfrm>
          <a:prstGeom prst="rect">
            <a:avLst/>
          </a:prstGeom>
          <a:noFill/>
          <a:ln/>
        </p:spPr>
        <p:txBody>
          <a:bodyPr wrap="square" lIns="0" tIns="0" rIns="0" bIns="0" rtlCol="0" anchor="ctr"/>
          <a:lstStyle/>
          <a:p>
            <a:pPr indent="0" marL="0">
              <a:buNone/>
            </a:pPr>
            <a:r>
              <a:rPr lang="en-US" sz="950" b="1" dirty="0">
                <a:solidFill>
                  <a:srgbClr val="E8A020"/>
                </a:solidFill>
              </a:rPr>
              <a:t>›  </a:t>
            </a:r>
            <a:pPr indent="0" marL="0">
              <a:buNone/>
            </a:pPr>
            <a:r>
              <a:rPr lang="en-US" sz="950" dirty="0">
                <a:solidFill>
                  <a:srgbClr val="A8BDD0"/>
                </a:solidFill>
              </a:rPr>
              <a:t>Manual intro flow + push notifications</a:t>
            </a:r>
            <a:endParaRPr lang="en-US" sz="950" dirty="0"/>
          </a:p>
        </p:txBody>
      </p:sp>
      <p:sp>
        <p:nvSpPr>
          <p:cNvPr id="23" name="Shape 21"/>
          <p:cNvSpPr/>
          <p:nvPr/>
        </p:nvSpPr>
        <p:spPr>
          <a:xfrm>
            <a:off x="3794760" y="4526280"/>
            <a:ext cx="1645920" cy="274320"/>
          </a:xfrm>
          <a:prstGeom prst="rect">
            <a:avLst/>
          </a:prstGeom>
          <a:solidFill>
            <a:srgbClr val="E8A020"/>
          </a:solidFill>
          <a:ln w="12700">
            <a:solidFill>
              <a:srgbClr val="E8A020"/>
            </a:solidFill>
            <a:prstDash val="solid"/>
          </a:ln>
        </p:spPr>
      </p:sp>
      <p:sp>
        <p:nvSpPr>
          <p:cNvPr id="24" name="Text 22"/>
          <p:cNvSpPr/>
          <p:nvPr/>
        </p:nvSpPr>
        <p:spPr>
          <a:xfrm>
            <a:off x="3794760" y="4526280"/>
            <a:ext cx="1645920" cy="274320"/>
          </a:xfrm>
          <a:prstGeom prst="rect">
            <a:avLst/>
          </a:prstGeom>
          <a:noFill/>
          <a:ln/>
        </p:spPr>
        <p:txBody>
          <a:bodyPr wrap="square" lIns="0" tIns="0" rIns="0" bIns="0" rtlCol="0" anchor="ctr"/>
          <a:lstStyle/>
          <a:p>
            <a:pPr algn="ctr" indent="0" marL="0">
              <a:buNone/>
            </a:pPr>
            <a:r>
              <a:rPr lang="en-US" sz="900" b="1" spc="100" kern="0" dirty="0">
                <a:solidFill>
                  <a:srgbClr val="0D1B2A"/>
                </a:solidFill>
              </a:rPr>
              <a:t>RECOMMENDED</a:t>
            </a:r>
            <a:endParaRPr lang="en-US" sz="900" dirty="0"/>
          </a:p>
        </p:txBody>
      </p:sp>
      <p:sp>
        <p:nvSpPr>
          <p:cNvPr id="25" name="Shape 23"/>
          <p:cNvSpPr/>
          <p:nvPr/>
        </p:nvSpPr>
        <p:spPr>
          <a:xfrm>
            <a:off x="6126480" y="1143000"/>
            <a:ext cx="2743200" cy="3749040"/>
          </a:xfrm>
          <a:prstGeom prst="rect">
            <a:avLst/>
          </a:prstGeom>
          <a:solidFill>
            <a:srgbClr val="132237"/>
          </a:solidFill>
          <a:ln w="12700">
            <a:solidFill>
              <a:srgbClr val="1E3A5A"/>
            </a:solidFill>
            <a:prstDash val="solid"/>
          </a:ln>
        </p:spPr>
      </p:sp>
      <p:sp>
        <p:nvSpPr>
          <p:cNvPr id="26" name="Shape 24"/>
          <p:cNvSpPr/>
          <p:nvPr/>
        </p:nvSpPr>
        <p:spPr>
          <a:xfrm>
            <a:off x="6126480" y="1143000"/>
            <a:ext cx="2743200" cy="438912"/>
          </a:xfrm>
          <a:prstGeom prst="rect">
            <a:avLst/>
          </a:prstGeom>
          <a:solidFill>
            <a:srgbClr val="16A34A"/>
          </a:solidFill>
          <a:ln w="12700">
            <a:solidFill>
              <a:srgbClr val="16A34A"/>
            </a:solidFill>
            <a:prstDash val="solid"/>
          </a:ln>
        </p:spPr>
      </p:sp>
      <p:sp>
        <p:nvSpPr>
          <p:cNvPr id="27" name="Text 25"/>
          <p:cNvSpPr/>
          <p:nvPr/>
        </p:nvSpPr>
        <p:spPr>
          <a:xfrm>
            <a:off x="6217920" y="1143000"/>
            <a:ext cx="2560320" cy="438912"/>
          </a:xfrm>
          <a:prstGeom prst="rect">
            <a:avLst/>
          </a:prstGeom>
          <a:noFill/>
          <a:ln/>
        </p:spPr>
        <p:txBody>
          <a:bodyPr wrap="square" lIns="0" tIns="0" rIns="0" bIns="0" rtlCol="0" anchor="ctr"/>
          <a:lstStyle/>
          <a:p>
            <a:pPr indent="0" marL="0">
              <a:buNone/>
            </a:pPr>
            <a:r>
              <a:rPr lang="en-US" sz="1100" b="1" dirty="0">
                <a:solidFill>
                  <a:srgbClr val="0D1B2A"/>
                </a:solidFill>
              </a:rPr>
              <a:t>Option C: Full Phase 1 Build</a:t>
            </a:r>
            <a:endParaRPr lang="en-US" sz="1100" dirty="0"/>
          </a:p>
        </p:txBody>
      </p:sp>
      <p:sp>
        <p:nvSpPr>
          <p:cNvPr id="28" name="Text 26"/>
          <p:cNvSpPr/>
          <p:nvPr/>
        </p:nvSpPr>
        <p:spPr>
          <a:xfrm>
            <a:off x="6217920" y="1645920"/>
            <a:ext cx="2560320" cy="256032"/>
          </a:xfrm>
          <a:prstGeom prst="rect">
            <a:avLst/>
          </a:prstGeom>
          <a:noFill/>
          <a:ln/>
        </p:spPr>
        <p:txBody>
          <a:bodyPr wrap="square" lIns="0" tIns="0" rIns="0" bIns="0" rtlCol="0" anchor="ctr"/>
          <a:lstStyle/>
          <a:p>
            <a:pPr indent="0" marL="0">
              <a:buNone/>
            </a:pPr>
            <a:r>
              <a:rPr lang="en-US" sz="950" b="1" dirty="0">
                <a:solidFill>
                  <a:srgbClr val="16A34A"/>
                </a:solidFill>
              </a:rPr>
              <a:t>8 Weeks</a:t>
            </a:r>
            <a:endParaRPr lang="en-US" sz="950" dirty="0"/>
          </a:p>
        </p:txBody>
      </p:sp>
      <p:sp>
        <p:nvSpPr>
          <p:cNvPr id="29" name="Text 27"/>
          <p:cNvSpPr/>
          <p:nvPr/>
        </p:nvSpPr>
        <p:spPr>
          <a:xfrm>
            <a:off x="6217920" y="1938528"/>
            <a:ext cx="2560320" cy="1005840"/>
          </a:xfrm>
          <a:prstGeom prst="rect">
            <a:avLst/>
          </a:prstGeom>
          <a:noFill/>
          <a:ln/>
        </p:spPr>
        <p:txBody>
          <a:bodyPr wrap="square" lIns="0" tIns="0" rIns="0" bIns="0" rtlCol="0" anchor="ctr"/>
          <a:lstStyle/>
          <a:p>
            <a:pPr indent="0" marL="0">
              <a:buNone/>
            </a:pPr>
            <a:r>
              <a:rPr lang="en-US" sz="1000" dirty="0">
                <a:solidFill>
                  <a:srgbClr val="A8BDD0"/>
                </a:solidFill>
              </a:rPr>
              <a:t>Everything in Option B plus AI natural language search, trust-path calculation, auto-drafted intro messages, and Pro subscription launch. Full Phase 1 shipped.</a:t>
            </a:r>
            <a:endParaRPr lang="en-US" sz="1000" dirty="0"/>
          </a:p>
        </p:txBody>
      </p:sp>
      <p:sp>
        <p:nvSpPr>
          <p:cNvPr id="30" name="Shape 28"/>
          <p:cNvSpPr/>
          <p:nvPr/>
        </p:nvSpPr>
        <p:spPr>
          <a:xfrm>
            <a:off x="6217920" y="3017520"/>
            <a:ext cx="2560320" cy="27432"/>
          </a:xfrm>
          <a:prstGeom prst="rect">
            <a:avLst/>
          </a:prstGeom>
          <a:solidFill>
            <a:srgbClr val="16A34A"/>
          </a:solidFill>
          <a:ln w="12700">
            <a:solidFill>
              <a:srgbClr val="16A34A"/>
            </a:solidFill>
            <a:prstDash val="solid"/>
          </a:ln>
        </p:spPr>
      </p:sp>
      <p:sp>
        <p:nvSpPr>
          <p:cNvPr id="31" name="Text 29"/>
          <p:cNvSpPr/>
          <p:nvPr/>
        </p:nvSpPr>
        <p:spPr>
          <a:xfrm>
            <a:off x="6217920" y="3090672"/>
            <a:ext cx="2560320" cy="274320"/>
          </a:xfrm>
          <a:prstGeom prst="rect">
            <a:avLst/>
          </a:prstGeom>
          <a:noFill/>
          <a:ln/>
        </p:spPr>
        <p:txBody>
          <a:bodyPr wrap="square" lIns="0" tIns="0" rIns="0" bIns="0" rtlCol="0" anchor="ctr"/>
          <a:lstStyle/>
          <a:p>
            <a:pPr indent="0" marL="0">
              <a:buNone/>
            </a:pPr>
            <a:r>
              <a:rPr lang="en-US" sz="950" b="1" dirty="0">
                <a:solidFill>
                  <a:srgbClr val="16A34A"/>
                </a:solidFill>
              </a:rPr>
              <a:t>›  </a:t>
            </a:r>
            <a:pPr indent="0" marL="0">
              <a:buNone/>
            </a:pPr>
            <a:r>
              <a:rPr lang="en-US" sz="950" dirty="0">
                <a:solidFill>
                  <a:srgbClr val="A8BDD0"/>
                </a:solidFill>
              </a:rPr>
              <a:t>Full Phase 1 feature set</a:t>
            </a:r>
            <a:endParaRPr lang="en-US" sz="950" dirty="0"/>
          </a:p>
        </p:txBody>
      </p:sp>
      <p:sp>
        <p:nvSpPr>
          <p:cNvPr id="32" name="Text 30"/>
          <p:cNvSpPr/>
          <p:nvPr/>
        </p:nvSpPr>
        <p:spPr>
          <a:xfrm>
            <a:off x="6217920" y="3383280"/>
            <a:ext cx="2560320" cy="274320"/>
          </a:xfrm>
          <a:prstGeom prst="rect">
            <a:avLst/>
          </a:prstGeom>
          <a:noFill/>
          <a:ln/>
        </p:spPr>
        <p:txBody>
          <a:bodyPr wrap="square" lIns="0" tIns="0" rIns="0" bIns="0" rtlCol="0" anchor="ctr"/>
          <a:lstStyle/>
          <a:p>
            <a:pPr indent="0" marL="0">
              <a:buNone/>
            </a:pPr>
            <a:r>
              <a:rPr lang="en-US" sz="950" b="1" dirty="0">
                <a:solidFill>
                  <a:srgbClr val="16A34A"/>
                </a:solidFill>
              </a:rPr>
              <a:t>›  </a:t>
            </a:r>
            <a:pPr indent="0" marL="0">
              <a:buNone/>
            </a:pPr>
            <a:r>
              <a:rPr lang="en-US" sz="950" dirty="0">
                <a:solidFill>
                  <a:srgbClr val="A8BDD0"/>
                </a:solidFill>
              </a:rPr>
              <a:t>AI search + trust-path engine</a:t>
            </a:r>
            <a:endParaRPr lang="en-US" sz="950" dirty="0"/>
          </a:p>
        </p:txBody>
      </p:sp>
      <p:sp>
        <p:nvSpPr>
          <p:cNvPr id="33" name="Text 31"/>
          <p:cNvSpPr/>
          <p:nvPr/>
        </p:nvSpPr>
        <p:spPr>
          <a:xfrm>
            <a:off x="6217920" y="3675888"/>
            <a:ext cx="2560320" cy="274320"/>
          </a:xfrm>
          <a:prstGeom prst="rect">
            <a:avLst/>
          </a:prstGeom>
          <a:noFill/>
          <a:ln/>
        </p:spPr>
        <p:txBody>
          <a:bodyPr wrap="square" lIns="0" tIns="0" rIns="0" bIns="0" rtlCol="0" anchor="ctr"/>
          <a:lstStyle/>
          <a:p>
            <a:pPr indent="0" marL="0">
              <a:buNone/>
            </a:pPr>
            <a:r>
              <a:rPr lang="en-US" sz="950" b="1" dirty="0">
                <a:solidFill>
                  <a:srgbClr val="16A34A"/>
                </a:solidFill>
              </a:rPr>
              <a:t>›  </a:t>
            </a:r>
            <a:pPr indent="0" marL="0">
              <a:buNone/>
            </a:pPr>
            <a:r>
              <a:rPr lang="en-US" sz="950" dirty="0">
                <a:solidFill>
                  <a:srgbClr val="A8BDD0"/>
                </a:solidFill>
              </a:rPr>
              <a:t>Pro subscription ($39/mo) live</a:t>
            </a:r>
            <a:endParaRPr lang="en-US" sz="950" dirty="0"/>
          </a:p>
        </p:txBody>
      </p:sp>
      <p:sp>
        <p:nvSpPr>
          <p:cNvPr id="34" name="Text 32"/>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17 / 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8 — RECOMMENDATION</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0D1B2A"/>
                </a:solidFill>
              </a:rPr>
              <a:t>Start with Sprint 0. Here's why.</a:t>
            </a:r>
            <a:endParaRPr lang="en-US" sz="2800" dirty="0"/>
          </a:p>
        </p:txBody>
      </p:sp>
      <p:sp>
        <p:nvSpPr>
          <p:cNvPr id="5" name="Shape 3"/>
          <p:cNvSpPr/>
          <p:nvPr/>
        </p:nvSpPr>
        <p:spPr>
          <a:xfrm>
            <a:off x="457200" y="1143000"/>
            <a:ext cx="8412480" cy="196596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640080" y="1234440"/>
            <a:ext cx="8046720" cy="685800"/>
          </a:xfrm>
          <a:prstGeom prst="rect">
            <a:avLst/>
          </a:prstGeom>
          <a:noFill/>
          <a:ln/>
        </p:spPr>
        <p:txBody>
          <a:bodyPr wrap="square" lIns="0" tIns="0" rIns="0" bIns="0" rtlCol="0" anchor="ctr"/>
          <a:lstStyle/>
          <a:p>
            <a:pPr indent="0" marL="0">
              <a:buNone/>
            </a:pPr>
            <a:r>
              <a:rPr lang="en-US" sz="1200" dirty="0">
                <a:solidFill>
                  <a:srgbClr val="CBD5E1"/>
                </a:solidFill>
              </a:rPr>
              <a:t>Option A (Validation Sprint) tells you if the concept works. You already know it works — warm intros convert at 13x and nobody has automated the chain. You don't need a 2-week study to confirm what the market already proved.</a:t>
            </a:r>
            <a:endParaRPr lang="en-US" sz="1200" dirty="0"/>
          </a:p>
        </p:txBody>
      </p:sp>
      <p:sp>
        <p:nvSpPr>
          <p:cNvPr id="7" name="Text 5"/>
          <p:cNvSpPr/>
          <p:nvPr/>
        </p:nvSpPr>
        <p:spPr>
          <a:xfrm>
            <a:off x="640080" y="1920240"/>
            <a:ext cx="8046720" cy="685800"/>
          </a:xfrm>
          <a:prstGeom prst="rect">
            <a:avLst/>
          </a:prstGeom>
          <a:noFill/>
          <a:ln/>
        </p:spPr>
        <p:txBody>
          <a:bodyPr wrap="square" lIns="0" tIns="0" rIns="0" bIns="0" rtlCol="0" anchor="ctr"/>
          <a:lstStyle/>
          <a:p>
            <a:pPr indent="0" marL="0">
              <a:buNone/>
            </a:pPr>
            <a:r>
              <a:rPr lang="en-US" sz="1200" b="1" dirty="0">
                <a:solidFill>
                  <a:srgbClr val="FFFFFF"/>
                </a:solidFill>
              </a:rPr>
              <a:t>Option B ships a real product in 4–6 weeks, puts it in the hands of real users, and generates real conversion data — not survey data. That evidence funds Phase 2.</a:t>
            </a:r>
            <a:endParaRPr lang="en-US" sz="1200" dirty="0"/>
          </a:p>
        </p:txBody>
      </p:sp>
      <p:sp>
        <p:nvSpPr>
          <p:cNvPr id="8" name="Text 6"/>
          <p:cNvSpPr/>
          <p:nvPr/>
        </p:nvSpPr>
        <p:spPr>
          <a:xfrm>
            <a:off x="640080" y="2633472"/>
            <a:ext cx="8046720" cy="365760"/>
          </a:xfrm>
          <a:prstGeom prst="rect">
            <a:avLst/>
          </a:prstGeom>
          <a:noFill/>
          <a:ln/>
        </p:spPr>
        <p:txBody>
          <a:bodyPr wrap="square" lIns="0" tIns="0" rIns="0" bIns="0" rtlCol="0" anchor="ctr"/>
          <a:lstStyle/>
          <a:p>
            <a:pPr indent="0" marL="0">
              <a:buNone/>
            </a:pPr>
            <a:r>
              <a:rPr lang="en-US" sz="1150" i="1" dirty="0">
                <a:solidFill>
                  <a:srgbClr val="E8A020"/>
                </a:solidFill>
              </a:rPr>
              <a:t>Option C is where you go after Sprint 0 validates the intro flow. Not before.</a:t>
            </a:r>
            <a:endParaRPr lang="en-US" sz="1150" dirty="0"/>
          </a:p>
        </p:txBody>
      </p:sp>
      <p:sp>
        <p:nvSpPr>
          <p:cNvPr id="9" name="Shape 7"/>
          <p:cNvSpPr/>
          <p:nvPr/>
        </p:nvSpPr>
        <p:spPr>
          <a:xfrm>
            <a:off x="457200" y="3246120"/>
            <a:ext cx="8412480" cy="1508760"/>
          </a:xfrm>
          <a:prstGeom prst="rect">
            <a:avLst/>
          </a:prstGeom>
          <a:solidFill>
            <a:srgbClr val="EEF4FB"/>
          </a:solidFill>
          <a:ln w="12700">
            <a:solidFill>
              <a:srgbClr val="CBD5E1"/>
            </a:solidFill>
            <a:prstDash val="solid"/>
          </a:ln>
        </p:spPr>
      </p:sp>
      <p:sp>
        <p:nvSpPr>
          <p:cNvPr id="10" name="Shape 8"/>
          <p:cNvSpPr/>
          <p:nvPr/>
        </p:nvSpPr>
        <p:spPr>
          <a:xfrm>
            <a:off x="457200" y="3246120"/>
            <a:ext cx="8412480" cy="36576"/>
          </a:xfrm>
          <a:prstGeom prst="rect">
            <a:avLst/>
          </a:prstGeom>
          <a:solidFill>
            <a:srgbClr val="E8A020"/>
          </a:solidFill>
          <a:ln w="12700">
            <a:solidFill>
              <a:srgbClr val="E8A020"/>
            </a:solidFill>
            <a:prstDash val="solid"/>
          </a:ln>
        </p:spPr>
      </p:sp>
      <p:sp>
        <p:nvSpPr>
          <p:cNvPr id="11" name="Text 9"/>
          <p:cNvSpPr/>
          <p:nvPr/>
        </p:nvSpPr>
        <p:spPr>
          <a:xfrm>
            <a:off x="640080" y="3337560"/>
            <a:ext cx="8046720" cy="320040"/>
          </a:xfrm>
          <a:prstGeom prst="rect">
            <a:avLst/>
          </a:prstGeom>
          <a:noFill/>
          <a:ln/>
        </p:spPr>
        <p:txBody>
          <a:bodyPr wrap="square" lIns="0" tIns="0" rIns="0" bIns="0" rtlCol="0" anchor="ctr"/>
          <a:lstStyle/>
          <a:p>
            <a:pPr indent="0" marL="0">
              <a:buNone/>
            </a:pPr>
            <a:r>
              <a:rPr lang="en-US" sz="1200" b="1" dirty="0">
                <a:solidFill>
                  <a:srgbClr val="0D1B2A"/>
                </a:solidFill>
              </a:rPr>
              <a:t>Why start now:</a:t>
            </a:r>
            <a:endParaRPr lang="en-US" sz="1200" dirty="0"/>
          </a:p>
        </p:txBody>
      </p:sp>
      <p:sp>
        <p:nvSpPr>
          <p:cNvPr id="12" name="Text 10"/>
          <p:cNvSpPr/>
          <p:nvPr/>
        </p:nvSpPr>
        <p:spPr>
          <a:xfrm>
            <a:off x="640080" y="3694176"/>
            <a:ext cx="8046720" cy="914400"/>
          </a:xfrm>
          <a:prstGeom prst="rect">
            <a:avLst/>
          </a:prstGeom>
          <a:noFill/>
          <a:ln/>
        </p:spPr>
        <p:txBody>
          <a:bodyPr wrap="square" lIns="0" tIns="0" rIns="0" bIns="0" rtlCol="0" anchor="ctr"/>
          <a:lstStyle/>
          <a:p>
            <a:pPr indent="0" marL="0">
              <a:buNone/>
            </a:pPr>
            <a:r>
              <a:rPr lang="en-US" sz="1150" dirty="0">
                <a:solidFill>
                  <a:srgbClr val="475569"/>
                </a:solidFill>
              </a:rPr>
              <a:t>The window is open because LinkedIn InMail response rates just hit historic lows, deal-maker frustration is peaking, and AI quality has finally cleared the bar for natural-sounding intro messages. This exact combination wasn't true in 2022. The players who seed the trust graph first own it permanently. Network effects don't have a do-over.</a:t>
            </a:r>
            <a:endParaRPr lang="en-US" sz="1150" dirty="0"/>
          </a:p>
        </p:txBody>
      </p:sp>
      <p:sp>
        <p:nvSpPr>
          <p:cNvPr id="13" name="Text 11"/>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18 / 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A020"/>
          </a:solidFill>
          <a:ln w="12700">
            <a:solidFill>
              <a:srgbClr val="E8A020"/>
            </a:solidFill>
            <a:prstDash val="solid"/>
          </a:ln>
        </p:spPr>
      </p:sp>
      <p:sp>
        <p:nvSpPr>
          <p:cNvPr id="3" name="Shape 1"/>
          <p:cNvSpPr/>
          <p:nvPr/>
        </p:nvSpPr>
        <p:spPr>
          <a:xfrm>
            <a:off x="73152" y="0"/>
            <a:ext cx="36576" cy="5143500"/>
          </a:xfrm>
          <a:prstGeom prst="rect">
            <a:avLst/>
          </a:prstGeom>
          <a:solidFill>
            <a:srgbClr val="1B6CA8"/>
          </a:solidFill>
          <a:ln w="12700">
            <a:solidFill>
              <a:srgbClr val="1B6CA8"/>
            </a:solidFill>
            <a:prstDash val="solid"/>
          </a:ln>
        </p:spPr>
      </p:sp>
      <p:sp>
        <p:nvSpPr>
          <p:cNvPr id="4" name="Text 2"/>
          <p:cNvSpPr/>
          <p:nvPr/>
        </p:nvSpPr>
        <p:spPr>
          <a:xfrm>
            <a:off x="502920" y="1097280"/>
            <a:ext cx="8229600" cy="502920"/>
          </a:xfrm>
          <a:prstGeom prst="rect">
            <a:avLst/>
          </a:prstGeom>
          <a:noFill/>
          <a:ln/>
        </p:spPr>
        <p:txBody>
          <a:bodyPr wrap="square" lIns="0" tIns="0" rIns="0" bIns="0" rtlCol="0" anchor="ctr"/>
          <a:lstStyle/>
          <a:p>
            <a:pPr indent="0" marL="0">
              <a:buNone/>
            </a:pPr>
            <a:r>
              <a:rPr lang="en-US" sz="2200" dirty="0">
                <a:solidFill>
                  <a:srgbClr val="88A0B8"/>
                </a:solidFill>
              </a:rPr>
              <a:t>The question that closes this meeting:</a:t>
            </a:r>
            <a:endParaRPr lang="en-US" sz="2200" dirty="0"/>
          </a:p>
        </p:txBody>
      </p:sp>
      <p:sp>
        <p:nvSpPr>
          <p:cNvPr id="5" name="Text 3"/>
          <p:cNvSpPr/>
          <p:nvPr/>
        </p:nvSpPr>
        <p:spPr>
          <a:xfrm>
            <a:off x="502920" y="1691640"/>
            <a:ext cx="8229600" cy="137160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Which option fits</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where you are right now?</a:t>
            </a:r>
            <a:endParaRPr lang="en-US" sz="4200" dirty="0"/>
          </a:p>
        </p:txBody>
      </p:sp>
      <p:sp>
        <p:nvSpPr>
          <p:cNvPr id="6" name="Shape 4"/>
          <p:cNvSpPr/>
          <p:nvPr/>
        </p:nvSpPr>
        <p:spPr>
          <a:xfrm>
            <a:off x="502920" y="3246120"/>
            <a:ext cx="8229600" cy="27432"/>
          </a:xfrm>
          <a:prstGeom prst="rect">
            <a:avLst/>
          </a:prstGeom>
          <a:solidFill>
            <a:srgbClr val="E8A020"/>
          </a:solidFill>
          <a:ln w="12700">
            <a:solidFill>
              <a:srgbClr val="E8A020"/>
            </a:solidFill>
            <a:prstDash val="solid"/>
          </a:ln>
        </p:spPr>
      </p:sp>
      <p:sp>
        <p:nvSpPr>
          <p:cNvPr id="7" name="Text 5"/>
          <p:cNvSpPr/>
          <p:nvPr/>
        </p:nvSpPr>
        <p:spPr>
          <a:xfrm>
            <a:off x="502920" y="3401568"/>
            <a:ext cx="8321040" cy="365760"/>
          </a:xfrm>
          <a:prstGeom prst="rect">
            <a:avLst/>
          </a:prstGeom>
          <a:noFill/>
          <a:ln/>
        </p:spPr>
        <p:txBody>
          <a:bodyPr wrap="square" lIns="0" tIns="0" rIns="0" bIns="0" rtlCol="0" anchor="ctr"/>
          <a:lstStyle/>
          <a:p>
            <a:pPr indent="0" marL="0">
              <a:buNone/>
            </a:pPr>
            <a:r>
              <a:rPr lang="en-US" sz="1100" b="1" dirty="0">
                <a:solidFill>
                  <a:srgbClr val="1B6CA8"/>
                </a:solidFill>
              </a:rPr>
              <a:t>Option A  </a:t>
            </a:r>
            <a:pPr indent="0" marL="0">
              <a:buNone/>
            </a:pPr>
            <a:r>
              <a:rPr lang="en-US" sz="1100" dirty="0">
                <a:solidFill>
                  <a:srgbClr val="88A0B8"/>
                </a:solidFill>
              </a:rPr>
              <a:t>→  Validation Sprint  </a:t>
            </a:r>
            <a:pPr indent="0" marL="0">
              <a:buNone/>
            </a:pPr>
            <a:r>
              <a:rPr lang="en-US" sz="1100" dirty="0">
                <a:solidFill>
                  <a:srgbClr val="506070"/>
                </a:solidFill>
              </a:rPr>
              <a:t> · </a:t>
            </a:r>
            <a:pPr indent="0" marL="0">
              <a:buNone/>
            </a:pPr>
            <a:r>
              <a:rPr lang="en-US" sz="1100" b="1" dirty="0">
                <a:solidFill>
                  <a:srgbClr val="E8A020"/>
                </a:solidFill>
              </a:rPr>
              <a:t>  Option B ★  </a:t>
            </a:r>
            <a:pPr indent="0" marL="0">
              <a:buNone/>
            </a:pPr>
            <a:r>
              <a:rPr lang="en-US" sz="1100" dirty="0">
                <a:solidFill>
                  <a:srgbClr val="88A0B8"/>
                </a:solidFill>
              </a:rPr>
              <a:t>→  Sprint 0 (Recommended)  </a:t>
            </a:r>
            <a:pPr indent="0" marL="0">
              <a:buNone/>
            </a:pPr>
            <a:r>
              <a:rPr lang="en-US" sz="1100" dirty="0">
                <a:solidFill>
                  <a:srgbClr val="506070"/>
                </a:solidFill>
              </a:rPr>
              <a:t> · </a:t>
            </a:r>
            <a:pPr indent="0" marL="0">
              <a:buNone/>
            </a:pPr>
            <a:r>
              <a:rPr lang="en-US" sz="1100" b="1" dirty="0">
                <a:solidFill>
                  <a:srgbClr val="16A34A"/>
                </a:solidFill>
              </a:rPr>
              <a:t>  Option C  </a:t>
            </a:r>
            <a:pPr indent="0" marL="0">
              <a:buNone/>
            </a:pPr>
            <a:r>
              <a:rPr lang="en-US" sz="1100" dirty="0">
                <a:solidFill>
                  <a:srgbClr val="88A0B8"/>
                </a:solidFill>
              </a:rPr>
              <a:t>→  Full Phase 1</a:t>
            </a:r>
            <a:endParaRPr lang="en-US" sz="1100" dirty="0"/>
          </a:p>
        </p:txBody>
      </p:sp>
      <p:sp>
        <p:nvSpPr>
          <p:cNvPr id="8" name="Text 6"/>
          <p:cNvSpPr/>
          <p:nvPr/>
        </p:nvSpPr>
        <p:spPr>
          <a:xfrm>
            <a:off x="502920" y="4709160"/>
            <a:ext cx="8229600" cy="256032"/>
          </a:xfrm>
          <a:prstGeom prst="rect">
            <a:avLst/>
          </a:prstGeom>
          <a:noFill/>
          <a:ln/>
        </p:spPr>
        <p:txBody>
          <a:bodyPr wrap="square" lIns="0" tIns="0" rIns="0" bIns="0" rtlCol="0" anchor="ctr"/>
          <a:lstStyle/>
          <a:p>
            <a:pPr indent="0" marL="0">
              <a:buNone/>
            </a:pPr>
            <a:r>
              <a:rPr lang="en-US" sz="900" dirty="0">
                <a:solidFill>
                  <a:srgbClr val="506070"/>
                </a:solidFill>
              </a:rPr>
              <a:t>WarmPath  ·  AI-Powered Warm Referral Network  ·  Confidential 2026</a:t>
            </a:r>
            <a:endParaRPr lang="en-US" sz="900" dirty="0"/>
          </a:p>
        </p:txBody>
      </p:sp>
      <p:sp>
        <p:nvSpPr>
          <p:cNvPr id="9" name="Text 7"/>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19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REVENUE TRAJECTORY</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800" b="1" dirty="0">
                <a:solidFill>
                  <a:srgbClr val="0D1B2A"/>
                </a:solidFill>
              </a:rPr>
              <a:t>Month 5 breakeven. Month 12 at $1M ARR.</a:t>
            </a:r>
            <a:endParaRPr lang="en-US" sz="2800" dirty="0"/>
          </a:p>
        </p:txBody>
      </p:sp>
      <p:graphicFrame>
        <p:nvGraphicFramePr>
          <p:cNvPr id="5" name="Chart 0" descr=""/>
          <p:cNvGraphicFramePr/>
          <p:nvPr/>
        </p:nvGraphicFramePr>
        <p:xfrm>
          <a:off x="457200" y="1097280"/>
          <a:ext cx="8412480"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2651760" y="2697480"/>
            <a:ext cx="1280160" cy="347472"/>
          </a:xfrm>
          <a:prstGeom prst="rect">
            <a:avLst/>
          </a:prstGeom>
          <a:solidFill>
            <a:srgbClr val="16A34A"/>
          </a:solidFill>
          <a:ln w="12700">
            <a:solidFill>
              <a:srgbClr val="16A34A"/>
            </a:solidFill>
            <a:prstDash val="solid"/>
          </a:ln>
        </p:spPr>
      </p:sp>
      <p:sp>
        <p:nvSpPr>
          <p:cNvPr id="7" name="Text 4"/>
          <p:cNvSpPr/>
          <p:nvPr/>
        </p:nvSpPr>
        <p:spPr>
          <a:xfrm>
            <a:off x="2651760" y="2697480"/>
            <a:ext cx="1280160" cy="347472"/>
          </a:xfrm>
          <a:prstGeom prst="rect">
            <a:avLst/>
          </a:prstGeom>
          <a:noFill/>
          <a:ln/>
        </p:spPr>
        <p:txBody>
          <a:bodyPr wrap="square" lIns="0" tIns="0" rIns="0" bIns="0" rtlCol="0" anchor="ctr"/>
          <a:lstStyle/>
          <a:p>
            <a:pPr algn="ctr" indent="0" marL="0">
              <a:buNone/>
            </a:pPr>
            <a:r>
              <a:rPr lang="en-US" sz="900" b="1" dirty="0">
                <a:solidFill>
                  <a:srgbClr val="FFFFFF"/>
                </a:solidFill>
              </a:rPr>
              <a:t>Breakeven</a:t>
            </a:r>
            <a:endParaRPr lang="en-US" sz="900" dirty="0"/>
          </a:p>
        </p:txBody>
      </p:sp>
      <p:sp>
        <p:nvSpPr>
          <p:cNvPr id="8" name="Shape 5"/>
          <p:cNvSpPr/>
          <p:nvPr/>
        </p:nvSpPr>
        <p:spPr>
          <a:xfrm>
            <a:off x="8001000" y="1417320"/>
            <a:ext cx="822960" cy="347472"/>
          </a:xfrm>
          <a:prstGeom prst="rect">
            <a:avLst/>
          </a:prstGeom>
          <a:solidFill>
            <a:srgbClr val="E8A020"/>
          </a:solidFill>
          <a:ln w="12700">
            <a:solidFill>
              <a:srgbClr val="E8A020"/>
            </a:solidFill>
            <a:prstDash val="solid"/>
          </a:ln>
        </p:spPr>
      </p:sp>
      <p:sp>
        <p:nvSpPr>
          <p:cNvPr id="9" name="Text 6"/>
          <p:cNvSpPr/>
          <p:nvPr/>
        </p:nvSpPr>
        <p:spPr>
          <a:xfrm>
            <a:off x="8001000" y="1417320"/>
            <a:ext cx="822960" cy="347472"/>
          </a:xfrm>
          <a:prstGeom prst="rect">
            <a:avLst/>
          </a:prstGeom>
          <a:noFill/>
          <a:ln/>
        </p:spPr>
        <p:txBody>
          <a:bodyPr wrap="square" lIns="0" tIns="0" rIns="0" bIns="0" rtlCol="0" anchor="ctr"/>
          <a:lstStyle/>
          <a:p>
            <a:pPr algn="ctr" indent="0" marL="0">
              <a:buNone/>
            </a:pPr>
            <a:r>
              <a:rPr lang="en-US" sz="900" b="1" dirty="0">
                <a:solidFill>
                  <a:srgbClr val="0D1B2A"/>
                </a:solidFill>
              </a:rPr>
              <a:t>$1M ARR</a:t>
            </a:r>
            <a:endParaRPr lang="en-US" sz="900" dirty="0"/>
          </a:p>
        </p:txBody>
      </p:sp>
      <p:sp>
        <p:nvSpPr>
          <p:cNvPr id="10" name="Text 7"/>
          <p:cNvSpPr/>
          <p:nvPr/>
        </p:nvSpPr>
        <p:spPr>
          <a:xfrm>
            <a:off x="457200" y="4617720"/>
            <a:ext cx="8412480" cy="320040"/>
          </a:xfrm>
          <a:prstGeom prst="rect">
            <a:avLst/>
          </a:prstGeom>
          <a:noFill/>
          <a:ln/>
        </p:spPr>
        <p:txBody>
          <a:bodyPr wrap="square" lIns="0" tIns="0" rIns="0" bIns="0" rtlCol="0" anchor="ctr"/>
          <a:lstStyle/>
          <a:p>
            <a:pPr algn="ctr" indent="0" marL="0">
              <a:buNone/>
            </a:pPr>
            <a:r>
              <a:rPr lang="en-US" sz="950" i="1" dirty="0">
                <a:solidFill>
                  <a:srgbClr val="475569"/>
                </a:solidFill>
              </a:rPr>
              <a:t>Grey bars = pre-revenue phase (graph seeding)  ·  Teal = subscription revenue  ·  Gold = $1M ARR milestone</a:t>
            </a:r>
            <a:endParaRPr lang="en-US" sz="950" dirty="0"/>
          </a:p>
        </p:txBody>
      </p:sp>
      <p:sp>
        <p:nvSpPr>
          <p:cNvPr id="11" name="Text 8"/>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20 / 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GO-TO-MARKET</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FFFFFF"/>
                </a:solidFill>
              </a:rPr>
              <a:t>The launch playbook runs on relationships, not ads.</a:t>
            </a:r>
            <a:endParaRPr lang="en-US" sz="2600" dirty="0"/>
          </a:p>
        </p:txBody>
      </p:sp>
      <p:sp>
        <p:nvSpPr>
          <p:cNvPr id="5" name="Shape 3"/>
          <p:cNvSpPr/>
          <p:nvPr/>
        </p:nvSpPr>
        <p:spPr>
          <a:xfrm>
            <a:off x="365760" y="1143000"/>
            <a:ext cx="2743200" cy="3749040"/>
          </a:xfrm>
          <a:prstGeom prst="rect">
            <a:avLst/>
          </a:prstGeom>
          <a:solidFill>
            <a:srgbClr val="132237"/>
          </a:solidFill>
          <a:ln w="12700">
            <a:solidFill>
              <a:srgbClr val="1E3A5A"/>
            </a:solidFill>
            <a:prstDash val="solid"/>
          </a:ln>
        </p:spPr>
      </p:sp>
      <p:sp>
        <p:nvSpPr>
          <p:cNvPr id="6" name="Shape 4"/>
          <p:cNvSpPr/>
          <p:nvPr/>
        </p:nvSpPr>
        <p:spPr>
          <a:xfrm>
            <a:off x="365760" y="1143000"/>
            <a:ext cx="2743200" cy="438912"/>
          </a:xfrm>
          <a:prstGeom prst="rect">
            <a:avLst/>
          </a:prstGeom>
          <a:solidFill>
            <a:srgbClr val="1B6CA8"/>
          </a:solidFill>
          <a:ln w="12700">
            <a:solidFill>
              <a:srgbClr val="1B6CA8"/>
            </a:solidFill>
            <a:prstDash val="solid"/>
          </a:ln>
        </p:spPr>
      </p:sp>
      <p:sp>
        <p:nvSpPr>
          <p:cNvPr id="7" name="Text 5"/>
          <p:cNvSpPr/>
          <p:nvPr/>
        </p:nvSpPr>
        <p:spPr>
          <a:xfrm>
            <a:off x="457200" y="1143000"/>
            <a:ext cx="2560320" cy="438912"/>
          </a:xfrm>
          <a:prstGeom prst="rect">
            <a:avLst/>
          </a:prstGeom>
          <a:noFill/>
          <a:ln/>
        </p:spPr>
        <p:txBody>
          <a:bodyPr wrap="square" lIns="0" tIns="0" rIns="0" bIns="0" rtlCol="0" anchor="ctr"/>
          <a:lstStyle/>
          <a:p>
            <a:pPr indent="0" marL="0">
              <a:buNone/>
            </a:pPr>
            <a:r>
              <a:rPr lang="en-US" sz="1100" b="1" dirty="0">
                <a:solidFill>
                  <a:srgbClr val="0D1B2A"/>
                </a:solidFill>
              </a:rPr>
              <a:t>Weeks 1–4: Seed the Graph</a:t>
            </a:r>
            <a:endParaRPr lang="en-US" sz="1100" dirty="0"/>
          </a:p>
        </p:txBody>
      </p:sp>
      <p:sp>
        <p:nvSpPr>
          <p:cNvPr id="8" name="Text 6"/>
          <p:cNvSpPr/>
          <p:nvPr/>
        </p:nvSpPr>
        <p:spPr>
          <a:xfrm>
            <a:off x="457200" y="1664208"/>
            <a:ext cx="2560320" cy="384048"/>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Founder invites 50–100 personal contacts: flippers, lenders, GCs</a:t>
            </a:r>
            <a:endParaRPr lang="en-US" sz="1000" dirty="0"/>
          </a:p>
        </p:txBody>
      </p:sp>
      <p:sp>
        <p:nvSpPr>
          <p:cNvPr id="9" name="Text 7"/>
          <p:cNvSpPr/>
          <p:nvPr/>
        </p:nvSpPr>
        <p:spPr>
          <a:xfrm>
            <a:off x="457200" y="2066544"/>
            <a:ext cx="2560320" cy="384048"/>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Each invited user asks 10–20 of their contacts</a:t>
            </a:r>
            <a:endParaRPr lang="en-US" sz="1000" dirty="0"/>
          </a:p>
        </p:txBody>
      </p:sp>
      <p:sp>
        <p:nvSpPr>
          <p:cNvPr id="10" name="Text 8"/>
          <p:cNvSpPr/>
          <p:nvPr/>
        </p:nvSpPr>
        <p:spPr>
          <a:xfrm>
            <a:off x="457200" y="2468880"/>
            <a:ext cx="2560320" cy="384048"/>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Target: 500–1,000 users in 1–2 metros (density &gt; breadth)</a:t>
            </a:r>
            <a:endParaRPr lang="en-US" sz="1000" dirty="0"/>
          </a:p>
        </p:txBody>
      </p:sp>
      <p:sp>
        <p:nvSpPr>
          <p:cNvPr id="11" name="Text 9"/>
          <p:cNvSpPr/>
          <p:nvPr/>
        </p:nvSpPr>
        <p:spPr>
          <a:xfrm>
            <a:off x="457200" y="2871216"/>
            <a:ext cx="2560320" cy="384048"/>
          </a:xfrm>
          <a:prstGeom prst="rect">
            <a:avLst/>
          </a:prstGeom>
          <a:noFill/>
          <a:ln/>
        </p:spPr>
        <p:txBody>
          <a:bodyPr wrap="square" lIns="0" tIns="0" rIns="0" bIns="0" rtlCol="0" anchor="ctr"/>
          <a:lstStyle/>
          <a:p>
            <a:pPr indent="0" marL="0">
              <a:buNone/>
            </a:pPr>
            <a:r>
              <a:rPr lang="en-US" sz="1000" b="1" dirty="0">
                <a:solidFill>
                  <a:srgbClr val="1B6CA8"/>
                </a:solidFill>
              </a:rPr>
              <a:t>›  </a:t>
            </a:r>
            <a:pPr indent="0" marL="0">
              <a:buNone/>
            </a:pPr>
            <a:r>
              <a:rPr lang="en-US" sz="1000" dirty="0">
                <a:solidFill>
                  <a:srgbClr val="A8BDD0"/>
                </a:solidFill>
              </a:rPr>
              <a:t>Founder uses the product for his own deals — dogfood publicly</a:t>
            </a:r>
            <a:endParaRPr lang="en-US" sz="1000" dirty="0"/>
          </a:p>
        </p:txBody>
      </p:sp>
      <p:sp>
        <p:nvSpPr>
          <p:cNvPr id="12" name="Shape 10"/>
          <p:cNvSpPr/>
          <p:nvPr/>
        </p:nvSpPr>
        <p:spPr>
          <a:xfrm>
            <a:off x="457200" y="3657600"/>
            <a:ext cx="2560320" cy="27432"/>
          </a:xfrm>
          <a:prstGeom prst="rect">
            <a:avLst/>
          </a:prstGeom>
          <a:solidFill>
            <a:srgbClr val="1B6CA8"/>
          </a:solidFill>
          <a:ln w="12700">
            <a:solidFill>
              <a:srgbClr val="1B6CA8"/>
            </a:solidFill>
            <a:prstDash val="solid"/>
          </a:ln>
        </p:spPr>
      </p:sp>
      <p:sp>
        <p:nvSpPr>
          <p:cNvPr id="13" name="Text 11"/>
          <p:cNvSpPr/>
          <p:nvPr/>
        </p:nvSpPr>
        <p:spPr>
          <a:xfrm>
            <a:off x="457200" y="3749040"/>
            <a:ext cx="2560320" cy="594360"/>
          </a:xfrm>
          <a:prstGeom prst="rect">
            <a:avLst/>
          </a:prstGeom>
          <a:noFill/>
          <a:ln/>
        </p:spPr>
        <p:txBody>
          <a:bodyPr wrap="square" lIns="0" tIns="0" rIns="0" bIns="0" rtlCol="0" anchor="ctr"/>
          <a:lstStyle/>
          <a:p>
            <a:pPr indent="0" marL="0">
              <a:buNone/>
            </a:pPr>
            <a:r>
              <a:rPr lang="en-US" sz="950" i="1" dirty="0">
                <a:solidFill>
                  <a:srgbClr val="1B6CA8"/>
                </a:solidFill>
              </a:rPr>
              <a:t>Goal: First 3 successful intros documented</a:t>
            </a:r>
            <a:endParaRPr lang="en-US" sz="950" dirty="0"/>
          </a:p>
        </p:txBody>
      </p:sp>
      <p:sp>
        <p:nvSpPr>
          <p:cNvPr id="14" name="Shape 12"/>
          <p:cNvSpPr/>
          <p:nvPr/>
        </p:nvSpPr>
        <p:spPr>
          <a:xfrm>
            <a:off x="3246120" y="1143000"/>
            <a:ext cx="2743200" cy="3749040"/>
          </a:xfrm>
          <a:prstGeom prst="rect">
            <a:avLst/>
          </a:prstGeom>
          <a:solidFill>
            <a:srgbClr val="132237"/>
          </a:solidFill>
          <a:ln w="12700">
            <a:solidFill>
              <a:srgbClr val="1E3A5A"/>
            </a:solidFill>
            <a:prstDash val="solid"/>
          </a:ln>
        </p:spPr>
      </p:sp>
      <p:sp>
        <p:nvSpPr>
          <p:cNvPr id="15" name="Shape 13"/>
          <p:cNvSpPr/>
          <p:nvPr/>
        </p:nvSpPr>
        <p:spPr>
          <a:xfrm>
            <a:off x="3246120" y="1143000"/>
            <a:ext cx="2743200" cy="438912"/>
          </a:xfrm>
          <a:prstGeom prst="rect">
            <a:avLst/>
          </a:prstGeom>
          <a:solidFill>
            <a:srgbClr val="E8A020"/>
          </a:solidFill>
          <a:ln w="12700">
            <a:solidFill>
              <a:srgbClr val="E8A020"/>
            </a:solidFill>
            <a:prstDash val="solid"/>
          </a:ln>
        </p:spPr>
      </p:sp>
      <p:sp>
        <p:nvSpPr>
          <p:cNvPr id="16" name="Text 14"/>
          <p:cNvSpPr/>
          <p:nvPr/>
        </p:nvSpPr>
        <p:spPr>
          <a:xfrm>
            <a:off x="3337560" y="1143000"/>
            <a:ext cx="2560320" cy="438912"/>
          </a:xfrm>
          <a:prstGeom prst="rect">
            <a:avLst/>
          </a:prstGeom>
          <a:noFill/>
          <a:ln/>
        </p:spPr>
        <p:txBody>
          <a:bodyPr wrap="square" lIns="0" tIns="0" rIns="0" bIns="0" rtlCol="0" anchor="ctr"/>
          <a:lstStyle/>
          <a:p>
            <a:pPr indent="0" marL="0">
              <a:buNone/>
            </a:pPr>
            <a:r>
              <a:rPr lang="en-US" sz="1100" b="1" dirty="0">
                <a:solidFill>
                  <a:srgbClr val="0D1B2A"/>
                </a:solidFill>
              </a:rPr>
              <a:t>Months 2–3: Prove the Value</a:t>
            </a:r>
            <a:endParaRPr lang="en-US" sz="1100" dirty="0"/>
          </a:p>
        </p:txBody>
      </p:sp>
      <p:sp>
        <p:nvSpPr>
          <p:cNvPr id="17" name="Text 15"/>
          <p:cNvSpPr/>
          <p:nvPr/>
        </p:nvSpPr>
        <p:spPr>
          <a:xfrm>
            <a:off x="3337560" y="1664208"/>
            <a:ext cx="2560320" cy="384048"/>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Track + publicize intro outcomes: deal funded, project started</a:t>
            </a:r>
            <a:endParaRPr lang="en-US" sz="1000" dirty="0"/>
          </a:p>
        </p:txBody>
      </p:sp>
      <p:sp>
        <p:nvSpPr>
          <p:cNvPr id="18" name="Text 16"/>
          <p:cNvSpPr/>
          <p:nvPr/>
        </p:nvSpPr>
        <p:spPr>
          <a:xfrm>
            <a:off x="3337560" y="2066544"/>
            <a:ext cx="2560320" cy="384048"/>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Collect testimonials in the user's exact words, not polished PR</a:t>
            </a:r>
            <a:endParaRPr lang="en-US" sz="1000" dirty="0"/>
          </a:p>
        </p:txBody>
      </p:sp>
      <p:sp>
        <p:nvSpPr>
          <p:cNvPr id="19" name="Text 17"/>
          <p:cNvSpPr/>
          <p:nvPr/>
        </p:nvSpPr>
        <p:spPr>
          <a:xfrm>
            <a:off x="3337560" y="2468880"/>
            <a:ext cx="2560320" cy="384048"/>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Introduce Pro tier — paywall at 2 intro requests/month</a:t>
            </a:r>
            <a:endParaRPr lang="en-US" sz="1000" dirty="0"/>
          </a:p>
        </p:txBody>
      </p:sp>
      <p:sp>
        <p:nvSpPr>
          <p:cNvPr id="20" name="Text 18"/>
          <p:cNvSpPr/>
          <p:nvPr/>
        </p:nvSpPr>
        <p:spPr>
          <a:xfrm>
            <a:off x="3337560" y="2871216"/>
            <a:ext cx="2560320" cy="384048"/>
          </a:xfrm>
          <a:prstGeom prst="rect">
            <a:avLst/>
          </a:prstGeom>
          <a:noFill/>
          <a:ln/>
        </p:spPr>
        <p:txBody>
          <a:bodyPr wrap="square" lIns="0" tIns="0" rIns="0" bIns="0" rtlCol="0" anchor="ctr"/>
          <a:lstStyle/>
          <a:p>
            <a:pPr indent="0" marL="0">
              <a:buNone/>
            </a:pPr>
            <a:r>
              <a:rPr lang="en-US" sz="1000" b="1" dirty="0">
                <a:solidFill>
                  <a:srgbClr val="E8A020"/>
                </a:solidFill>
              </a:rPr>
              <a:t>›  </a:t>
            </a:r>
            <a:pPr indent="0" marL="0">
              <a:buNone/>
            </a:pPr>
            <a:r>
              <a:rPr lang="en-US" sz="1000" dirty="0">
                <a:solidFill>
                  <a:srgbClr val="A8BDD0"/>
                </a:solidFill>
              </a:rPr>
              <a:t>Post 2 case study videos: 'I found my lender in 20 minutes'</a:t>
            </a:r>
            <a:endParaRPr lang="en-US" sz="1000" dirty="0"/>
          </a:p>
        </p:txBody>
      </p:sp>
      <p:sp>
        <p:nvSpPr>
          <p:cNvPr id="21" name="Shape 19"/>
          <p:cNvSpPr/>
          <p:nvPr/>
        </p:nvSpPr>
        <p:spPr>
          <a:xfrm>
            <a:off x="3337560" y="3657600"/>
            <a:ext cx="2560320" cy="27432"/>
          </a:xfrm>
          <a:prstGeom prst="rect">
            <a:avLst/>
          </a:prstGeom>
          <a:solidFill>
            <a:srgbClr val="E8A020"/>
          </a:solidFill>
          <a:ln w="12700">
            <a:solidFill>
              <a:srgbClr val="E8A020"/>
            </a:solidFill>
            <a:prstDash val="solid"/>
          </a:ln>
        </p:spPr>
      </p:sp>
      <p:sp>
        <p:nvSpPr>
          <p:cNvPr id="22" name="Text 20"/>
          <p:cNvSpPr/>
          <p:nvPr/>
        </p:nvSpPr>
        <p:spPr>
          <a:xfrm>
            <a:off x="3337560" y="3749040"/>
            <a:ext cx="2560320" cy="594360"/>
          </a:xfrm>
          <a:prstGeom prst="rect">
            <a:avLst/>
          </a:prstGeom>
          <a:noFill/>
          <a:ln/>
        </p:spPr>
        <p:txBody>
          <a:bodyPr wrap="square" lIns="0" tIns="0" rIns="0" bIns="0" rtlCol="0" anchor="ctr"/>
          <a:lstStyle/>
          <a:p>
            <a:pPr indent="0" marL="0">
              <a:buNone/>
            </a:pPr>
            <a:r>
              <a:rPr lang="en-US" sz="950" i="1" dirty="0">
                <a:solidFill>
                  <a:srgbClr val="E8A020"/>
                </a:solidFill>
              </a:rPr>
              <a:t>Goal: $5K MRR · 3 documented deal closings via platform</a:t>
            </a:r>
            <a:endParaRPr lang="en-US" sz="950" dirty="0"/>
          </a:p>
        </p:txBody>
      </p:sp>
      <p:sp>
        <p:nvSpPr>
          <p:cNvPr id="23" name="Shape 21"/>
          <p:cNvSpPr/>
          <p:nvPr/>
        </p:nvSpPr>
        <p:spPr>
          <a:xfrm>
            <a:off x="6126480" y="1143000"/>
            <a:ext cx="2743200" cy="3749040"/>
          </a:xfrm>
          <a:prstGeom prst="rect">
            <a:avLst/>
          </a:prstGeom>
          <a:solidFill>
            <a:srgbClr val="132237"/>
          </a:solidFill>
          <a:ln w="12700">
            <a:solidFill>
              <a:srgbClr val="1E3A5A"/>
            </a:solidFill>
            <a:prstDash val="solid"/>
          </a:ln>
        </p:spPr>
      </p:sp>
      <p:sp>
        <p:nvSpPr>
          <p:cNvPr id="24" name="Shape 22"/>
          <p:cNvSpPr/>
          <p:nvPr/>
        </p:nvSpPr>
        <p:spPr>
          <a:xfrm>
            <a:off x="6126480" y="1143000"/>
            <a:ext cx="2743200" cy="438912"/>
          </a:xfrm>
          <a:prstGeom prst="rect">
            <a:avLst/>
          </a:prstGeom>
          <a:solidFill>
            <a:srgbClr val="16A34A"/>
          </a:solidFill>
          <a:ln w="12700">
            <a:solidFill>
              <a:srgbClr val="16A34A"/>
            </a:solidFill>
            <a:prstDash val="solid"/>
          </a:ln>
        </p:spPr>
      </p:sp>
      <p:sp>
        <p:nvSpPr>
          <p:cNvPr id="25" name="Text 23"/>
          <p:cNvSpPr/>
          <p:nvPr/>
        </p:nvSpPr>
        <p:spPr>
          <a:xfrm>
            <a:off x="6217920" y="1143000"/>
            <a:ext cx="2560320" cy="438912"/>
          </a:xfrm>
          <a:prstGeom prst="rect">
            <a:avLst/>
          </a:prstGeom>
          <a:noFill/>
          <a:ln/>
        </p:spPr>
        <p:txBody>
          <a:bodyPr wrap="square" lIns="0" tIns="0" rIns="0" bIns="0" rtlCol="0" anchor="ctr"/>
          <a:lstStyle/>
          <a:p>
            <a:pPr indent="0" marL="0">
              <a:buNone/>
            </a:pPr>
            <a:r>
              <a:rPr lang="en-US" sz="1100" b="1" dirty="0">
                <a:solidFill>
                  <a:srgbClr val="0D1B2A"/>
                </a:solidFill>
              </a:rPr>
              <a:t>Months 4–6: Expand the Network</a:t>
            </a:r>
            <a:endParaRPr lang="en-US" sz="1100" dirty="0"/>
          </a:p>
        </p:txBody>
      </p:sp>
      <p:sp>
        <p:nvSpPr>
          <p:cNvPr id="26" name="Text 24"/>
          <p:cNvSpPr/>
          <p:nvPr/>
        </p:nvSpPr>
        <p:spPr>
          <a:xfrm>
            <a:off x="6217920" y="1664208"/>
            <a:ext cx="2560320" cy="384048"/>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Expand to 3–5 metros. Add wholesalers, property managers</a:t>
            </a:r>
            <a:endParaRPr lang="en-US" sz="1000" dirty="0"/>
          </a:p>
        </p:txBody>
      </p:sp>
      <p:sp>
        <p:nvSpPr>
          <p:cNvPr id="27" name="Text 25"/>
          <p:cNvSpPr/>
          <p:nvPr/>
        </p:nvSpPr>
        <p:spPr>
          <a:xfrm>
            <a:off x="6217920" y="2066544"/>
            <a:ext cx="2560320" cy="384048"/>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Network gap detection drives organic invite loops</a:t>
            </a:r>
            <a:endParaRPr lang="en-US" sz="1000" dirty="0"/>
          </a:p>
        </p:txBody>
      </p:sp>
      <p:sp>
        <p:nvSpPr>
          <p:cNvPr id="28" name="Text 26"/>
          <p:cNvSpPr/>
          <p:nvPr/>
        </p:nvSpPr>
        <p:spPr>
          <a:xfrm>
            <a:off x="6217920" y="2468880"/>
            <a:ext cx="2560320" cy="384048"/>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YouTube/Instagram: deal-maker case study content series</a:t>
            </a:r>
            <a:endParaRPr lang="en-US" sz="1000" dirty="0"/>
          </a:p>
        </p:txBody>
      </p:sp>
      <p:sp>
        <p:nvSpPr>
          <p:cNvPr id="29" name="Text 27"/>
          <p:cNvSpPr/>
          <p:nvPr/>
        </p:nvSpPr>
        <p:spPr>
          <a:xfrm>
            <a:off x="6217920" y="2871216"/>
            <a:ext cx="2560320" cy="384048"/>
          </a:xfrm>
          <a:prstGeom prst="rect">
            <a:avLst/>
          </a:prstGeom>
          <a:noFill/>
          <a:ln/>
        </p:spPr>
        <p:txBody>
          <a:bodyPr wrap="square" lIns="0" tIns="0" rIns="0" bIns="0" rtlCol="0" anchor="ctr"/>
          <a:lstStyle/>
          <a:p>
            <a:pPr indent="0" marL="0">
              <a:buNone/>
            </a:pPr>
            <a:r>
              <a:rPr lang="en-US" sz="1000" b="1" dirty="0">
                <a:solidFill>
                  <a:srgbClr val="16A34A"/>
                </a:solidFill>
              </a:rPr>
              <a:t>›  </a:t>
            </a:r>
            <a:pPr indent="0" marL="0">
              <a:buNone/>
            </a:pPr>
            <a:r>
              <a:rPr lang="en-US" sz="1000" dirty="0">
                <a:solidFill>
                  <a:srgbClr val="A8BDD0"/>
                </a:solidFill>
              </a:rPr>
              <a:t>Lender verified profiles launched ($99–199/mo)</a:t>
            </a:r>
            <a:endParaRPr lang="en-US" sz="1000" dirty="0"/>
          </a:p>
        </p:txBody>
      </p:sp>
      <p:sp>
        <p:nvSpPr>
          <p:cNvPr id="30" name="Shape 28"/>
          <p:cNvSpPr/>
          <p:nvPr/>
        </p:nvSpPr>
        <p:spPr>
          <a:xfrm>
            <a:off x="6217920" y="3657600"/>
            <a:ext cx="2560320" cy="27432"/>
          </a:xfrm>
          <a:prstGeom prst="rect">
            <a:avLst/>
          </a:prstGeom>
          <a:solidFill>
            <a:srgbClr val="16A34A"/>
          </a:solidFill>
          <a:ln w="12700">
            <a:solidFill>
              <a:srgbClr val="16A34A"/>
            </a:solidFill>
            <a:prstDash val="solid"/>
          </a:ln>
        </p:spPr>
      </p:sp>
      <p:sp>
        <p:nvSpPr>
          <p:cNvPr id="31" name="Text 29"/>
          <p:cNvSpPr/>
          <p:nvPr/>
        </p:nvSpPr>
        <p:spPr>
          <a:xfrm>
            <a:off x="6217920" y="3749040"/>
            <a:ext cx="2560320" cy="594360"/>
          </a:xfrm>
          <a:prstGeom prst="rect">
            <a:avLst/>
          </a:prstGeom>
          <a:noFill/>
          <a:ln/>
        </p:spPr>
        <p:txBody>
          <a:bodyPr wrap="square" lIns="0" tIns="0" rIns="0" bIns="0" rtlCol="0" anchor="ctr"/>
          <a:lstStyle/>
          <a:p>
            <a:pPr indent="0" marL="0">
              <a:buNone/>
            </a:pPr>
            <a:r>
              <a:rPr lang="en-US" sz="950" i="1" dirty="0">
                <a:solidFill>
                  <a:srgbClr val="16A34A"/>
                </a:solidFill>
              </a:rPr>
              <a:t>Goal: 5,000–10,000 users · $30K MRR</a:t>
            </a:r>
            <a:endParaRPr lang="en-US" sz="950" dirty="0"/>
          </a:p>
        </p:txBody>
      </p:sp>
      <p:sp>
        <p:nvSpPr>
          <p:cNvPr id="32" name="Text 30"/>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21 / 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MODULE 5 — ADMIN ADVANTAGE</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D1B2A"/>
                </a:solidFill>
              </a:rPr>
              <a:t>The platform operator knows things no competitor can see.</a:t>
            </a:r>
            <a:endParaRPr lang="en-US" sz="2600" dirty="0"/>
          </a:p>
        </p:txBody>
      </p:sp>
      <p:sp>
        <p:nvSpPr>
          <p:cNvPr id="5" name="Shape 3"/>
          <p:cNvSpPr/>
          <p:nvPr/>
        </p:nvSpPr>
        <p:spPr>
          <a:xfrm>
            <a:off x="457200" y="1188720"/>
            <a:ext cx="4114800" cy="150876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6" name="Shape 4"/>
          <p:cNvSpPr/>
          <p:nvPr/>
        </p:nvSpPr>
        <p:spPr>
          <a:xfrm>
            <a:off x="457200" y="1188720"/>
            <a:ext cx="4114800" cy="36576"/>
          </a:xfrm>
          <a:prstGeom prst="rect">
            <a:avLst/>
          </a:prstGeom>
          <a:solidFill>
            <a:srgbClr val="1B6CA8"/>
          </a:solidFill>
          <a:ln w="12700">
            <a:solidFill>
              <a:srgbClr val="1B6CA8"/>
            </a:solidFill>
            <a:prstDash val="solid"/>
          </a:ln>
        </p:spPr>
      </p:sp>
      <p:sp>
        <p:nvSpPr>
          <p:cNvPr id="7" name="Shape 5"/>
          <p:cNvSpPr/>
          <p:nvPr/>
        </p:nvSpPr>
        <p:spPr>
          <a:xfrm>
            <a:off x="594360" y="1280160"/>
            <a:ext cx="1371600" cy="228600"/>
          </a:xfrm>
          <a:prstGeom prst="rect">
            <a:avLst/>
          </a:prstGeom>
          <a:solidFill>
            <a:srgbClr val="E0F2FE"/>
          </a:solidFill>
          <a:ln w="12700">
            <a:solidFill>
              <a:srgbClr val="BAE6FD"/>
            </a:solidFill>
            <a:prstDash val="solid"/>
          </a:ln>
        </p:spPr>
      </p:sp>
      <p:sp>
        <p:nvSpPr>
          <p:cNvPr id="8" name="Text 6"/>
          <p:cNvSpPr/>
          <p:nvPr/>
        </p:nvSpPr>
        <p:spPr>
          <a:xfrm>
            <a:off x="594360" y="1280160"/>
            <a:ext cx="1371600" cy="228600"/>
          </a:xfrm>
          <a:prstGeom prst="rect">
            <a:avLst/>
          </a:prstGeom>
          <a:noFill/>
          <a:ln/>
        </p:spPr>
        <p:txBody>
          <a:bodyPr wrap="square" lIns="0" tIns="0" rIns="0" bIns="0" rtlCol="0" anchor="ctr"/>
          <a:lstStyle/>
          <a:p>
            <a:pPr algn="ctr" indent="0" marL="0">
              <a:buNone/>
            </a:pPr>
            <a:r>
              <a:rPr lang="en-US" sz="800" b="1" dirty="0">
                <a:solidFill>
                  <a:srgbClr val="1B6CA8"/>
                </a:solidFill>
              </a:rPr>
              <a:t>Competitive intelligence</a:t>
            </a:r>
            <a:endParaRPr lang="en-US" sz="800" dirty="0"/>
          </a:p>
        </p:txBody>
      </p:sp>
      <p:sp>
        <p:nvSpPr>
          <p:cNvPr id="9" name="Text 7"/>
          <p:cNvSpPr/>
          <p:nvPr/>
        </p:nvSpPr>
        <p:spPr>
          <a:xfrm>
            <a:off x="594360" y="1572768"/>
            <a:ext cx="3840480" cy="292608"/>
          </a:xfrm>
          <a:prstGeom prst="rect">
            <a:avLst/>
          </a:prstGeom>
          <a:noFill/>
          <a:ln/>
        </p:spPr>
        <p:txBody>
          <a:bodyPr wrap="square" lIns="0" tIns="0" rIns="0" bIns="0" rtlCol="0" anchor="ctr"/>
          <a:lstStyle/>
          <a:p>
            <a:pPr indent="0" marL="0">
              <a:buNone/>
            </a:pPr>
            <a:r>
              <a:rPr lang="en-US" sz="1200" b="1" dirty="0">
                <a:solidFill>
                  <a:srgbClr val="0D1B2A"/>
                </a:solidFill>
              </a:rPr>
              <a:t>Deal Demand Heatmap</a:t>
            </a:r>
            <a:endParaRPr lang="en-US" sz="1200" dirty="0"/>
          </a:p>
        </p:txBody>
      </p:sp>
      <p:sp>
        <p:nvSpPr>
          <p:cNvPr id="10" name="Text 8"/>
          <p:cNvSpPr/>
          <p:nvPr/>
        </p:nvSpPr>
        <p:spPr>
          <a:xfrm>
            <a:off x="594360" y="1901952"/>
            <a:ext cx="3840480" cy="731520"/>
          </a:xfrm>
          <a:prstGeom prst="rect">
            <a:avLst/>
          </a:prstGeom>
          <a:noFill/>
          <a:ln/>
        </p:spPr>
        <p:txBody>
          <a:bodyPr wrap="square" lIns="0" tIns="0" rIns="0" bIns="0" rtlCol="0" anchor="ctr"/>
          <a:lstStyle/>
          <a:p>
            <a:pPr indent="0" marL="0">
              <a:buNone/>
            </a:pPr>
            <a:r>
              <a:rPr lang="en-US" sz="1000" dirty="0">
                <a:solidFill>
                  <a:srgbClr val="475569"/>
                </a:solidFill>
              </a:rPr>
              <a:t>Real-time visibility into what deal-makers are searching for — by metro, deal size, role type. This is live deal demand data that no broker, MLS, or market report produces. It's 60 days ahead of any published market data.</a:t>
            </a:r>
            <a:endParaRPr lang="en-US" sz="1000" dirty="0"/>
          </a:p>
        </p:txBody>
      </p:sp>
      <p:sp>
        <p:nvSpPr>
          <p:cNvPr id="11" name="Shape 9"/>
          <p:cNvSpPr/>
          <p:nvPr/>
        </p:nvSpPr>
        <p:spPr>
          <a:xfrm>
            <a:off x="4846320" y="1188720"/>
            <a:ext cx="4114800" cy="150876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2" name="Shape 10"/>
          <p:cNvSpPr/>
          <p:nvPr/>
        </p:nvSpPr>
        <p:spPr>
          <a:xfrm>
            <a:off x="4846320" y="1188720"/>
            <a:ext cx="4114800" cy="36576"/>
          </a:xfrm>
          <a:prstGeom prst="rect">
            <a:avLst/>
          </a:prstGeom>
          <a:solidFill>
            <a:srgbClr val="1B6CA8"/>
          </a:solidFill>
          <a:ln w="12700">
            <a:solidFill>
              <a:srgbClr val="1B6CA8"/>
            </a:solidFill>
            <a:prstDash val="solid"/>
          </a:ln>
        </p:spPr>
      </p:sp>
      <p:sp>
        <p:nvSpPr>
          <p:cNvPr id="13" name="Shape 11"/>
          <p:cNvSpPr/>
          <p:nvPr/>
        </p:nvSpPr>
        <p:spPr>
          <a:xfrm>
            <a:off x="4983480" y="1280160"/>
            <a:ext cx="1371600" cy="228600"/>
          </a:xfrm>
          <a:prstGeom prst="rect">
            <a:avLst/>
          </a:prstGeom>
          <a:solidFill>
            <a:srgbClr val="E0F2FE"/>
          </a:solidFill>
          <a:ln w="12700">
            <a:solidFill>
              <a:srgbClr val="BAE6FD"/>
            </a:solidFill>
            <a:prstDash val="solid"/>
          </a:ln>
        </p:spPr>
      </p:sp>
      <p:sp>
        <p:nvSpPr>
          <p:cNvPr id="14" name="Text 12"/>
          <p:cNvSpPr/>
          <p:nvPr/>
        </p:nvSpPr>
        <p:spPr>
          <a:xfrm>
            <a:off x="4983480" y="1280160"/>
            <a:ext cx="1371600" cy="228600"/>
          </a:xfrm>
          <a:prstGeom prst="rect">
            <a:avLst/>
          </a:prstGeom>
          <a:noFill/>
          <a:ln/>
        </p:spPr>
        <p:txBody>
          <a:bodyPr wrap="square" lIns="0" tIns="0" rIns="0" bIns="0" rtlCol="0" anchor="ctr"/>
          <a:lstStyle/>
          <a:p>
            <a:pPr algn="ctr" indent="0" marL="0">
              <a:buNone/>
            </a:pPr>
            <a:r>
              <a:rPr lang="en-US" sz="800" b="1" dirty="0">
                <a:solidFill>
                  <a:srgbClr val="1B6CA8"/>
                </a:solidFill>
              </a:rPr>
              <a:t>Network health</a:t>
            </a:r>
            <a:endParaRPr lang="en-US" sz="800" dirty="0"/>
          </a:p>
        </p:txBody>
      </p:sp>
      <p:sp>
        <p:nvSpPr>
          <p:cNvPr id="15" name="Text 13"/>
          <p:cNvSpPr/>
          <p:nvPr/>
        </p:nvSpPr>
        <p:spPr>
          <a:xfrm>
            <a:off x="4983480" y="1572768"/>
            <a:ext cx="3840480" cy="292608"/>
          </a:xfrm>
          <a:prstGeom prst="rect">
            <a:avLst/>
          </a:prstGeom>
          <a:noFill/>
          <a:ln/>
        </p:spPr>
        <p:txBody>
          <a:bodyPr wrap="square" lIns="0" tIns="0" rIns="0" bIns="0" rtlCol="0" anchor="ctr"/>
          <a:lstStyle/>
          <a:p>
            <a:pPr indent="0" marL="0">
              <a:buNone/>
            </a:pPr>
            <a:r>
              <a:rPr lang="en-US" sz="1200" b="1" dirty="0">
                <a:solidFill>
                  <a:srgbClr val="0D1B2A"/>
                </a:solidFill>
              </a:rPr>
              <a:t>Connector Quality Graph</a:t>
            </a:r>
            <a:endParaRPr lang="en-US" sz="1200" dirty="0"/>
          </a:p>
        </p:txBody>
      </p:sp>
      <p:sp>
        <p:nvSpPr>
          <p:cNvPr id="16" name="Text 14"/>
          <p:cNvSpPr/>
          <p:nvPr/>
        </p:nvSpPr>
        <p:spPr>
          <a:xfrm>
            <a:off x="4983480" y="1901952"/>
            <a:ext cx="3840480" cy="731520"/>
          </a:xfrm>
          <a:prstGeom prst="rect">
            <a:avLst/>
          </a:prstGeom>
          <a:noFill/>
          <a:ln/>
        </p:spPr>
        <p:txBody>
          <a:bodyPr wrap="square" lIns="0" tIns="0" rIns="0" bIns="0" rtlCol="0" anchor="ctr"/>
          <a:lstStyle/>
          <a:p>
            <a:pPr indent="0" marL="0">
              <a:buNone/>
            </a:pPr>
            <a:r>
              <a:rPr lang="en-US" sz="1000" dirty="0">
                <a:solidFill>
                  <a:srgbClr val="475569"/>
                </a:solidFill>
              </a:rPr>
              <a:t>Identify who the high-value nodes are: the connectors whose introductions consistently lead to closed deals. These are the power users to protect, incentivize, and feature. Nobody else can identify them because nobody else has the outcome data.</a:t>
            </a:r>
            <a:endParaRPr lang="en-US" sz="1000" dirty="0"/>
          </a:p>
        </p:txBody>
      </p:sp>
      <p:sp>
        <p:nvSpPr>
          <p:cNvPr id="17" name="Shape 15"/>
          <p:cNvSpPr/>
          <p:nvPr/>
        </p:nvSpPr>
        <p:spPr>
          <a:xfrm>
            <a:off x="457200" y="2880360"/>
            <a:ext cx="4114800" cy="150876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18" name="Shape 16"/>
          <p:cNvSpPr/>
          <p:nvPr/>
        </p:nvSpPr>
        <p:spPr>
          <a:xfrm>
            <a:off x="457200" y="2880360"/>
            <a:ext cx="4114800" cy="36576"/>
          </a:xfrm>
          <a:prstGeom prst="rect">
            <a:avLst/>
          </a:prstGeom>
          <a:solidFill>
            <a:srgbClr val="1B6CA8"/>
          </a:solidFill>
          <a:ln w="12700">
            <a:solidFill>
              <a:srgbClr val="1B6CA8"/>
            </a:solidFill>
            <a:prstDash val="solid"/>
          </a:ln>
        </p:spPr>
      </p:sp>
      <p:sp>
        <p:nvSpPr>
          <p:cNvPr id="19" name="Shape 17"/>
          <p:cNvSpPr/>
          <p:nvPr/>
        </p:nvSpPr>
        <p:spPr>
          <a:xfrm>
            <a:off x="594360" y="2971800"/>
            <a:ext cx="1371600" cy="228600"/>
          </a:xfrm>
          <a:prstGeom prst="rect">
            <a:avLst/>
          </a:prstGeom>
          <a:solidFill>
            <a:srgbClr val="E0F2FE"/>
          </a:solidFill>
          <a:ln w="12700">
            <a:solidFill>
              <a:srgbClr val="BAE6FD"/>
            </a:solidFill>
            <a:prstDash val="solid"/>
          </a:ln>
        </p:spPr>
      </p:sp>
      <p:sp>
        <p:nvSpPr>
          <p:cNvPr id="20" name="Text 18"/>
          <p:cNvSpPr/>
          <p:nvPr/>
        </p:nvSpPr>
        <p:spPr>
          <a:xfrm>
            <a:off x="594360" y="2971800"/>
            <a:ext cx="1371600" cy="228600"/>
          </a:xfrm>
          <a:prstGeom prst="rect">
            <a:avLst/>
          </a:prstGeom>
          <a:noFill/>
          <a:ln/>
        </p:spPr>
        <p:txBody>
          <a:bodyPr wrap="square" lIns="0" tIns="0" rIns="0" bIns="0" rtlCol="0" anchor="ctr"/>
          <a:lstStyle/>
          <a:p>
            <a:pPr algn="ctr" indent="0" marL="0">
              <a:buNone/>
            </a:pPr>
            <a:r>
              <a:rPr lang="en-US" sz="800" b="1" dirty="0">
                <a:solidFill>
                  <a:srgbClr val="1B6CA8"/>
                </a:solidFill>
              </a:rPr>
              <a:t>Product intelligence</a:t>
            </a:r>
            <a:endParaRPr lang="en-US" sz="800" dirty="0"/>
          </a:p>
        </p:txBody>
      </p:sp>
      <p:sp>
        <p:nvSpPr>
          <p:cNvPr id="21" name="Text 19"/>
          <p:cNvSpPr/>
          <p:nvPr/>
        </p:nvSpPr>
        <p:spPr>
          <a:xfrm>
            <a:off x="594360" y="3264408"/>
            <a:ext cx="3840480" cy="292608"/>
          </a:xfrm>
          <a:prstGeom prst="rect">
            <a:avLst/>
          </a:prstGeom>
          <a:noFill/>
          <a:ln/>
        </p:spPr>
        <p:txBody>
          <a:bodyPr wrap="square" lIns="0" tIns="0" rIns="0" bIns="0" rtlCol="0" anchor="ctr"/>
          <a:lstStyle/>
          <a:p>
            <a:pPr indent="0" marL="0">
              <a:buNone/>
            </a:pPr>
            <a:r>
              <a:rPr lang="en-US" sz="1200" b="1" dirty="0">
                <a:solidFill>
                  <a:srgbClr val="0D1B2A"/>
                </a:solidFill>
              </a:rPr>
              <a:t>Conversion Funnel by Trust Depth</a:t>
            </a:r>
            <a:endParaRPr lang="en-US" sz="1200" dirty="0"/>
          </a:p>
        </p:txBody>
      </p:sp>
      <p:sp>
        <p:nvSpPr>
          <p:cNvPr id="22" name="Text 20"/>
          <p:cNvSpPr/>
          <p:nvPr/>
        </p:nvSpPr>
        <p:spPr>
          <a:xfrm>
            <a:off x="594360" y="3593592"/>
            <a:ext cx="3840480" cy="731520"/>
          </a:xfrm>
          <a:prstGeom prst="rect">
            <a:avLst/>
          </a:prstGeom>
          <a:noFill/>
          <a:ln/>
        </p:spPr>
        <p:txBody>
          <a:bodyPr wrap="square" lIns="0" tIns="0" rIns="0" bIns="0" rtlCol="0" anchor="ctr"/>
          <a:lstStyle/>
          <a:p>
            <a:pPr indent="0" marL="0">
              <a:buNone/>
            </a:pPr>
            <a:r>
              <a:rPr lang="en-US" sz="1000" dirty="0">
                <a:solidFill>
                  <a:srgbClr val="475569"/>
                </a:solidFill>
              </a:rPr>
              <a:t>Does a 2nd-degree intro convert better than 3rd? Does a shared mutual connection change acceptance rates? This data directly informs graph algorithm tuning — the operator improves the product every week using data competitors cannot buy.</a:t>
            </a:r>
            <a:endParaRPr lang="en-US" sz="1000" dirty="0"/>
          </a:p>
        </p:txBody>
      </p:sp>
      <p:sp>
        <p:nvSpPr>
          <p:cNvPr id="23" name="Shape 21"/>
          <p:cNvSpPr/>
          <p:nvPr/>
        </p:nvSpPr>
        <p:spPr>
          <a:xfrm>
            <a:off x="4846320" y="2880360"/>
            <a:ext cx="4114800" cy="150876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7000"/>
              </a:srgbClr>
            </a:outerShdw>
          </a:effectLst>
        </p:spPr>
      </p:sp>
      <p:sp>
        <p:nvSpPr>
          <p:cNvPr id="24" name="Shape 22"/>
          <p:cNvSpPr/>
          <p:nvPr/>
        </p:nvSpPr>
        <p:spPr>
          <a:xfrm>
            <a:off x="4846320" y="2880360"/>
            <a:ext cx="4114800" cy="36576"/>
          </a:xfrm>
          <a:prstGeom prst="rect">
            <a:avLst/>
          </a:prstGeom>
          <a:solidFill>
            <a:srgbClr val="1B6CA8"/>
          </a:solidFill>
          <a:ln w="12700">
            <a:solidFill>
              <a:srgbClr val="1B6CA8"/>
            </a:solidFill>
            <a:prstDash val="solid"/>
          </a:ln>
        </p:spPr>
      </p:sp>
      <p:sp>
        <p:nvSpPr>
          <p:cNvPr id="25" name="Shape 23"/>
          <p:cNvSpPr/>
          <p:nvPr/>
        </p:nvSpPr>
        <p:spPr>
          <a:xfrm>
            <a:off x="4983480" y="2971800"/>
            <a:ext cx="1371600" cy="228600"/>
          </a:xfrm>
          <a:prstGeom prst="rect">
            <a:avLst/>
          </a:prstGeom>
          <a:solidFill>
            <a:srgbClr val="E0F2FE"/>
          </a:solidFill>
          <a:ln w="12700">
            <a:solidFill>
              <a:srgbClr val="BAE6FD"/>
            </a:solidFill>
            <a:prstDash val="solid"/>
          </a:ln>
        </p:spPr>
      </p:sp>
      <p:sp>
        <p:nvSpPr>
          <p:cNvPr id="26" name="Text 24"/>
          <p:cNvSpPr/>
          <p:nvPr/>
        </p:nvSpPr>
        <p:spPr>
          <a:xfrm>
            <a:off x="4983480" y="2971800"/>
            <a:ext cx="1371600" cy="228600"/>
          </a:xfrm>
          <a:prstGeom prst="rect">
            <a:avLst/>
          </a:prstGeom>
          <a:noFill/>
          <a:ln/>
        </p:spPr>
        <p:txBody>
          <a:bodyPr wrap="square" lIns="0" tIns="0" rIns="0" bIns="0" rtlCol="0" anchor="ctr"/>
          <a:lstStyle/>
          <a:p>
            <a:pPr algn="ctr" indent="0" marL="0">
              <a:buNone/>
            </a:pPr>
            <a:r>
              <a:rPr lang="en-US" sz="800" b="1" dirty="0">
                <a:solidFill>
                  <a:srgbClr val="1B6CA8"/>
                </a:solidFill>
              </a:rPr>
              <a:t>Retention intelligence</a:t>
            </a:r>
            <a:endParaRPr lang="en-US" sz="800" dirty="0"/>
          </a:p>
        </p:txBody>
      </p:sp>
      <p:sp>
        <p:nvSpPr>
          <p:cNvPr id="27" name="Text 25"/>
          <p:cNvSpPr/>
          <p:nvPr/>
        </p:nvSpPr>
        <p:spPr>
          <a:xfrm>
            <a:off x="4983480" y="3264408"/>
            <a:ext cx="3840480" cy="292608"/>
          </a:xfrm>
          <a:prstGeom prst="rect">
            <a:avLst/>
          </a:prstGeom>
          <a:noFill/>
          <a:ln/>
        </p:spPr>
        <p:txBody>
          <a:bodyPr wrap="square" lIns="0" tIns="0" rIns="0" bIns="0" rtlCol="0" anchor="ctr"/>
          <a:lstStyle/>
          <a:p>
            <a:pPr indent="0" marL="0">
              <a:buNone/>
            </a:pPr>
            <a:r>
              <a:rPr lang="en-US" sz="1200" b="1" dirty="0">
                <a:solidFill>
                  <a:srgbClr val="0D1B2A"/>
                </a:solidFill>
              </a:rPr>
              <a:t>Network Gap Alerts</a:t>
            </a:r>
            <a:endParaRPr lang="en-US" sz="1200" dirty="0"/>
          </a:p>
        </p:txBody>
      </p:sp>
      <p:sp>
        <p:nvSpPr>
          <p:cNvPr id="28" name="Text 26"/>
          <p:cNvSpPr/>
          <p:nvPr/>
        </p:nvSpPr>
        <p:spPr>
          <a:xfrm>
            <a:off x="4983480" y="3593592"/>
            <a:ext cx="3840480" cy="731520"/>
          </a:xfrm>
          <a:prstGeom prst="rect">
            <a:avLst/>
          </a:prstGeom>
          <a:noFill/>
          <a:ln/>
        </p:spPr>
        <p:txBody>
          <a:bodyPr wrap="square" lIns="0" tIns="0" rIns="0" bIns="0" rtlCol="0" anchor="ctr"/>
          <a:lstStyle/>
          <a:p>
            <a:pPr indent="0" marL="0">
              <a:buNone/>
            </a:pPr>
            <a:r>
              <a:rPr lang="en-US" sz="1000" dirty="0">
                <a:solidFill>
                  <a:srgbClr val="475569"/>
                </a:solidFill>
              </a:rPr>
              <a:t>When users search for a profile that doesn't exist in the graph — a contractor type, a market, a deal size — the platform sees the gap before the user churns. Proactive invite targeting fills demand before it becomes a churn event.</a:t>
            </a:r>
            <a:endParaRPr lang="en-US" sz="1000" dirty="0"/>
          </a:p>
        </p:txBody>
      </p:sp>
      <p:sp>
        <p:nvSpPr>
          <p:cNvPr id="29" name="Text 27"/>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22 / 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THE TIMING ARGUMENT</a:t>
            </a:r>
            <a:endParaRPr lang="en-US" sz="800" dirty="0"/>
          </a:p>
        </p:txBody>
      </p:sp>
      <p:sp>
        <p:nvSpPr>
          <p:cNvPr id="4" name="Text 2"/>
          <p:cNvSpPr/>
          <p:nvPr/>
        </p:nvSpPr>
        <p:spPr>
          <a:xfrm>
            <a:off x="457200" y="457200"/>
            <a:ext cx="8229600" cy="914400"/>
          </a:xfrm>
          <a:prstGeom prst="rect">
            <a:avLst/>
          </a:prstGeom>
          <a:noFill/>
          <a:ln/>
        </p:spPr>
        <p:txBody>
          <a:bodyPr wrap="square" lIns="0" tIns="0" rIns="0" bIns="0" rtlCol="0" anchor="ctr"/>
          <a:lstStyle/>
          <a:p>
            <a:pPr indent="0" marL="0">
              <a:buNone/>
            </a:pPr>
            <a:r>
              <a:rPr lang="en-US" sz="2800" b="1" dirty="0">
                <a:solidFill>
                  <a:srgbClr val="FFFFFF"/>
                </a:solidFill>
              </a:rPr>
              <a:t>Four things converged in the last 24 months.</a:t>
            </a:r>
            <a:endParaRPr lang="en-US" sz="2800" dirty="0"/>
          </a:p>
          <a:p>
            <a:pPr indent="0" marL="0">
              <a:buNone/>
            </a:pPr>
            <a:r>
              <a:rPr lang="en-US" sz="2800" b="1" dirty="0">
                <a:solidFill>
                  <a:srgbClr val="FFFFFF"/>
                </a:solidFill>
              </a:rPr>
              <a:t>None were true in 2022.</a:t>
            </a:r>
            <a:endParaRPr lang="en-US" sz="2800" dirty="0"/>
          </a:p>
        </p:txBody>
      </p:sp>
      <p:sp>
        <p:nvSpPr>
          <p:cNvPr id="5" name="Shape 3"/>
          <p:cNvSpPr/>
          <p:nvPr/>
        </p:nvSpPr>
        <p:spPr>
          <a:xfrm>
            <a:off x="365760" y="1508760"/>
            <a:ext cx="4206240" cy="1417320"/>
          </a:xfrm>
          <a:prstGeom prst="rect">
            <a:avLst/>
          </a:prstGeom>
          <a:solidFill>
            <a:srgbClr val="132237"/>
          </a:solidFill>
          <a:ln w="12700">
            <a:solidFill>
              <a:srgbClr val="1E3A5A"/>
            </a:solidFill>
            <a:prstDash val="solid"/>
          </a:ln>
        </p:spPr>
      </p:sp>
      <p:sp>
        <p:nvSpPr>
          <p:cNvPr id="6" name="Shape 4"/>
          <p:cNvSpPr/>
          <p:nvPr/>
        </p:nvSpPr>
        <p:spPr>
          <a:xfrm>
            <a:off x="365760" y="1508760"/>
            <a:ext cx="685800" cy="1417320"/>
          </a:xfrm>
          <a:prstGeom prst="rect">
            <a:avLst/>
          </a:prstGeom>
          <a:solidFill>
            <a:srgbClr val="1B6CA8"/>
          </a:solidFill>
          <a:ln w="12700">
            <a:solidFill>
              <a:srgbClr val="1B6CA8"/>
            </a:solidFill>
            <a:prstDash val="solid"/>
          </a:ln>
        </p:spPr>
      </p:sp>
      <p:sp>
        <p:nvSpPr>
          <p:cNvPr id="7" name="Text 5"/>
          <p:cNvSpPr/>
          <p:nvPr/>
        </p:nvSpPr>
        <p:spPr>
          <a:xfrm>
            <a:off x="365760" y="1508760"/>
            <a:ext cx="685800" cy="1417320"/>
          </a:xfrm>
          <a:prstGeom prst="rect">
            <a:avLst/>
          </a:prstGeom>
          <a:noFill/>
          <a:ln/>
        </p:spPr>
        <p:txBody>
          <a:bodyPr wrap="square" lIns="0" tIns="0" rIns="0" bIns="0" rtlCol="0" anchor="ctr"/>
          <a:lstStyle/>
          <a:p>
            <a:pPr algn="ctr" indent="0" marL="0">
              <a:buNone/>
            </a:pPr>
            <a:r>
              <a:rPr lang="en-US" sz="1300" b="1" dirty="0">
                <a:solidFill>
                  <a:srgbClr val="0D1B2A"/>
                </a:solidFill>
              </a:rPr>
              <a:t>2023</a:t>
            </a:r>
            <a:endParaRPr lang="en-US" sz="1300" dirty="0"/>
          </a:p>
        </p:txBody>
      </p:sp>
      <p:sp>
        <p:nvSpPr>
          <p:cNvPr id="8" name="Text 6"/>
          <p:cNvSpPr/>
          <p:nvPr/>
        </p:nvSpPr>
        <p:spPr>
          <a:xfrm>
            <a:off x="1188720" y="1600200"/>
            <a:ext cx="3246120" cy="347472"/>
          </a:xfrm>
          <a:prstGeom prst="rect">
            <a:avLst/>
          </a:prstGeom>
          <a:noFill/>
          <a:ln/>
        </p:spPr>
        <p:txBody>
          <a:bodyPr wrap="square" lIns="0" tIns="0" rIns="0" bIns="0" rtlCol="0" anchor="ctr"/>
          <a:lstStyle/>
          <a:p>
            <a:pPr indent="0" marL="0">
              <a:buNone/>
            </a:pPr>
            <a:r>
              <a:rPr lang="en-US" sz="1200" b="1" dirty="0">
                <a:solidFill>
                  <a:srgbClr val="FFFFFF"/>
                </a:solidFill>
              </a:rPr>
              <a:t>AI message quality crossed the bar</a:t>
            </a:r>
            <a:endParaRPr lang="en-US" sz="1200" dirty="0"/>
          </a:p>
        </p:txBody>
      </p:sp>
      <p:sp>
        <p:nvSpPr>
          <p:cNvPr id="9" name="Text 7"/>
          <p:cNvSpPr/>
          <p:nvPr/>
        </p:nvSpPr>
        <p:spPr>
          <a:xfrm>
            <a:off x="1188720" y="1984248"/>
            <a:ext cx="3246120" cy="822960"/>
          </a:xfrm>
          <a:prstGeom prst="rect">
            <a:avLst/>
          </a:prstGeom>
          <a:noFill/>
          <a:ln/>
        </p:spPr>
        <p:txBody>
          <a:bodyPr wrap="square" lIns="0" tIns="0" rIns="0" bIns="0" rtlCol="0" anchor="ctr"/>
          <a:lstStyle/>
          <a:p>
            <a:pPr indent="0" marL="0">
              <a:buNone/>
            </a:pPr>
            <a:r>
              <a:rPr lang="en-US" sz="950" dirty="0">
                <a:solidFill>
                  <a:srgbClr val="A8BDD0"/>
                </a:solidFill>
              </a:rPr>
              <a:t>Claude and GPT-4 can now draft warm intro messages indistinguishable from human-written. This is the single enabling technology. Before 2023, auto-drafted intros were obviously robotic and destroyed trust.</a:t>
            </a:r>
            <a:endParaRPr lang="en-US" sz="950" dirty="0"/>
          </a:p>
        </p:txBody>
      </p:sp>
      <p:sp>
        <p:nvSpPr>
          <p:cNvPr id="10" name="Shape 8"/>
          <p:cNvSpPr/>
          <p:nvPr/>
        </p:nvSpPr>
        <p:spPr>
          <a:xfrm>
            <a:off x="4800600" y="1508760"/>
            <a:ext cx="4206240" cy="1417320"/>
          </a:xfrm>
          <a:prstGeom prst="rect">
            <a:avLst/>
          </a:prstGeom>
          <a:solidFill>
            <a:srgbClr val="132237"/>
          </a:solidFill>
          <a:ln w="12700">
            <a:solidFill>
              <a:srgbClr val="1E3A5A"/>
            </a:solidFill>
            <a:prstDash val="solid"/>
          </a:ln>
        </p:spPr>
      </p:sp>
      <p:sp>
        <p:nvSpPr>
          <p:cNvPr id="11" name="Shape 9"/>
          <p:cNvSpPr/>
          <p:nvPr/>
        </p:nvSpPr>
        <p:spPr>
          <a:xfrm>
            <a:off x="4800600" y="1508760"/>
            <a:ext cx="685800" cy="1417320"/>
          </a:xfrm>
          <a:prstGeom prst="rect">
            <a:avLst/>
          </a:prstGeom>
          <a:solidFill>
            <a:srgbClr val="E8A020"/>
          </a:solidFill>
          <a:ln w="12700">
            <a:solidFill>
              <a:srgbClr val="E8A020"/>
            </a:solidFill>
            <a:prstDash val="solid"/>
          </a:ln>
        </p:spPr>
      </p:sp>
      <p:sp>
        <p:nvSpPr>
          <p:cNvPr id="12" name="Text 10"/>
          <p:cNvSpPr/>
          <p:nvPr/>
        </p:nvSpPr>
        <p:spPr>
          <a:xfrm>
            <a:off x="4800600" y="1508760"/>
            <a:ext cx="685800" cy="1417320"/>
          </a:xfrm>
          <a:prstGeom prst="rect">
            <a:avLst/>
          </a:prstGeom>
          <a:noFill/>
          <a:ln/>
        </p:spPr>
        <p:txBody>
          <a:bodyPr wrap="square" lIns="0" tIns="0" rIns="0" bIns="0" rtlCol="0" anchor="ctr"/>
          <a:lstStyle/>
          <a:p>
            <a:pPr algn="ctr" indent="0" marL="0">
              <a:buNone/>
            </a:pPr>
            <a:r>
              <a:rPr lang="en-US" sz="1300" b="1" dirty="0">
                <a:solidFill>
                  <a:srgbClr val="0D1B2A"/>
                </a:solidFill>
              </a:rPr>
              <a:t>2023</a:t>
            </a:r>
            <a:endParaRPr lang="en-US" sz="1300" dirty="0"/>
          </a:p>
        </p:txBody>
      </p:sp>
      <p:sp>
        <p:nvSpPr>
          <p:cNvPr id="13" name="Text 11"/>
          <p:cNvSpPr/>
          <p:nvPr/>
        </p:nvSpPr>
        <p:spPr>
          <a:xfrm>
            <a:off x="5623560" y="1600200"/>
            <a:ext cx="3246120" cy="347472"/>
          </a:xfrm>
          <a:prstGeom prst="rect">
            <a:avLst/>
          </a:prstGeom>
          <a:noFill/>
          <a:ln/>
        </p:spPr>
        <p:txBody>
          <a:bodyPr wrap="square" lIns="0" tIns="0" rIns="0" bIns="0" rtlCol="0" anchor="ctr"/>
          <a:lstStyle/>
          <a:p>
            <a:pPr indent="0" marL="0">
              <a:buNone/>
            </a:pPr>
            <a:r>
              <a:rPr lang="en-US" sz="1200" b="1" dirty="0">
                <a:solidFill>
                  <a:srgbClr val="FFFFFF"/>
                </a:solidFill>
              </a:rPr>
              <a:t>LinkedIn InMail hit historic lows</a:t>
            </a:r>
            <a:endParaRPr lang="en-US" sz="1200" dirty="0"/>
          </a:p>
        </p:txBody>
      </p:sp>
      <p:sp>
        <p:nvSpPr>
          <p:cNvPr id="14" name="Text 12"/>
          <p:cNvSpPr/>
          <p:nvPr/>
        </p:nvSpPr>
        <p:spPr>
          <a:xfrm>
            <a:off x="5623560" y="1984248"/>
            <a:ext cx="3246120" cy="822960"/>
          </a:xfrm>
          <a:prstGeom prst="rect">
            <a:avLst/>
          </a:prstGeom>
          <a:noFill/>
          <a:ln/>
        </p:spPr>
        <p:txBody>
          <a:bodyPr wrap="square" lIns="0" tIns="0" rIns="0" bIns="0" rtlCol="0" anchor="ctr"/>
          <a:lstStyle/>
          <a:p>
            <a:pPr indent="0" marL="0">
              <a:buNone/>
            </a:pPr>
            <a:r>
              <a:rPr lang="en-US" sz="950" dirty="0">
                <a:solidFill>
                  <a:srgbClr val="A8BDD0"/>
                </a:solidFill>
              </a:rPr>
              <a:t>Response rates for cold LinkedIn outreach dropped below 3%. Sales Navigator users are paying $120/month and generating fewer responses per message than two years ago. The frustration ceiling has been reached.</a:t>
            </a:r>
            <a:endParaRPr lang="en-US" sz="950" dirty="0"/>
          </a:p>
        </p:txBody>
      </p:sp>
      <p:sp>
        <p:nvSpPr>
          <p:cNvPr id="15" name="Shape 13"/>
          <p:cNvSpPr/>
          <p:nvPr/>
        </p:nvSpPr>
        <p:spPr>
          <a:xfrm>
            <a:off x="365760" y="3108960"/>
            <a:ext cx="4206240" cy="1417320"/>
          </a:xfrm>
          <a:prstGeom prst="rect">
            <a:avLst/>
          </a:prstGeom>
          <a:solidFill>
            <a:srgbClr val="132237"/>
          </a:solidFill>
          <a:ln w="12700">
            <a:solidFill>
              <a:srgbClr val="1E3A5A"/>
            </a:solidFill>
            <a:prstDash val="solid"/>
          </a:ln>
        </p:spPr>
      </p:sp>
      <p:sp>
        <p:nvSpPr>
          <p:cNvPr id="16" name="Shape 14"/>
          <p:cNvSpPr/>
          <p:nvPr/>
        </p:nvSpPr>
        <p:spPr>
          <a:xfrm>
            <a:off x="365760" y="3108960"/>
            <a:ext cx="685800" cy="1417320"/>
          </a:xfrm>
          <a:prstGeom prst="rect">
            <a:avLst/>
          </a:prstGeom>
          <a:solidFill>
            <a:srgbClr val="16A34A"/>
          </a:solidFill>
          <a:ln w="12700">
            <a:solidFill>
              <a:srgbClr val="16A34A"/>
            </a:solidFill>
            <a:prstDash val="solid"/>
          </a:ln>
        </p:spPr>
      </p:sp>
      <p:sp>
        <p:nvSpPr>
          <p:cNvPr id="17" name="Text 15"/>
          <p:cNvSpPr/>
          <p:nvPr/>
        </p:nvSpPr>
        <p:spPr>
          <a:xfrm>
            <a:off x="365760" y="3108960"/>
            <a:ext cx="685800" cy="1417320"/>
          </a:xfrm>
          <a:prstGeom prst="rect">
            <a:avLst/>
          </a:prstGeom>
          <a:noFill/>
          <a:ln/>
        </p:spPr>
        <p:txBody>
          <a:bodyPr wrap="square" lIns="0" tIns="0" rIns="0" bIns="0" rtlCol="0" anchor="ctr"/>
          <a:lstStyle/>
          <a:p>
            <a:pPr algn="ctr" indent="0" marL="0">
              <a:buNone/>
            </a:pPr>
            <a:r>
              <a:rPr lang="en-US" sz="1300" b="1" dirty="0">
                <a:solidFill>
                  <a:srgbClr val="0D1B2A"/>
                </a:solidFill>
              </a:rPr>
              <a:t>2024</a:t>
            </a:r>
            <a:endParaRPr lang="en-US" sz="1300" dirty="0"/>
          </a:p>
        </p:txBody>
      </p:sp>
      <p:sp>
        <p:nvSpPr>
          <p:cNvPr id="18" name="Text 16"/>
          <p:cNvSpPr/>
          <p:nvPr/>
        </p:nvSpPr>
        <p:spPr>
          <a:xfrm>
            <a:off x="1188720" y="3200400"/>
            <a:ext cx="3246120" cy="347472"/>
          </a:xfrm>
          <a:prstGeom prst="rect">
            <a:avLst/>
          </a:prstGeom>
          <a:noFill/>
          <a:ln/>
        </p:spPr>
        <p:txBody>
          <a:bodyPr wrap="square" lIns="0" tIns="0" rIns="0" bIns="0" rtlCol="0" anchor="ctr"/>
          <a:lstStyle/>
          <a:p>
            <a:pPr indent="0" marL="0">
              <a:buNone/>
            </a:pPr>
            <a:r>
              <a:rPr lang="en-US" sz="1200" b="1" dirty="0">
                <a:solidFill>
                  <a:srgbClr val="FFFFFF"/>
                </a:solidFill>
              </a:rPr>
              <a:t>The Swarm validated the B2B category</a:t>
            </a:r>
            <a:endParaRPr lang="en-US" sz="1200" dirty="0"/>
          </a:p>
        </p:txBody>
      </p:sp>
      <p:sp>
        <p:nvSpPr>
          <p:cNvPr id="19" name="Text 17"/>
          <p:cNvSpPr/>
          <p:nvPr/>
        </p:nvSpPr>
        <p:spPr>
          <a:xfrm>
            <a:off x="1188720" y="3584448"/>
            <a:ext cx="3246120" cy="822960"/>
          </a:xfrm>
          <a:prstGeom prst="rect">
            <a:avLst/>
          </a:prstGeom>
          <a:noFill/>
          <a:ln/>
        </p:spPr>
        <p:txBody>
          <a:bodyPr wrap="square" lIns="0" tIns="0" rIns="0" bIns="0" rtlCol="0" anchor="ctr"/>
          <a:lstStyle/>
          <a:p>
            <a:pPr indent="0" marL="0">
              <a:buNone/>
            </a:pPr>
            <a:r>
              <a:rPr lang="en-US" sz="950" dirty="0">
                <a:solidFill>
                  <a:srgbClr val="A8BDD0"/>
                </a:solidFill>
              </a:rPr>
              <a:t>Warm intro mapping for B2B sales received venture funding. The category is proven. But The Swarm is enterprise-only. Consumer deal-makers — flippers, lenders, service providers — remain underserved.</a:t>
            </a:r>
            <a:endParaRPr lang="en-US" sz="950" dirty="0"/>
          </a:p>
        </p:txBody>
      </p:sp>
      <p:sp>
        <p:nvSpPr>
          <p:cNvPr id="20" name="Shape 18"/>
          <p:cNvSpPr/>
          <p:nvPr/>
        </p:nvSpPr>
        <p:spPr>
          <a:xfrm>
            <a:off x="4800600" y="3108960"/>
            <a:ext cx="4206240" cy="1417320"/>
          </a:xfrm>
          <a:prstGeom prst="rect">
            <a:avLst/>
          </a:prstGeom>
          <a:solidFill>
            <a:srgbClr val="132237"/>
          </a:solidFill>
          <a:ln w="12700">
            <a:solidFill>
              <a:srgbClr val="1E3A5A"/>
            </a:solidFill>
            <a:prstDash val="solid"/>
          </a:ln>
        </p:spPr>
      </p:sp>
      <p:sp>
        <p:nvSpPr>
          <p:cNvPr id="21" name="Shape 19"/>
          <p:cNvSpPr/>
          <p:nvPr/>
        </p:nvSpPr>
        <p:spPr>
          <a:xfrm>
            <a:off x="4800600" y="3108960"/>
            <a:ext cx="685800" cy="1417320"/>
          </a:xfrm>
          <a:prstGeom prst="rect">
            <a:avLst/>
          </a:prstGeom>
          <a:solidFill>
            <a:srgbClr val="A78BFA"/>
          </a:solidFill>
          <a:ln w="12700">
            <a:solidFill>
              <a:srgbClr val="A78BFA"/>
            </a:solidFill>
            <a:prstDash val="solid"/>
          </a:ln>
        </p:spPr>
      </p:sp>
      <p:sp>
        <p:nvSpPr>
          <p:cNvPr id="22" name="Text 20"/>
          <p:cNvSpPr/>
          <p:nvPr/>
        </p:nvSpPr>
        <p:spPr>
          <a:xfrm>
            <a:off x="4800600" y="3108960"/>
            <a:ext cx="685800" cy="1417320"/>
          </a:xfrm>
          <a:prstGeom prst="rect">
            <a:avLst/>
          </a:prstGeom>
          <a:noFill/>
          <a:ln/>
        </p:spPr>
        <p:txBody>
          <a:bodyPr wrap="square" lIns="0" tIns="0" rIns="0" bIns="0" rtlCol="0" anchor="ctr"/>
          <a:lstStyle/>
          <a:p>
            <a:pPr algn="ctr" indent="0" marL="0">
              <a:buNone/>
            </a:pPr>
            <a:r>
              <a:rPr lang="en-US" sz="1300" b="1" dirty="0">
                <a:solidFill>
                  <a:srgbClr val="0D1B2A"/>
                </a:solidFill>
              </a:rPr>
              <a:t>2025</a:t>
            </a:r>
            <a:endParaRPr lang="en-US" sz="1300" dirty="0"/>
          </a:p>
        </p:txBody>
      </p:sp>
      <p:sp>
        <p:nvSpPr>
          <p:cNvPr id="23" name="Text 21"/>
          <p:cNvSpPr/>
          <p:nvPr/>
        </p:nvSpPr>
        <p:spPr>
          <a:xfrm>
            <a:off x="5623560" y="3200400"/>
            <a:ext cx="3246120" cy="347472"/>
          </a:xfrm>
          <a:prstGeom prst="rect">
            <a:avLst/>
          </a:prstGeom>
          <a:noFill/>
          <a:ln/>
        </p:spPr>
        <p:txBody>
          <a:bodyPr wrap="square" lIns="0" tIns="0" rIns="0" bIns="0" rtlCol="0" anchor="ctr"/>
          <a:lstStyle/>
          <a:p>
            <a:pPr indent="0" marL="0">
              <a:buNone/>
            </a:pPr>
            <a:r>
              <a:rPr lang="en-US" sz="1200" b="1" dirty="0">
                <a:solidFill>
                  <a:srgbClr val="FFFFFF"/>
                </a:solidFill>
              </a:rPr>
              <a:t>Remote work killed in-person deal networks</a:t>
            </a:r>
            <a:endParaRPr lang="en-US" sz="1200" dirty="0"/>
          </a:p>
        </p:txBody>
      </p:sp>
      <p:sp>
        <p:nvSpPr>
          <p:cNvPr id="24" name="Text 22"/>
          <p:cNvSpPr/>
          <p:nvPr/>
        </p:nvSpPr>
        <p:spPr>
          <a:xfrm>
            <a:off x="5623560" y="3584448"/>
            <a:ext cx="3246120" cy="822960"/>
          </a:xfrm>
          <a:prstGeom prst="rect">
            <a:avLst/>
          </a:prstGeom>
          <a:noFill/>
          <a:ln/>
        </p:spPr>
        <p:txBody>
          <a:bodyPr wrap="square" lIns="0" tIns="0" rIns="0" bIns="0" rtlCol="0" anchor="ctr"/>
          <a:lstStyle/>
          <a:p>
            <a:pPr indent="0" marL="0">
              <a:buNone/>
            </a:pPr>
            <a:r>
              <a:rPr lang="en-US" sz="950" dirty="0">
                <a:solidFill>
                  <a:srgbClr val="A8BDD0"/>
                </a:solidFill>
              </a:rPr>
              <a:t>Post-pandemic, conferences and local REI meetups have not recovered to 2019 density. The in-person referral network that deal-makers relied on for 20 years is structurally weakened. Digital replacement is overdue.</a:t>
            </a:r>
            <a:endParaRPr lang="en-US" sz="950" dirty="0"/>
          </a:p>
        </p:txBody>
      </p:sp>
      <p:sp>
        <p:nvSpPr>
          <p:cNvPr id="25" name="Text 2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88A0B8"/>
                </a:solidFill>
              </a:rPr>
              <a:t>23 / 24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4FB"/>
        </a:solidFill>
      </p:bgPr>
    </p:bg>
    <p:spTree>
      <p:nvGrpSpPr>
        <p:cNvPr id="1" name=""/>
        <p:cNvGrpSpPr/>
        <p:nvPr/>
      </p:nvGrpSpPr>
      <p:grpSpPr>
        <a:xfrm>
          <a:off x="0" y="0"/>
          <a:ext cx="0" cy="0"/>
          <a:chOff x="0" y="0"/>
          <a:chExt cx="0" cy="0"/>
        </a:xfrm>
      </p:grpSpPr>
      <p:sp>
        <p:nvSpPr>
          <p:cNvPr id="2" name="Shape 0"/>
          <p:cNvSpPr/>
          <p:nvPr/>
        </p:nvSpPr>
        <p:spPr>
          <a:xfrm>
            <a:off x="411480" y="201168"/>
            <a:ext cx="1554480" cy="256032"/>
          </a:xfrm>
          <a:prstGeom prst="rect">
            <a:avLst/>
          </a:prstGeom>
          <a:solidFill>
            <a:srgbClr val="E8A020"/>
          </a:solidFill>
          <a:ln w="12700">
            <a:solidFill>
              <a:srgbClr val="E8A020"/>
            </a:solidFill>
            <a:prstDash val="solid"/>
          </a:ln>
        </p:spPr>
      </p:sp>
      <p:sp>
        <p:nvSpPr>
          <p:cNvPr id="3" name="Text 1"/>
          <p:cNvSpPr/>
          <p:nvPr/>
        </p:nvSpPr>
        <p:spPr>
          <a:xfrm>
            <a:off x="411480" y="201168"/>
            <a:ext cx="1554480" cy="256032"/>
          </a:xfrm>
          <a:prstGeom prst="rect">
            <a:avLst/>
          </a:prstGeom>
          <a:noFill/>
          <a:ln/>
        </p:spPr>
        <p:txBody>
          <a:bodyPr wrap="square" lIns="0" tIns="0" rIns="0" bIns="0" rtlCol="0" anchor="ctr"/>
          <a:lstStyle/>
          <a:p>
            <a:pPr algn="ctr" indent="0" marL="0">
              <a:buNone/>
            </a:pPr>
            <a:r>
              <a:rPr lang="en-US" sz="800" b="1" dirty="0">
                <a:solidFill>
                  <a:srgbClr val="0D1B2A"/>
                </a:solidFill>
              </a:rPr>
              <a:t>APPENDIX — DECISIONS MADE</a:t>
            </a:r>
            <a:endParaRPr lang="en-US" sz="800" dirty="0"/>
          </a:p>
        </p:txBody>
      </p:sp>
      <p:sp>
        <p:nvSpPr>
          <p:cNvPr id="4" name="Text 2"/>
          <p:cNvSpPr/>
          <p:nvPr/>
        </p:nvSpPr>
        <p:spPr>
          <a:xfrm>
            <a:off x="457200" y="502920"/>
            <a:ext cx="8229600" cy="502920"/>
          </a:xfrm>
          <a:prstGeom prst="rect">
            <a:avLst/>
          </a:prstGeom>
          <a:noFill/>
          <a:ln/>
        </p:spPr>
        <p:txBody>
          <a:bodyPr wrap="square" lIns="0" tIns="0" rIns="0" bIns="0" rtlCol="0" anchor="ctr"/>
          <a:lstStyle/>
          <a:p>
            <a:pPr indent="0" marL="0">
              <a:buNone/>
            </a:pPr>
            <a:r>
              <a:rPr lang="en-US" sz="2400" b="1" dirty="0">
                <a:solidFill>
                  <a:srgbClr val="0D1B2A"/>
                </a:solidFill>
              </a:rPr>
              <a:t>Every key decision has a rationale. No ambiguity.</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412480" cy="914400"/>
        </p:xfrm>
        <a:graphic>
          <a:graphicData uri="http://schemas.openxmlformats.org/drawingml/2006/table">
            <a:tbl>
              <a:tblPr/>
              <a:tblGrid>
                <a:gridCol w="1554480"/>
                <a:gridCol w="2103120"/>
                <a:gridCol w="4754880"/>
              </a:tblGrid>
              <a:tr h="0">
                <a:tc>
                  <a:txBody>
                    <a:bodyPr/>
                    <a:lstStyle/>
                    <a:p>
                      <a:pPr indent="0" marL="0">
                        <a:buNone/>
                      </a:pPr>
                      <a:r>
                        <a:rPr lang="en-US" sz="950" b="1" dirty="0">
                          <a:solidFill>
                            <a:srgbClr val="FFFFFF"/>
                          </a:solidFill>
                        </a:rPr>
                        <a:t>Decision</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indent="0" marL="0">
                        <a:buNone/>
                      </a:pPr>
                      <a:r>
                        <a:rPr lang="en-US" sz="950" b="1" dirty="0">
                          <a:solidFill>
                            <a:srgbClr val="FFFFFF"/>
                          </a:solidFill>
                        </a:rPr>
                        <a:t>Choice Made</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c>
                  <a:txBody>
                    <a:bodyPr/>
                    <a:lstStyle/>
                    <a:p>
                      <a:pPr indent="0" marL="0">
                        <a:buNone/>
                      </a:pPr>
                      <a:r>
                        <a:rPr lang="en-US" sz="950" b="1" dirty="0">
                          <a:solidFill>
                            <a:srgbClr val="FFFFFF"/>
                          </a:solidFill>
                        </a:rPr>
                        <a:t>Rationale</a:t>
                      </a:r>
                      <a:endParaRPr lang="en-US" sz="950" dirty="0"/>
                    </a:p>
                  </a:txBody>
                  <a:tcPr marL="91440" marR="91440" marT="45720" marB="45720">
                    <a:lnL w="0" cap="flat" cmpd="sng" algn="ctr">
                      <a:noFill/>
                    </a:lnL>
                    <a:lnR w="0" cap="flat" cmpd="sng" algn="ctr">
                      <a:noFill/>
                    </a:lnR>
                    <a:lnT w="0" cap="flat" cmpd="sng" algn="ctr">
                      <a:noFill/>
                    </a:lnT>
                    <a:lnB w="0" cap="flat" cmpd="sng" algn="ctr">
                      <a:noFill/>
                    </a:lnB>
                    <a:solidFill>
                      <a:srgbClr val="0D1B2A"/>
                    </a:solidFill>
                  </a:tcPr>
                </a:tc>
              </a:tr>
              <a:tr h="0">
                <a:tc>
                  <a:txBody>
                    <a:bodyPr/>
                    <a:lstStyle/>
                    <a:p>
                      <a:pPr indent="0" marL="0">
                        <a:buNone/>
                      </a:pPr>
                      <a:r>
                        <a:rPr lang="en-US" sz="900" b="1" dirty="0">
                          <a:solidFill>
                            <a:srgbClr val="0D1B2A"/>
                          </a:solidFill>
                        </a:rPr>
                        <a:t>Product Type</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1B6CA8"/>
                          </a:solidFill>
                        </a:rPr>
                        <a:t>AI warm referral network</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475569"/>
                          </a:solidFill>
                        </a:rPr>
                        <a:t>Avoids marketplace regulatory complexity. Network effects &gt; marketplace liquidity.</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900" b="1" dirty="0">
                          <a:solidFill>
                            <a:srgbClr val="0D1B2A"/>
                          </a:solidFill>
                        </a:rPr>
                        <a:t>Initial Vertical</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b="1" dirty="0">
                          <a:solidFill>
                            <a:srgbClr val="1B6CA8"/>
                          </a:solidFill>
                        </a:rPr>
                        <a:t>US real estate (lenders first)</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dirty="0">
                          <a:solidFill>
                            <a:srgbClr val="475569"/>
                          </a:solidFill>
                        </a:rPr>
                        <a:t>Founder IS the user. Has network to seed. $4.5T market driven by relationships.</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indent="0" marL="0">
                        <a:buNone/>
                      </a:pPr>
                      <a:r>
                        <a:rPr lang="en-US" sz="900" b="1" dirty="0">
                          <a:solidFill>
                            <a:srgbClr val="0D1B2A"/>
                          </a:solidFill>
                        </a:rPr>
                        <a:t>Growth Model</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1B6CA8"/>
                          </a:solidFill>
                        </a:rPr>
                        <a:t>Invite-only, phone-contact graph</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475569"/>
                          </a:solidFill>
                        </a:rPr>
                        <a:t>Preserves trust graph integrity. Every new node connects to an existing trusted node.</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900" b="1" dirty="0">
                          <a:solidFill>
                            <a:srgbClr val="0D1B2A"/>
                          </a:solidFill>
                        </a:rPr>
                        <a:t>Core Mechanic</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b="1" dirty="0">
                          <a:solidFill>
                            <a:srgbClr val="1B6CA8"/>
                          </a:solidFill>
                        </a:rPr>
                        <a:t>Double opt-in AI intro routing</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dirty="0">
                          <a:solidFill>
                            <a:srgbClr val="475569"/>
                          </a:solidFill>
                        </a:rPr>
                        <a:t>Novel UX nobody else has built. Preserves social capital while automating the chain.</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indent="0" marL="0">
                        <a:buNone/>
                      </a:pPr>
                      <a:r>
                        <a:rPr lang="en-US" sz="900" b="1" dirty="0">
                          <a:solidFill>
                            <a:srgbClr val="0D1B2A"/>
                          </a:solidFill>
                        </a:rPr>
                        <a:t>Monetization</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1B6CA8"/>
                          </a:solidFill>
                        </a:rPr>
                        <a:t>$39–99/mo subscription + affiliate</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475569"/>
                          </a:solidFill>
                        </a:rPr>
                        <a:t>Cheaper than LinkedIn Sales Nav. One deal/year = 100x annual subscription cost.</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900" b="1" dirty="0">
                          <a:solidFill>
                            <a:srgbClr val="0D1B2A"/>
                          </a:solidFill>
                        </a:rPr>
                        <a:t>Tech Stack</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b="1" dirty="0">
                          <a:solidFill>
                            <a:srgbClr val="1B6CA8"/>
                          </a:solidFill>
                        </a:rPr>
                        <a:t>React Native + Supabase + Claude API</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dirty="0">
                          <a:solidFill>
                            <a:srgbClr val="475569"/>
                          </a:solidFill>
                        </a:rPr>
                        <a:t>Within team capability. Sub-$500/mo at launch. Scales to 500+ users before rearchitect.</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r h="0">
                <a:tc>
                  <a:txBody>
                    <a:bodyPr/>
                    <a:lstStyle/>
                    <a:p>
                      <a:pPr indent="0" marL="0">
                        <a:buNone/>
                      </a:pPr>
                      <a:r>
                        <a:rPr lang="en-US" sz="900" b="1" dirty="0">
                          <a:solidFill>
                            <a:srgbClr val="0D1B2A"/>
                          </a:solidFill>
                        </a:rPr>
                        <a:t>Beachhead</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1B6CA8"/>
                          </a:solidFill>
                        </a:rPr>
                        <a:t>Private lenders (Profile B)</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475569"/>
                          </a:solidFill>
                        </a:rPr>
                        <a:t>Highest WTP. Supply side of graph. Lenders present → flippers join → flywheel starts.</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900" b="1" dirty="0">
                          <a:solidFill>
                            <a:srgbClr val="0D1B2A"/>
                          </a:solidFill>
                        </a:rPr>
                        <a:t>Regulatory Path</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b="1" dirty="0">
                          <a:solidFill>
                            <a:srgbClr val="1B6CA8"/>
                          </a:solidFill>
                        </a:rPr>
                        <a:t>Networking tool (same as LinkedIn)</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c>
                  <a:txBody>
                    <a:bodyPr/>
                    <a:lstStyle/>
                    <a:p>
                      <a:pPr indent="0" marL="0">
                        <a:buNone/>
                      </a:pPr>
                      <a:r>
                        <a:rPr lang="en-US" sz="900" dirty="0">
                          <a:solidFill>
                            <a:srgbClr val="475569"/>
                          </a:solidFill>
                        </a:rPr>
                        <a:t>No securities. No broker-dealer. Standard CCPA/GDPR privacy model.</a:t>
                      </a:r>
                      <a:endParaRPr lang="en-US" sz="900" dirty="0"/>
                    </a:p>
                  </a:txBody>
                  <a:tcPr marL="91440" marR="91440" marT="45720" marB="45720">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6" name="Text 3"/>
          <p:cNvSpPr/>
          <p:nvPr/>
        </p:nvSpPr>
        <p:spPr>
          <a:xfrm>
            <a:off x="8046720" y="4800600"/>
            <a:ext cx="914400" cy="228600"/>
          </a:xfrm>
          <a:prstGeom prst="rect">
            <a:avLst/>
          </a:prstGeom>
          <a:noFill/>
          <a:ln/>
        </p:spPr>
        <p:txBody>
          <a:bodyPr wrap="square" lIns="0" tIns="0" rIns="0" bIns="0" rtlCol="0" anchor="ctr"/>
          <a:lstStyle/>
          <a:p>
            <a:pPr algn="r" indent="0" marL="0">
              <a:buNone/>
            </a:pPr>
            <a:r>
              <a:rPr lang="en-US" sz="900" dirty="0">
                <a:solidFill>
                  <a:srgbClr val="CBD5E1"/>
                </a:solidFill>
              </a:rPr>
              <a:t>24 / 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WarmPath — Converge Pitch</dc:title>
  <dc:subject>PptxGenJS Presentation</dc:subject>
  <dc:creator>PptxGenJS</dc:creator>
  <cp:lastModifiedBy>PptxGenJS</cp:lastModifiedBy>
  <cp:revision>1</cp:revision>
  <dcterms:created xsi:type="dcterms:W3CDTF">2026-03-26T23:30:32Z</dcterms:created>
  <dcterms:modified xsi:type="dcterms:W3CDTF">2026-03-26T23:30:32Z</dcterms:modified>
</cp:coreProperties>
</file>